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78" r:id="rId1"/>
  </p:sldMasterIdLst>
  <p:sldIdLst>
    <p:sldId id="256" r:id="rId2"/>
    <p:sldId id="257" r:id="rId3"/>
    <p:sldId id="298" r:id="rId4"/>
    <p:sldId id="258" r:id="rId5"/>
    <p:sldId id="264" r:id="rId6"/>
    <p:sldId id="259" r:id="rId7"/>
    <p:sldId id="260" r:id="rId8"/>
    <p:sldId id="261" r:id="rId9"/>
    <p:sldId id="262" r:id="rId10"/>
    <p:sldId id="263" r:id="rId11"/>
    <p:sldId id="265" r:id="rId12"/>
    <p:sldId id="266" r:id="rId13"/>
    <p:sldId id="267" r:id="rId14"/>
    <p:sldId id="296"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90" r:id="rId31"/>
    <p:sldId id="292" r:id="rId32"/>
    <p:sldId id="293" r:id="rId33"/>
    <p:sldId id="294" r:id="rId34"/>
    <p:sldId id="295" r:id="rId35"/>
  </p:sldIdLst>
  <p:sldSz cx="18288000" cy="10287000"/>
  <p:notesSz cx="6858000" cy="9144000"/>
  <p:embeddedFontLst>
    <p:embeddedFont>
      <p:font typeface="Roboto" panose="02000000000000000000" pitchFamily="2" charset="0"/>
      <p:regular r:id="rId36"/>
      <p:bold r:id="rId37"/>
      <p:italic r:id="rId38"/>
    </p:embeddedFont>
    <p:embeddedFont>
      <p:font typeface="Roboto Bold" panose="02000000000000000000" charset="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919E6DFB-9F8B-4315-AFFB-35F36B91A55B}">
          <p14:sldIdLst>
            <p14:sldId id="256"/>
            <p14:sldId id="257"/>
            <p14:sldId id="298"/>
            <p14:sldId id="258"/>
            <p14:sldId id="264"/>
            <p14:sldId id="259"/>
            <p14:sldId id="260"/>
            <p14:sldId id="261"/>
            <p14:sldId id="262"/>
            <p14:sldId id="263"/>
            <p14:sldId id="265"/>
            <p14:sldId id="266"/>
            <p14:sldId id="267"/>
            <p14:sldId id="296"/>
            <p14:sldId id="268"/>
            <p14:sldId id="269"/>
            <p14:sldId id="270"/>
            <p14:sldId id="271"/>
            <p14:sldId id="272"/>
            <p14:sldId id="273"/>
            <p14:sldId id="274"/>
            <p14:sldId id="275"/>
            <p14:sldId id="276"/>
            <p14:sldId id="277"/>
            <p14:sldId id="278"/>
            <p14:sldId id="279"/>
            <p14:sldId id="280"/>
            <p14:sldId id="281"/>
            <p14:sldId id="282"/>
            <p14:sldId id="290"/>
            <p14:sldId id="292"/>
            <p14:sldId id="293"/>
            <p14:sldId id="294"/>
            <p14:sldId id="29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0" d="100"/>
          <a:sy n="60" d="100"/>
        </p:scale>
        <p:origin x="37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A666A-0112-BFED-335B-C336B6013B09}"/>
              </a:ext>
            </a:extLst>
          </p:cNvPr>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a:extLst>
              <a:ext uri="{FF2B5EF4-FFF2-40B4-BE49-F238E27FC236}">
                <a16:creationId xmlns:a16="http://schemas.microsoft.com/office/drawing/2014/main" id="{AA216EE6-3B1B-14BD-197A-DB013A19B61E}"/>
              </a:ext>
            </a:extLst>
          </p:cNvPr>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a:extLst>
              <a:ext uri="{FF2B5EF4-FFF2-40B4-BE49-F238E27FC236}">
                <a16:creationId xmlns:a16="http://schemas.microsoft.com/office/drawing/2014/main" id="{3F3ED85B-0F42-9DFC-F5B8-E7304975F812}"/>
              </a:ext>
            </a:extLst>
          </p:cNvPr>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a:extLst>
              <a:ext uri="{FF2B5EF4-FFF2-40B4-BE49-F238E27FC236}">
                <a16:creationId xmlns:a16="http://schemas.microsoft.com/office/drawing/2014/main" id="{11512376-EF39-0647-407D-06E257A93F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5D2B4A-10CC-2DF7-87CF-9EBBB03C9200}"/>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24824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E3500-3699-AC75-2679-1179860567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91B3A5-7AB8-DD90-CCAE-58EC18DC7C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A835E0-4718-98CF-8B12-00171369E5D2}"/>
              </a:ext>
            </a:extLst>
          </p:cNvPr>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a:extLst>
              <a:ext uri="{FF2B5EF4-FFF2-40B4-BE49-F238E27FC236}">
                <a16:creationId xmlns:a16="http://schemas.microsoft.com/office/drawing/2014/main" id="{A1193A94-4A64-DC4F-6C2C-F75AD7F196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6BCACD-CFE8-012B-DA5D-A7FB0BAC5845}"/>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34481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756BD-2B5D-0957-209F-6C23CF7088BD}"/>
              </a:ext>
            </a:extLst>
          </p:cNvPr>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a:extLst>
              <a:ext uri="{FF2B5EF4-FFF2-40B4-BE49-F238E27FC236}">
                <a16:creationId xmlns:a16="http://schemas.microsoft.com/office/drawing/2014/main" id="{E1220680-BD60-CD26-466F-5F49401B4D13}"/>
              </a:ext>
            </a:extLst>
          </p:cNvPr>
          <p:cNvSpPr>
            <a:spLocks noGrp="1"/>
          </p:cNvSpPr>
          <p:nvPr>
            <p:ph type="body" idx="1"/>
          </p:nvPr>
        </p:nvSpPr>
        <p:spPr>
          <a:xfrm>
            <a:off x="1247775" y="6884195"/>
            <a:ext cx="15773400" cy="2250281"/>
          </a:xfrm>
        </p:spPr>
        <p:txBody>
          <a:bodyPr/>
          <a:lstStyle>
            <a:lvl1pPr marL="0" indent="0">
              <a:buNone/>
              <a:defRPr sz="3600">
                <a:solidFill>
                  <a:schemeClr val="tx1">
                    <a:tint val="82000"/>
                  </a:schemeClr>
                </a:solidFill>
              </a:defRPr>
            </a:lvl1pPr>
            <a:lvl2pPr marL="685800" indent="0">
              <a:buNone/>
              <a:defRPr sz="3000">
                <a:solidFill>
                  <a:schemeClr val="tx1">
                    <a:tint val="82000"/>
                  </a:schemeClr>
                </a:solidFill>
              </a:defRPr>
            </a:lvl2pPr>
            <a:lvl3pPr marL="1371600" indent="0">
              <a:buNone/>
              <a:defRPr sz="2700">
                <a:solidFill>
                  <a:schemeClr val="tx1">
                    <a:tint val="82000"/>
                  </a:schemeClr>
                </a:solidFill>
              </a:defRPr>
            </a:lvl3pPr>
            <a:lvl4pPr marL="2057400" indent="0">
              <a:buNone/>
              <a:defRPr sz="2400">
                <a:solidFill>
                  <a:schemeClr val="tx1">
                    <a:tint val="82000"/>
                  </a:schemeClr>
                </a:solidFill>
              </a:defRPr>
            </a:lvl4pPr>
            <a:lvl5pPr marL="2743200" indent="0">
              <a:buNone/>
              <a:defRPr sz="2400">
                <a:solidFill>
                  <a:schemeClr val="tx1">
                    <a:tint val="82000"/>
                  </a:schemeClr>
                </a:solidFill>
              </a:defRPr>
            </a:lvl5pPr>
            <a:lvl6pPr marL="3429000" indent="0">
              <a:buNone/>
              <a:defRPr sz="2400">
                <a:solidFill>
                  <a:schemeClr val="tx1">
                    <a:tint val="82000"/>
                  </a:schemeClr>
                </a:solidFill>
              </a:defRPr>
            </a:lvl6pPr>
            <a:lvl7pPr marL="4114800" indent="0">
              <a:buNone/>
              <a:defRPr sz="2400">
                <a:solidFill>
                  <a:schemeClr val="tx1">
                    <a:tint val="82000"/>
                  </a:schemeClr>
                </a:solidFill>
              </a:defRPr>
            </a:lvl7pPr>
            <a:lvl8pPr marL="4800600" indent="0">
              <a:buNone/>
              <a:defRPr sz="2400">
                <a:solidFill>
                  <a:schemeClr val="tx1">
                    <a:tint val="82000"/>
                  </a:schemeClr>
                </a:solidFill>
              </a:defRPr>
            </a:lvl8pPr>
            <a:lvl9pPr marL="5486400" indent="0">
              <a:buNone/>
              <a:defRPr sz="24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FB8DB7-9679-1C2E-C849-A11650DD0786}"/>
              </a:ext>
            </a:extLst>
          </p:cNvPr>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a:extLst>
              <a:ext uri="{FF2B5EF4-FFF2-40B4-BE49-F238E27FC236}">
                <a16:creationId xmlns:a16="http://schemas.microsoft.com/office/drawing/2014/main" id="{D777DD7C-EB46-8B63-3B8A-4B315E6C02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07D882-A82D-8FF7-F253-145E208187EF}"/>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38039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697B7-005F-5649-7BA9-38DA67EA2E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3E9FFB-C4AF-DB84-D304-82B6C07694AE}"/>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D5F4E1-3CAB-87CD-AE49-D5A95F7FD786}"/>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5CE886-1F51-D52E-4AEF-E18EAB0BE27D}"/>
              </a:ext>
            </a:extLst>
          </p:cNvPr>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a:extLst>
              <a:ext uri="{FF2B5EF4-FFF2-40B4-BE49-F238E27FC236}">
                <a16:creationId xmlns:a16="http://schemas.microsoft.com/office/drawing/2014/main" id="{F9E1854C-CFE4-4FCE-4B23-103D3D61E9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CA3265-F4FA-5206-92F9-CBED493EB84B}"/>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72178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BA8C2-2AA6-DF07-CB6C-4F25C92D6FCA}"/>
              </a:ext>
            </a:extLst>
          </p:cNvPr>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4439EB75-F46F-42B1-C080-665D6612A834}"/>
              </a:ext>
            </a:extLst>
          </p:cNvPr>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a:extLst>
              <a:ext uri="{FF2B5EF4-FFF2-40B4-BE49-F238E27FC236}">
                <a16:creationId xmlns:a16="http://schemas.microsoft.com/office/drawing/2014/main" id="{BBEE9407-FCE0-E35C-7C48-E20BDB777A98}"/>
              </a:ext>
            </a:extLst>
          </p:cNvPr>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C2420E-8436-644A-4547-E31FF2A3BE7E}"/>
              </a:ext>
            </a:extLst>
          </p:cNvPr>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a:extLst>
              <a:ext uri="{FF2B5EF4-FFF2-40B4-BE49-F238E27FC236}">
                <a16:creationId xmlns:a16="http://schemas.microsoft.com/office/drawing/2014/main" id="{B2706783-D349-FDE6-A182-5D0309FA8019}"/>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C8944BD-5E49-7F6E-0416-48969A8C2398}"/>
              </a:ext>
            </a:extLst>
          </p:cNvPr>
          <p:cNvSpPr>
            <a:spLocks noGrp="1"/>
          </p:cNvSpPr>
          <p:nvPr>
            <p:ph type="dt" sz="half" idx="10"/>
          </p:nvPr>
        </p:nvSpPr>
        <p:spPr/>
        <p:txBody>
          <a:bodyPr/>
          <a:lstStyle/>
          <a:p>
            <a:fld id="{1D8BD707-D9CF-40AE-B4C6-C98DA3205C09}" type="datetimeFigureOut">
              <a:rPr lang="en-US" smtClean="0"/>
              <a:pPr/>
              <a:t>4/16/2026</a:t>
            </a:fld>
            <a:endParaRPr lang="en-US"/>
          </a:p>
        </p:txBody>
      </p:sp>
      <p:sp>
        <p:nvSpPr>
          <p:cNvPr id="8" name="Footer Placeholder 7">
            <a:extLst>
              <a:ext uri="{FF2B5EF4-FFF2-40B4-BE49-F238E27FC236}">
                <a16:creationId xmlns:a16="http://schemas.microsoft.com/office/drawing/2014/main" id="{DC0E5C43-26C1-DE07-34F4-8ACAB983B3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E95FEC2-AF45-1F66-2353-CF17959E2E1B}"/>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96834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8EA7F-8B97-45AE-0A46-31DB24BFA7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DF33A7-8DA6-B75D-0A3B-0446C5AA4285}"/>
              </a:ext>
            </a:extLst>
          </p:cNvPr>
          <p:cNvSpPr>
            <a:spLocks noGrp="1"/>
          </p:cNvSpPr>
          <p:nvPr>
            <p:ph type="dt" sz="half" idx="10"/>
          </p:nvPr>
        </p:nvSpPr>
        <p:spPr/>
        <p:txBody>
          <a:bodyPr/>
          <a:lstStyle/>
          <a:p>
            <a:fld id="{1D8BD707-D9CF-40AE-B4C6-C98DA3205C09}" type="datetimeFigureOut">
              <a:rPr lang="en-US" smtClean="0"/>
              <a:pPr/>
              <a:t>4/16/2026</a:t>
            </a:fld>
            <a:endParaRPr lang="en-US"/>
          </a:p>
        </p:txBody>
      </p:sp>
      <p:sp>
        <p:nvSpPr>
          <p:cNvPr id="4" name="Footer Placeholder 3">
            <a:extLst>
              <a:ext uri="{FF2B5EF4-FFF2-40B4-BE49-F238E27FC236}">
                <a16:creationId xmlns:a16="http://schemas.microsoft.com/office/drawing/2014/main" id="{0E4CA8B6-B59E-684D-BFA8-01A59347BB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32EC7A7-48AD-4D92-CF51-E3AD9BCCB6C1}"/>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8166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69FCC0-6120-6023-553D-9D96185FE9C6}"/>
              </a:ext>
            </a:extLst>
          </p:cNvPr>
          <p:cNvSpPr>
            <a:spLocks noGrp="1"/>
          </p:cNvSpPr>
          <p:nvPr>
            <p:ph type="dt" sz="half" idx="10"/>
          </p:nvPr>
        </p:nvSpPr>
        <p:spPr/>
        <p:txBody>
          <a:bodyPr/>
          <a:lstStyle/>
          <a:p>
            <a:fld id="{1D8BD707-D9CF-40AE-B4C6-C98DA3205C09}" type="datetimeFigureOut">
              <a:rPr lang="en-US" smtClean="0"/>
              <a:pPr/>
              <a:t>4/16/2026</a:t>
            </a:fld>
            <a:endParaRPr lang="en-US"/>
          </a:p>
        </p:txBody>
      </p:sp>
      <p:sp>
        <p:nvSpPr>
          <p:cNvPr id="3" name="Footer Placeholder 2">
            <a:extLst>
              <a:ext uri="{FF2B5EF4-FFF2-40B4-BE49-F238E27FC236}">
                <a16:creationId xmlns:a16="http://schemas.microsoft.com/office/drawing/2014/main" id="{0BD295A9-BDD9-2C50-DE2B-ED80211B95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A2D747-1FE5-EF11-BB8B-D100E67624D9}"/>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12901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5D4D3-2955-B25C-FA1F-876D193561F9}"/>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a:extLst>
              <a:ext uri="{FF2B5EF4-FFF2-40B4-BE49-F238E27FC236}">
                <a16:creationId xmlns:a16="http://schemas.microsoft.com/office/drawing/2014/main" id="{27AAD33F-36DF-F5B8-302B-E6126E4C7D53}"/>
              </a:ext>
            </a:extLst>
          </p:cNvPr>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5D8FB1E-0266-30B0-109D-C4FDBD0CDEB3}"/>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5FC75456-526C-566D-B5E4-6DC5F409030F}"/>
              </a:ext>
            </a:extLst>
          </p:cNvPr>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a:extLst>
              <a:ext uri="{FF2B5EF4-FFF2-40B4-BE49-F238E27FC236}">
                <a16:creationId xmlns:a16="http://schemas.microsoft.com/office/drawing/2014/main" id="{CFCC8BF4-F0F9-5BA7-13A7-292F62F5CA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4889D4-6696-EA8F-CA95-6401079D621A}"/>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02636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92587-3B71-1327-93AD-060C8152FAC2}"/>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a:extLst>
              <a:ext uri="{FF2B5EF4-FFF2-40B4-BE49-F238E27FC236}">
                <a16:creationId xmlns:a16="http://schemas.microsoft.com/office/drawing/2014/main" id="{BFF336E0-71DF-7303-6D99-A406E3397245}"/>
              </a:ext>
            </a:extLst>
          </p:cNvPr>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US"/>
          </a:p>
        </p:txBody>
      </p:sp>
      <p:sp>
        <p:nvSpPr>
          <p:cNvPr id="4" name="Text Placeholder 3">
            <a:extLst>
              <a:ext uri="{FF2B5EF4-FFF2-40B4-BE49-F238E27FC236}">
                <a16:creationId xmlns:a16="http://schemas.microsoft.com/office/drawing/2014/main" id="{F9ABB932-B656-6FE7-CE5D-662DB31F3115}"/>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5CB8148D-FAA8-86CB-E1F8-862A9D99905C}"/>
              </a:ext>
            </a:extLst>
          </p:cNvPr>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a:extLst>
              <a:ext uri="{FF2B5EF4-FFF2-40B4-BE49-F238E27FC236}">
                <a16:creationId xmlns:a16="http://schemas.microsoft.com/office/drawing/2014/main" id="{D82F18B8-9CF8-76C0-94B6-FE753F2E7C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68C391-BC3D-753A-9975-BFD5253B4CCE}"/>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42221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86817-4729-40F7-0797-040EF999D7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299267-7864-2DDB-1202-E8F8FA0571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D757C1-D644-077B-6247-7F06752950C5}"/>
              </a:ext>
            </a:extLst>
          </p:cNvPr>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a:extLst>
              <a:ext uri="{FF2B5EF4-FFF2-40B4-BE49-F238E27FC236}">
                <a16:creationId xmlns:a16="http://schemas.microsoft.com/office/drawing/2014/main" id="{E52EE7D5-02C4-4FBA-7871-F9A66A5DBE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11E57E-7A48-8847-5B15-14640BAEB40F}"/>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873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68FD38-7E46-E19A-CFCA-C88690CFA06C}"/>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C5F00F9-6D7A-BC4E-64F7-0CB9B7BBBEBC}"/>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EA45CA-4A4B-5AB7-9454-89B83081FE96}"/>
              </a:ext>
            </a:extLst>
          </p:cNvPr>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a:extLst>
              <a:ext uri="{FF2B5EF4-FFF2-40B4-BE49-F238E27FC236}">
                <a16:creationId xmlns:a16="http://schemas.microsoft.com/office/drawing/2014/main" id="{189BCCC3-3F19-4620-7A67-7E4812524C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716E73-1EDC-7A4C-AF60-D844E2D09C08}"/>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56967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BA0CC6-F0A3-DB5C-0388-FA4CE749B35B}"/>
              </a:ext>
            </a:extLst>
          </p:cNvPr>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958484-1681-CEED-7064-602292C2AC7A}"/>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2109C2-6C33-83AD-09B0-7298B9438102}"/>
              </a:ext>
            </a:extLst>
          </p:cNvPr>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82000"/>
                  </a:schemeClr>
                </a:solidFill>
              </a:defRPr>
            </a:lvl1pPr>
          </a:lstStyle>
          <a:p>
            <a:fld id="{1D8BD707-D9CF-40AE-B4C6-C98DA3205C09}" type="datetimeFigureOut">
              <a:rPr lang="en-US" smtClean="0"/>
              <a:pPr/>
              <a:t>4/16/2026</a:t>
            </a:fld>
            <a:endParaRPr lang="en-US"/>
          </a:p>
        </p:txBody>
      </p:sp>
      <p:sp>
        <p:nvSpPr>
          <p:cNvPr id="5" name="Footer Placeholder 4">
            <a:extLst>
              <a:ext uri="{FF2B5EF4-FFF2-40B4-BE49-F238E27FC236}">
                <a16:creationId xmlns:a16="http://schemas.microsoft.com/office/drawing/2014/main" id="{8D6AFC8D-B2A6-39F7-F279-E4505E45769C}"/>
              </a:ext>
            </a:extLst>
          </p:cNvPr>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A5B1C61-8CB0-E993-1131-62010AAEDA45}"/>
              </a:ext>
            </a:extLst>
          </p:cNvPr>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82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31819853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jpe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 Id="rId14" Type="http://schemas.openxmlformats.org/officeDocument/2006/relationships/image" Target="../media/image13.svg"/></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7.jpe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15.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2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6.png"/></Relationships>
</file>

<file path=ppt/slides/_rels/slide32.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image" Target="../media/image67.jpeg"/><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3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 Id="rId1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Freeform 3"/>
          <p:cNvSpPr/>
          <p:nvPr/>
        </p:nvSpPr>
        <p:spPr>
          <a:xfrm>
            <a:off x="-742530" y="8232902"/>
            <a:ext cx="2747723" cy="2747723"/>
          </a:xfrm>
          <a:custGeom>
            <a:avLst/>
            <a:gdLst/>
            <a:ahLst/>
            <a:cxnLst/>
            <a:rect l="l" t="t" r="r" b="b"/>
            <a:pathLst>
              <a:path w="2747723" h="2747723">
                <a:moveTo>
                  <a:pt x="0" y="0"/>
                </a:moveTo>
                <a:lnTo>
                  <a:pt x="2747723" y="0"/>
                </a:lnTo>
                <a:lnTo>
                  <a:pt x="2747723" y="2747723"/>
                </a:lnTo>
                <a:lnTo>
                  <a:pt x="0" y="274772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H="1" flipV="1">
            <a:off x="16276848" y="-692494"/>
            <a:ext cx="2747723" cy="2747723"/>
          </a:xfrm>
          <a:custGeom>
            <a:avLst/>
            <a:gdLst/>
            <a:ahLst/>
            <a:cxnLst/>
            <a:rect l="l" t="t" r="r" b="b"/>
            <a:pathLst>
              <a:path w="2747723" h="2747723">
                <a:moveTo>
                  <a:pt x="2747723" y="2747723"/>
                </a:moveTo>
                <a:lnTo>
                  <a:pt x="0" y="2747723"/>
                </a:lnTo>
                <a:lnTo>
                  <a:pt x="0" y="0"/>
                </a:lnTo>
                <a:lnTo>
                  <a:pt x="2747723" y="0"/>
                </a:lnTo>
                <a:lnTo>
                  <a:pt x="2747723" y="2747723"/>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980700">
            <a:off x="16276848" y="7300482"/>
            <a:ext cx="2813027" cy="4114800"/>
          </a:xfrm>
          <a:custGeom>
            <a:avLst/>
            <a:gdLst/>
            <a:ahLst/>
            <a:cxnLst/>
            <a:rect l="l" t="t" r="r" b="b"/>
            <a:pathLst>
              <a:path w="2813027" h="4114800">
                <a:moveTo>
                  <a:pt x="0" y="0"/>
                </a:moveTo>
                <a:lnTo>
                  <a:pt x="2813027" y="0"/>
                </a:lnTo>
                <a:lnTo>
                  <a:pt x="2813027"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720370" flipV="1">
            <a:off x="-573183" y="-692494"/>
            <a:ext cx="2409028" cy="4114800"/>
          </a:xfrm>
          <a:custGeom>
            <a:avLst/>
            <a:gdLst/>
            <a:ahLst/>
            <a:cxnLst/>
            <a:rect l="l" t="t" r="r" b="b"/>
            <a:pathLst>
              <a:path w="2409028" h="4114800">
                <a:moveTo>
                  <a:pt x="0" y="4114800"/>
                </a:moveTo>
                <a:lnTo>
                  <a:pt x="2409029" y="4114800"/>
                </a:lnTo>
                <a:lnTo>
                  <a:pt x="2409029" y="0"/>
                </a:lnTo>
                <a:lnTo>
                  <a:pt x="0" y="0"/>
                </a:lnTo>
                <a:lnTo>
                  <a:pt x="0" y="411480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12153270" y="-492793"/>
            <a:ext cx="3649053" cy="1857700"/>
          </a:xfrm>
          <a:custGeom>
            <a:avLst/>
            <a:gdLst/>
            <a:ahLst/>
            <a:cxnLst/>
            <a:rect l="l" t="t" r="r" b="b"/>
            <a:pathLst>
              <a:path w="3649053" h="1857700">
                <a:moveTo>
                  <a:pt x="0" y="0"/>
                </a:moveTo>
                <a:lnTo>
                  <a:pt x="3649053" y="0"/>
                </a:lnTo>
                <a:lnTo>
                  <a:pt x="3649053" y="1857699"/>
                </a:lnTo>
                <a:lnTo>
                  <a:pt x="0" y="185769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 name="Freeform 8"/>
          <p:cNvSpPr/>
          <p:nvPr/>
        </p:nvSpPr>
        <p:spPr>
          <a:xfrm>
            <a:off x="2483719" y="8381706"/>
            <a:ext cx="2151646" cy="2450114"/>
          </a:xfrm>
          <a:custGeom>
            <a:avLst/>
            <a:gdLst/>
            <a:ahLst/>
            <a:cxnLst/>
            <a:rect l="l" t="t" r="r" b="b"/>
            <a:pathLst>
              <a:path w="2151646" h="2450114">
                <a:moveTo>
                  <a:pt x="0" y="0"/>
                </a:moveTo>
                <a:lnTo>
                  <a:pt x="2151646" y="0"/>
                </a:lnTo>
                <a:lnTo>
                  <a:pt x="2151646" y="2450115"/>
                </a:lnTo>
                <a:lnTo>
                  <a:pt x="0" y="2450115"/>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Freeform 9"/>
          <p:cNvSpPr/>
          <p:nvPr/>
        </p:nvSpPr>
        <p:spPr>
          <a:xfrm flipV="1">
            <a:off x="9632658" y="-519913"/>
            <a:ext cx="2044361" cy="2402562"/>
          </a:xfrm>
          <a:custGeom>
            <a:avLst/>
            <a:gdLst/>
            <a:ahLst/>
            <a:cxnLst/>
            <a:rect l="l" t="t" r="r" b="b"/>
            <a:pathLst>
              <a:path w="2044361" h="2402562">
                <a:moveTo>
                  <a:pt x="0" y="2402562"/>
                </a:moveTo>
                <a:lnTo>
                  <a:pt x="2044362" y="2402562"/>
                </a:lnTo>
                <a:lnTo>
                  <a:pt x="2044362" y="0"/>
                </a:lnTo>
                <a:lnTo>
                  <a:pt x="0" y="0"/>
                </a:lnTo>
                <a:lnTo>
                  <a:pt x="0" y="2402562"/>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0" name="Freeform 10"/>
          <p:cNvSpPr/>
          <p:nvPr/>
        </p:nvSpPr>
        <p:spPr>
          <a:xfrm>
            <a:off x="5111615" y="8428103"/>
            <a:ext cx="3158890" cy="2357322"/>
          </a:xfrm>
          <a:custGeom>
            <a:avLst/>
            <a:gdLst/>
            <a:ahLst/>
            <a:cxnLst/>
            <a:rect l="l" t="t" r="r" b="b"/>
            <a:pathLst>
              <a:path w="3158890" h="2357322">
                <a:moveTo>
                  <a:pt x="0" y="0"/>
                </a:moveTo>
                <a:lnTo>
                  <a:pt x="3158890" y="0"/>
                </a:lnTo>
                <a:lnTo>
                  <a:pt x="3158890" y="2357321"/>
                </a:lnTo>
                <a:lnTo>
                  <a:pt x="0" y="2357321"/>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1" name="Freeform 11"/>
          <p:cNvSpPr/>
          <p:nvPr/>
        </p:nvSpPr>
        <p:spPr>
          <a:xfrm rot="1207270">
            <a:off x="6790753" y="-693475"/>
            <a:ext cx="1952277" cy="2749685"/>
          </a:xfrm>
          <a:custGeom>
            <a:avLst/>
            <a:gdLst/>
            <a:ahLst/>
            <a:cxnLst/>
            <a:rect l="l" t="t" r="r" b="b"/>
            <a:pathLst>
              <a:path w="1952277" h="2749685">
                <a:moveTo>
                  <a:pt x="0" y="0"/>
                </a:moveTo>
                <a:lnTo>
                  <a:pt x="1952277" y="0"/>
                </a:lnTo>
                <a:lnTo>
                  <a:pt x="1952277" y="2749686"/>
                </a:lnTo>
                <a:lnTo>
                  <a:pt x="0" y="2749686"/>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2" name="Freeform 12"/>
          <p:cNvSpPr/>
          <p:nvPr/>
        </p:nvSpPr>
        <p:spPr>
          <a:xfrm>
            <a:off x="8746755" y="8627524"/>
            <a:ext cx="2805781" cy="2157901"/>
          </a:xfrm>
          <a:custGeom>
            <a:avLst/>
            <a:gdLst/>
            <a:ahLst/>
            <a:cxnLst/>
            <a:rect l="l" t="t" r="r" b="b"/>
            <a:pathLst>
              <a:path w="2805781" h="2157901">
                <a:moveTo>
                  <a:pt x="0" y="0"/>
                </a:moveTo>
                <a:lnTo>
                  <a:pt x="2805781" y="0"/>
                </a:lnTo>
                <a:lnTo>
                  <a:pt x="2805781" y="2157900"/>
                </a:lnTo>
                <a:lnTo>
                  <a:pt x="0" y="2157900"/>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3" name="Freeform 13"/>
          <p:cNvSpPr/>
          <p:nvPr/>
        </p:nvSpPr>
        <p:spPr>
          <a:xfrm rot="395870">
            <a:off x="-531183" y="4398592"/>
            <a:ext cx="2319465" cy="3059246"/>
          </a:xfrm>
          <a:custGeom>
            <a:avLst/>
            <a:gdLst/>
            <a:ahLst/>
            <a:cxnLst/>
            <a:rect l="l" t="t" r="r" b="b"/>
            <a:pathLst>
              <a:path w="2319465" h="3059246">
                <a:moveTo>
                  <a:pt x="0" y="0"/>
                </a:moveTo>
                <a:lnTo>
                  <a:pt x="2319465" y="0"/>
                </a:lnTo>
                <a:lnTo>
                  <a:pt x="2319465" y="3059246"/>
                </a:lnTo>
                <a:lnTo>
                  <a:pt x="0" y="3059246"/>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4" name="Freeform 14"/>
          <p:cNvSpPr/>
          <p:nvPr/>
        </p:nvSpPr>
        <p:spPr>
          <a:xfrm rot="945155">
            <a:off x="16670506" y="2933730"/>
            <a:ext cx="1960407" cy="3171247"/>
          </a:xfrm>
          <a:custGeom>
            <a:avLst/>
            <a:gdLst/>
            <a:ahLst/>
            <a:cxnLst/>
            <a:rect l="l" t="t" r="r" b="b"/>
            <a:pathLst>
              <a:path w="1960407" h="3171247">
                <a:moveTo>
                  <a:pt x="0" y="0"/>
                </a:moveTo>
                <a:lnTo>
                  <a:pt x="1960407" y="0"/>
                </a:lnTo>
                <a:lnTo>
                  <a:pt x="1960407" y="3171248"/>
                </a:lnTo>
                <a:lnTo>
                  <a:pt x="0" y="3171248"/>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5" name="Freeform 15"/>
          <p:cNvSpPr/>
          <p:nvPr/>
        </p:nvSpPr>
        <p:spPr>
          <a:xfrm flipV="1">
            <a:off x="2543124" y="-560057"/>
            <a:ext cx="3528598" cy="2482850"/>
          </a:xfrm>
          <a:custGeom>
            <a:avLst/>
            <a:gdLst/>
            <a:ahLst/>
            <a:cxnLst/>
            <a:rect l="l" t="t" r="r" b="b"/>
            <a:pathLst>
              <a:path w="3528598" h="2482850">
                <a:moveTo>
                  <a:pt x="0" y="2482850"/>
                </a:moveTo>
                <a:lnTo>
                  <a:pt x="3528598" y="2482850"/>
                </a:lnTo>
                <a:lnTo>
                  <a:pt x="3528598" y="0"/>
                </a:lnTo>
                <a:lnTo>
                  <a:pt x="0" y="0"/>
                </a:lnTo>
                <a:lnTo>
                  <a:pt x="0" y="248285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16" name="Freeform 16"/>
          <p:cNvSpPr/>
          <p:nvPr/>
        </p:nvSpPr>
        <p:spPr>
          <a:xfrm>
            <a:off x="11889318" y="8365339"/>
            <a:ext cx="3528598" cy="2482850"/>
          </a:xfrm>
          <a:custGeom>
            <a:avLst/>
            <a:gdLst/>
            <a:ahLst/>
            <a:cxnLst/>
            <a:rect l="l" t="t" r="r" b="b"/>
            <a:pathLst>
              <a:path w="3528598" h="2482850">
                <a:moveTo>
                  <a:pt x="0" y="0"/>
                </a:moveTo>
                <a:lnTo>
                  <a:pt x="3528598" y="0"/>
                </a:lnTo>
                <a:lnTo>
                  <a:pt x="3528598" y="2482849"/>
                </a:lnTo>
                <a:lnTo>
                  <a:pt x="0" y="2482849"/>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grpSp>
        <p:nvGrpSpPr>
          <p:cNvPr id="17" name="Group 17"/>
          <p:cNvGrpSpPr/>
          <p:nvPr/>
        </p:nvGrpSpPr>
        <p:grpSpPr>
          <a:xfrm>
            <a:off x="1807602" y="8627525"/>
            <a:ext cx="13459693" cy="1426154"/>
            <a:chOff x="-42272" y="-140642"/>
            <a:chExt cx="3126391" cy="375612"/>
          </a:xfrm>
        </p:grpSpPr>
        <p:sp>
          <p:nvSpPr>
            <p:cNvPr id="18" name="Freeform 18"/>
            <p:cNvSpPr/>
            <p:nvPr/>
          </p:nvSpPr>
          <p:spPr>
            <a:xfrm>
              <a:off x="-42272" y="-103905"/>
              <a:ext cx="932374" cy="225166"/>
            </a:xfrm>
            <a:custGeom>
              <a:avLst/>
              <a:gdLst/>
              <a:ahLst/>
              <a:cxnLst/>
              <a:rect l="l" t="t" r="r" b="b"/>
              <a:pathLst>
                <a:path w="2785520" h="225166">
                  <a:moveTo>
                    <a:pt x="14640" y="0"/>
                  </a:moveTo>
                  <a:lnTo>
                    <a:pt x="2770880" y="0"/>
                  </a:lnTo>
                  <a:cubicBezTo>
                    <a:pt x="2774763" y="0"/>
                    <a:pt x="2778486" y="1542"/>
                    <a:pt x="2781232" y="4288"/>
                  </a:cubicBezTo>
                  <a:cubicBezTo>
                    <a:pt x="2783978" y="7034"/>
                    <a:pt x="2785520" y="10757"/>
                    <a:pt x="2785520" y="14640"/>
                  </a:cubicBezTo>
                  <a:lnTo>
                    <a:pt x="2785520" y="210526"/>
                  </a:lnTo>
                  <a:cubicBezTo>
                    <a:pt x="2785520" y="218612"/>
                    <a:pt x="2778965" y="225166"/>
                    <a:pt x="2770880" y="225166"/>
                  </a:cubicBezTo>
                  <a:lnTo>
                    <a:pt x="14640" y="225166"/>
                  </a:lnTo>
                  <a:cubicBezTo>
                    <a:pt x="10757" y="225166"/>
                    <a:pt x="7034" y="223624"/>
                    <a:pt x="4288" y="220878"/>
                  </a:cubicBezTo>
                  <a:cubicBezTo>
                    <a:pt x="1542" y="218133"/>
                    <a:pt x="0" y="214409"/>
                    <a:pt x="0" y="210526"/>
                  </a:cubicBezTo>
                  <a:lnTo>
                    <a:pt x="0" y="14640"/>
                  </a:lnTo>
                  <a:cubicBezTo>
                    <a:pt x="0" y="10757"/>
                    <a:pt x="1542" y="7034"/>
                    <a:pt x="4288" y="4288"/>
                  </a:cubicBezTo>
                  <a:cubicBezTo>
                    <a:pt x="7034" y="1542"/>
                    <a:pt x="10757" y="0"/>
                    <a:pt x="14640" y="0"/>
                  </a:cubicBezTo>
                  <a:close/>
                </a:path>
              </a:pathLst>
            </a:custGeom>
            <a:solidFill>
              <a:srgbClr val="388D89"/>
            </a:solidFill>
          </p:spPr>
          <p:txBody>
            <a:bodyPr/>
            <a:lstStyle/>
            <a:p>
              <a:r>
                <a:rPr lang="en-US" sz="2000" dirty="0">
                  <a:solidFill>
                    <a:schemeClr val="bg1"/>
                  </a:solidFill>
                </a:rPr>
                <a:t>Guided By : Mrs. Ankita Patel</a:t>
              </a:r>
            </a:p>
          </p:txBody>
        </p:sp>
        <p:sp>
          <p:nvSpPr>
            <p:cNvPr id="19" name="TextBox 19"/>
            <p:cNvSpPr txBox="1"/>
            <p:nvPr/>
          </p:nvSpPr>
          <p:spPr>
            <a:xfrm>
              <a:off x="0" y="-38100"/>
              <a:ext cx="2785520" cy="263266"/>
            </a:xfrm>
            <a:prstGeom prst="rect">
              <a:avLst/>
            </a:prstGeom>
          </p:spPr>
          <p:txBody>
            <a:bodyPr lIns="50800" tIns="50800" rIns="50800" bIns="50800" rtlCol="0" anchor="ctr"/>
            <a:lstStyle/>
            <a:p>
              <a:pPr marL="0" lvl="0" indent="0" algn="ctr">
                <a:lnSpc>
                  <a:spcPts val="2659"/>
                </a:lnSpc>
                <a:spcBef>
                  <a:spcPct val="0"/>
                </a:spcBef>
              </a:pPr>
              <a:endParaRPr/>
            </a:p>
          </p:txBody>
        </p:sp>
        <p:sp>
          <p:nvSpPr>
            <p:cNvPr id="28" name="Freeform 18">
              <a:extLst>
                <a:ext uri="{FF2B5EF4-FFF2-40B4-BE49-F238E27FC236}">
                  <a16:creationId xmlns:a16="http://schemas.microsoft.com/office/drawing/2014/main" id="{93ED9D71-B10D-D4BB-22BC-E7A0E042F149}"/>
                </a:ext>
              </a:extLst>
            </p:cNvPr>
            <p:cNvSpPr/>
            <p:nvPr/>
          </p:nvSpPr>
          <p:spPr>
            <a:xfrm>
              <a:off x="2074179" y="-140642"/>
              <a:ext cx="1009940" cy="375612"/>
            </a:xfrm>
            <a:custGeom>
              <a:avLst/>
              <a:gdLst/>
              <a:ahLst/>
              <a:cxnLst/>
              <a:rect l="l" t="t" r="r" b="b"/>
              <a:pathLst>
                <a:path w="2785520" h="225166">
                  <a:moveTo>
                    <a:pt x="14640" y="0"/>
                  </a:moveTo>
                  <a:lnTo>
                    <a:pt x="2770880" y="0"/>
                  </a:lnTo>
                  <a:cubicBezTo>
                    <a:pt x="2774763" y="0"/>
                    <a:pt x="2778486" y="1542"/>
                    <a:pt x="2781232" y="4288"/>
                  </a:cubicBezTo>
                  <a:cubicBezTo>
                    <a:pt x="2783978" y="7034"/>
                    <a:pt x="2785520" y="10757"/>
                    <a:pt x="2785520" y="14640"/>
                  </a:cubicBezTo>
                  <a:lnTo>
                    <a:pt x="2785520" y="210526"/>
                  </a:lnTo>
                  <a:cubicBezTo>
                    <a:pt x="2785520" y="218612"/>
                    <a:pt x="2778965" y="225166"/>
                    <a:pt x="2770880" y="225166"/>
                  </a:cubicBezTo>
                  <a:lnTo>
                    <a:pt x="14640" y="225166"/>
                  </a:lnTo>
                  <a:cubicBezTo>
                    <a:pt x="10757" y="225166"/>
                    <a:pt x="7034" y="223624"/>
                    <a:pt x="4288" y="220878"/>
                  </a:cubicBezTo>
                  <a:cubicBezTo>
                    <a:pt x="1542" y="218133"/>
                    <a:pt x="0" y="214409"/>
                    <a:pt x="0" y="210526"/>
                  </a:cubicBezTo>
                  <a:lnTo>
                    <a:pt x="0" y="14640"/>
                  </a:lnTo>
                  <a:cubicBezTo>
                    <a:pt x="0" y="10757"/>
                    <a:pt x="1542" y="7034"/>
                    <a:pt x="4288" y="4288"/>
                  </a:cubicBezTo>
                  <a:cubicBezTo>
                    <a:pt x="7034" y="1542"/>
                    <a:pt x="10757" y="0"/>
                    <a:pt x="14640" y="0"/>
                  </a:cubicBezTo>
                  <a:close/>
                </a:path>
              </a:pathLst>
            </a:custGeom>
            <a:solidFill>
              <a:srgbClr val="388D89"/>
            </a:solidFill>
          </p:spPr>
          <p:txBody>
            <a:bodyPr/>
            <a:lstStyle/>
            <a:p>
              <a:r>
                <a:rPr lang="en-US" sz="2000" dirty="0">
                  <a:solidFill>
                    <a:schemeClr val="bg1"/>
                  </a:solidFill>
                </a:rPr>
                <a:t>Submitted By :</a:t>
              </a:r>
            </a:p>
            <a:p>
              <a:r>
                <a:rPr lang="en-US" sz="2000" dirty="0">
                  <a:solidFill>
                    <a:schemeClr val="bg1"/>
                  </a:solidFill>
                </a:rPr>
                <a:t>Patel </a:t>
              </a:r>
              <a:r>
                <a:rPr lang="en-US" sz="2000" dirty="0" err="1">
                  <a:solidFill>
                    <a:schemeClr val="bg1"/>
                  </a:solidFill>
                </a:rPr>
                <a:t>Tanvikumari</a:t>
              </a:r>
              <a:r>
                <a:rPr lang="en-US" sz="2000" dirty="0">
                  <a:solidFill>
                    <a:schemeClr val="bg1"/>
                  </a:solidFill>
                </a:rPr>
                <a:t> </a:t>
              </a:r>
              <a:r>
                <a:rPr lang="en-US" sz="2000" dirty="0" err="1">
                  <a:solidFill>
                    <a:schemeClr val="bg1"/>
                  </a:solidFill>
                </a:rPr>
                <a:t>Bharatbhai</a:t>
              </a:r>
              <a:r>
                <a:rPr lang="en-US" sz="2000" dirty="0">
                  <a:solidFill>
                    <a:schemeClr val="bg1"/>
                  </a:solidFill>
                </a:rPr>
                <a:t> ( 9655)</a:t>
              </a:r>
            </a:p>
            <a:p>
              <a:r>
                <a:rPr lang="en-US" sz="2000" dirty="0">
                  <a:solidFill>
                    <a:schemeClr val="bg1"/>
                  </a:solidFill>
                </a:rPr>
                <a:t>Patel Visa </a:t>
              </a:r>
              <a:r>
                <a:rPr lang="en-US" sz="2000" dirty="0" err="1">
                  <a:solidFill>
                    <a:schemeClr val="bg1"/>
                  </a:solidFill>
                </a:rPr>
                <a:t>Dipakbhai</a:t>
              </a:r>
              <a:r>
                <a:rPr lang="en-US" sz="2000" dirty="0">
                  <a:solidFill>
                    <a:schemeClr val="bg1"/>
                  </a:solidFill>
                </a:rPr>
                <a:t> ( 9660)</a:t>
              </a:r>
            </a:p>
          </p:txBody>
        </p:sp>
      </p:grpSp>
      <p:sp>
        <p:nvSpPr>
          <p:cNvPr id="20" name="TextBox 20"/>
          <p:cNvSpPr txBox="1"/>
          <p:nvPr/>
        </p:nvSpPr>
        <p:spPr>
          <a:xfrm>
            <a:off x="3529062" y="2083078"/>
            <a:ext cx="11042049" cy="2883675"/>
          </a:xfrm>
          <a:prstGeom prst="rect">
            <a:avLst/>
          </a:prstGeom>
        </p:spPr>
        <p:txBody>
          <a:bodyPr lIns="0" tIns="0" rIns="0" bIns="0" rtlCol="0" anchor="t">
            <a:spAutoFit/>
          </a:bodyPr>
          <a:lstStyle/>
          <a:p>
            <a:pPr algn="ctr">
              <a:lnSpc>
                <a:spcPct val="150000"/>
              </a:lnSpc>
            </a:pPr>
            <a:r>
              <a:rPr lang="en-US" sz="3200" b="1" dirty="0"/>
              <a:t>VIVEKANAND COLLEGE FOR ADVANCED COMPUTER AND INFORMATION SCIENCE</a:t>
            </a:r>
            <a:endParaRPr lang="en-US" sz="3200" dirty="0"/>
          </a:p>
          <a:p>
            <a:pPr algn="ctr">
              <a:lnSpc>
                <a:spcPct val="150000"/>
              </a:lnSpc>
            </a:pPr>
            <a:r>
              <a:rPr lang="en-US" sz="3200" dirty="0"/>
              <a:t>Affiliated to</a:t>
            </a:r>
          </a:p>
          <a:p>
            <a:pPr algn="ctr">
              <a:lnSpc>
                <a:spcPct val="150000"/>
              </a:lnSpc>
            </a:pPr>
            <a:r>
              <a:rPr lang="en-US" sz="3200" b="1" dirty="0"/>
              <a:t>VEER NARMAD SOUTH GUJARAT UNIVERSITY, SURAT</a:t>
            </a:r>
            <a:endParaRPr lang="en-US" sz="3200" dirty="0"/>
          </a:p>
        </p:txBody>
      </p:sp>
      <p:pic>
        <p:nvPicPr>
          <p:cNvPr id="22" name="Picture 21">
            <a:extLst>
              <a:ext uri="{FF2B5EF4-FFF2-40B4-BE49-F238E27FC236}">
                <a16:creationId xmlns:a16="http://schemas.microsoft.com/office/drawing/2014/main" id="{F8EF7164-A662-46DE-9D48-50DF416CF4A1}"/>
              </a:ext>
            </a:extLst>
          </p:cNvPr>
          <p:cNvPicPr>
            <a:picLocks noChangeAspect="1"/>
          </p:cNvPicPr>
          <p:nvPr/>
        </p:nvPicPr>
        <p:blipFill>
          <a:blip r:embed="rId15"/>
          <a:stretch>
            <a:fillRect/>
          </a:stretch>
        </p:blipFill>
        <p:spPr>
          <a:xfrm>
            <a:off x="1909177" y="2727171"/>
            <a:ext cx="1619885" cy="1562100"/>
          </a:xfrm>
          <a:prstGeom prst="rect">
            <a:avLst/>
          </a:prstGeom>
        </p:spPr>
      </p:pic>
      <p:sp>
        <p:nvSpPr>
          <p:cNvPr id="26" name="TextBox 25">
            <a:extLst>
              <a:ext uri="{FF2B5EF4-FFF2-40B4-BE49-F238E27FC236}">
                <a16:creationId xmlns:a16="http://schemas.microsoft.com/office/drawing/2014/main" id="{5E7CA826-2542-FD42-CA2F-99ADC1B97E2B}"/>
              </a:ext>
            </a:extLst>
          </p:cNvPr>
          <p:cNvSpPr txBox="1"/>
          <p:nvPr/>
        </p:nvSpPr>
        <p:spPr>
          <a:xfrm>
            <a:off x="4060277" y="4903825"/>
            <a:ext cx="10300062" cy="3603230"/>
          </a:xfrm>
          <a:prstGeom prst="rect">
            <a:avLst/>
          </a:prstGeom>
          <a:noFill/>
        </p:spPr>
        <p:txBody>
          <a:bodyPr wrap="square">
            <a:spAutoFit/>
          </a:bodyPr>
          <a:lstStyle/>
          <a:p>
            <a:pPr algn="ctr">
              <a:lnSpc>
                <a:spcPct val="150000"/>
              </a:lnSpc>
              <a:spcAft>
                <a:spcPts val="1200"/>
              </a:spcAft>
              <a:buNone/>
            </a:pPr>
            <a:r>
              <a:rPr lang="en-US" sz="2400" b="1" kern="100" dirty="0">
                <a:effectLst/>
                <a:latin typeface="Aptos" panose="020B0004020202020204" pitchFamily="34" charset="0"/>
                <a:ea typeface="Calibri" panose="020F0502020204030204" pitchFamily="34" charset="0"/>
                <a:cs typeface="Cordia New" panose="020B0304020202020204" pitchFamily="34" charset="-34"/>
              </a:rPr>
              <a:t>MINI PROJECT REPORT</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algn="ctr">
              <a:lnSpc>
                <a:spcPct val="150000"/>
              </a:lnSpc>
              <a:spcAft>
                <a:spcPts val="800"/>
              </a:spcAft>
              <a:buNone/>
            </a:pPr>
            <a:r>
              <a:rPr lang="en-US" kern="100" dirty="0">
                <a:effectLst/>
                <a:latin typeface="Aptos" panose="020B0004020202020204" pitchFamily="34" charset="0"/>
                <a:ea typeface="Calibri" panose="020F0502020204030204" pitchFamily="34" charset="0"/>
                <a:cs typeface="Cordia New" panose="020B0304020202020204" pitchFamily="34" charset="-34"/>
              </a:rPr>
              <a:t>ON</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algn="ctr">
              <a:lnSpc>
                <a:spcPct val="150000"/>
              </a:lnSpc>
              <a:spcAft>
                <a:spcPts val="800"/>
              </a:spcAft>
              <a:buNone/>
            </a:pPr>
            <a:r>
              <a:rPr lang="en-US" sz="2800" b="1" kern="100" dirty="0">
                <a:solidFill>
                  <a:srgbClr val="000000"/>
                </a:solidFill>
                <a:effectLst/>
                <a:latin typeface="Aptos" panose="020B0004020202020204" pitchFamily="34" charset="0"/>
                <a:ea typeface="Calibri" panose="020F0502020204030204" pitchFamily="34" charset="0"/>
                <a:cs typeface="Cordia New" panose="020B0304020202020204" pitchFamily="34" charset="-34"/>
              </a:rPr>
              <a:t>“Global Mental Health &amp; Lifestyle Survey”</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algn="ctr">
              <a:lnSpc>
                <a:spcPct val="150000"/>
              </a:lnSpc>
              <a:spcAft>
                <a:spcPts val="800"/>
              </a:spcAft>
              <a:buNone/>
            </a:pPr>
            <a:r>
              <a:rPr lang="en-US" kern="100" dirty="0">
                <a:effectLst/>
                <a:latin typeface="Aptos" panose="020B0004020202020204" pitchFamily="34" charset="0"/>
                <a:ea typeface="Calibri" panose="020F0502020204030204" pitchFamily="34" charset="0"/>
                <a:cs typeface="Cordia New" panose="020B0304020202020204" pitchFamily="34" charset="-34"/>
              </a:rPr>
              <a:t>As a partial Requirement for Degree</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algn="ctr">
              <a:lnSpc>
                <a:spcPct val="150000"/>
              </a:lnSpc>
              <a:spcAft>
                <a:spcPts val="800"/>
              </a:spcAft>
              <a:buNone/>
            </a:pPr>
            <a:r>
              <a:rPr lang="en-US" kern="100" dirty="0">
                <a:effectLst/>
                <a:latin typeface="Aptos" panose="020B0004020202020204" pitchFamily="34" charset="0"/>
                <a:ea typeface="Calibri" panose="020F0502020204030204" pitchFamily="34" charset="0"/>
                <a:cs typeface="Cordia New" panose="020B0304020202020204" pitchFamily="34" charset="-34"/>
              </a:rPr>
              <a:t>Of</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a:p>
            <a:pPr algn="ctr">
              <a:lnSpc>
                <a:spcPct val="150000"/>
              </a:lnSpc>
              <a:spcAft>
                <a:spcPts val="800"/>
              </a:spcAft>
              <a:buNone/>
            </a:pPr>
            <a:r>
              <a:rPr lang="en-US" sz="2400" b="1" kern="100" dirty="0">
                <a:effectLst/>
                <a:latin typeface="Aptos" panose="020B0004020202020204" pitchFamily="34" charset="0"/>
                <a:ea typeface="Calibri" panose="020F0502020204030204" pitchFamily="34" charset="0"/>
                <a:cs typeface="Cordia New" panose="020B0304020202020204" pitchFamily="34" charset="-34"/>
              </a:rPr>
              <a:t>BACHELOR OF COMPUTER APPLICATION (BCA)</a:t>
            </a:r>
            <a:endParaRPr lang="en-US" sz="1600" kern="100" dirty="0">
              <a:effectLst/>
              <a:latin typeface="Calibri" panose="020F0502020204030204" pitchFamily="34" charset="0"/>
              <a:ea typeface="Calibri" panose="020F0502020204030204" pitchFamily="34" charset="0"/>
              <a:cs typeface="Cordia New" panose="020B0304020202020204" pitchFamily="34" charset="-3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Freeform 3"/>
          <p:cNvSpPr/>
          <p:nvPr/>
        </p:nvSpPr>
        <p:spPr>
          <a:xfrm>
            <a:off x="9829646" y="342156"/>
            <a:ext cx="7298042" cy="9602687"/>
          </a:xfrm>
          <a:custGeom>
            <a:avLst/>
            <a:gdLst/>
            <a:ahLst/>
            <a:cxnLst/>
            <a:rect l="l" t="t" r="r" b="b"/>
            <a:pathLst>
              <a:path w="7298042" h="9602687">
                <a:moveTo>
                  <a:pt x="0" y="0"/>
                </a:moveTo>
                <a:lnTo>
                  <a:pt x="7298043" y="0"/>
                </a:lnTo>
                <a:lnTo>
                  <a:pt x="7298043" y="9602687"/>
                </a:lnTo>
                <a:lnTo>
                  <a:pt x="0" y="9602687"/>
                </a:lnTo>
                <a:lnTo>
                  <a:pt x="0" y="0"/>
                </a:lnTo>
                <a:close/>
              </a:path>
            </a:pathLst>
          </a:custGeom>
          <a:blipFill>
            <a:blip r:embed="rId3"/>
            <a:stretch>
              <a:fillRect/>
            </a:stretch>
          </a:blipFill>
        </p:spPr>
        <p:txBody>
          <a:bodyPr/>
          <a:lstStyle/>
          <a:p>
            <a:endParaRPr lang="en-IN" dirty="0"/>
          </a:p>
        </p:txBody>
      </p:sp>
      <p:sp>
        <p:nvSpPr>
          <p:cNvPr id="4" name="TextBox 4"/>
          <p:cNvSpPr txBox="1"/>
          <p:nvPr/>
        </p:nvSpPr>
        <p:spPr>
          <a:xfrm>
            <a:off x="1028700" y="3004886"/>
            <a:ext cx="7863617" cy="881634"/>
          </a:xfrm>
          <a:prstGeom prst="rect">
            <a:avLst/>
          </a:prstGeom>
        </p:spPr>
        <p:txBody>
          <a:bodyPr lIns="0" tIns="0" rIns="0" bIns="0" rtlCol="0" anchor="t">
            <a:spAutoFit/>
          </a:bodyPr>
          <a:lstStyle/>
          <a:p>
            <a:pPr marL="0" lvl="0" indent="0" algn="l">
              <a:lnSpc>
                <a:spcPts val="6888"/>
              </a:lnSpc>
            </a:pPr>
            <a:r>
              <a:rPr lang="en-US" sz="6150" b="1" dirty="0">
                <a:solidFill>
                  <a:srgbClr val="388D89"/>
                </a:solidFill>
                <a:latin typeface="Roboto Bold"/>
                <a:ea typeface="Roboto Bold"/>
                <a:cs typeface="Roboto Bold"/>
                <a:sym typeface="Roboto Bold"/>
              </a:rPr>
              <a:t>ACKNOWLEDGEMENT</a:t>
            </a:r>
          </a:p>
        </p:txBody>
      </p:sp>
      <p:sp>
        <p:nvSpPr>
          <p:cNvPr id="5" name="TextBox 5"/>
          <p:cNvSpPr txBox="1"/>
          <p:nvPr/>
        </p:nvSpPr>
        <p:spPr>
          <a:xfrm>
            <a:off x="685801" y="4152900"/>
            <a:ext cx="8206516" cy="3886200"/>
          </a:xfrm>
          <a:prstGeom prst="rect">
            <a:avLst/>
          </a:prstGeom>
        </p:spPr>
        <p:txBody>
          <a:bodyPr wrap="square" lIns="0" tIns="0" rIns="0" bIns="0" rtlCol="0" anchor="t">
            <a:spAutoFit/>
          </a:bodyPr>
          <a:lstStyle/>
          <a:p>
            <a:pPr marL="0" lvl="0" indent="0" algn="just">
              <a:lnSpc>
                <a:spcPct val="200000"/>
              </a:lnSpc>
            </a:pPr>
            <a:r>
              <a:rPr lang="en-US" sz="2100" dirty="0">
                <a:solidFill>
                  <a:srgbClr val="388D89"/>
                </a:solidFill>
                <a:latin typeface="Roboto"/>
                <a:ea typeface="Roboto"/>
                <a:cs typeface="Roboto"/>
                <a:sym typeface="Roboto"/>
              </a:rPr>
              <a:t>We sincerely thank our project guide, </a:t>
            </a:r>
            <a:r>
              <a:rPr lang="en-US" sz="2100" b="1" dirty="0">
                <a:solidFill>
                  <a:srgbClr val="388D89"/>
                </a:solidFill>
                <a:latin typeface="Roboto"/>
                <a:ea typeface="Roboto"/>
                <a:cs typeface="Roboto"/>
                <a:sym typeface="Roboto"/>
              </a:rPr>
              <a:t>Mrs. Ankita </a:t>
            </a:r>
            <a:r>
              <a:rPr lang="en-US" sz="2100" b="1" dirty="0" err="1">
                <a:solidFill>
                  <a:srgbClr val="388D89"/>
                </a:solidFill>
                <a:latin typeface="Roboto"/>
                <a:ea typeface="Roboto"/>
                <a:cs typeface="Roboto"/>
                <a:sym typeface="Roboto"/>
              </a:rPr>
              <a:t>patel</a:t>
            </a:r>
            <a:r>
              <a:rPr lang="en-US" sz="2100" b="1" dirty="0">
                <a:solidFill>
                  <a:srgbClr val="388D89"/>
                </a:solidFill>
                <a:latin typeface="Roboto"/>
                <a:ea typeface="Roboto"/>
                <a:cs typeface="Roboto"/>
                <a:sym typeface="Roboto"/>
              </a:rPr>
              <a:t> </a:t>
            </a:r>
            <a:r>
              <a:rPr lang="en-US" sz="2100" dirty="0">
                <a:solidFill>
                  <a:srgbClr val="388D89"/>
                </a:solidFill>
                <a:latin typeface="Roboto"/>
                <a:ea typeface="Roboto"/>
                <a:cs typeface="Roboto"/>
                <a:sym typeface="Roboto"/>
              </a:rPr>
              <a:t>,for her valuable guidance and support.</a:t>
            </a:r>
          </a:p>
          <a:p>
            <a:pPr marL="0" lvl="0" indent="0" algn="just">
              <a:lnSpc>
                <a:spcPct val="200000"/>
              </a:lnSpc>
            </a:pPr>
            <a:r>
              <a:rPr lang="en-US" sz="2100" dirty="0">
                <a:solidFill>
                  <a:srgbClr val="388D89"/>
                </a:solidFill>
                <a:latin typeface="Roboto"/>
                <a:ea typeface="Roboto"/>
                <a:cs typeface="Roboto"/>
                <a:sym typeface="Roboto"/>
              </a:rPr>
              <a:t>We are also </a:t>
            </a:r>
            <a:r>
              <a:rPr lang="en-US" sz="2100" dirty="0" err="1">
                <a:solidFill>
                  <a:srgbClr val="388D89"/>
                </a:solidFill>
                <a:latin typeface="Roboto"/>
                <a:ea typeface="Roboto"/>
                <a:cs typeface="Roboto"/>
                <a:sym typeface="Roboto"/>
              </a:rPr>
              <a:t>greatful</a:t>
            </a:r>
            <a:r>
              <a:rPr lang="en-US" sz="2100" dirty="0">
                <a:solidFill>
                  <a:srgbClr val="388D89"/>
                </a:solidFill>
                <a:latin typeface="Roboto"/>
                <a:ea typeface="Roboto"/>
                <a:cs typeface="Roboto"/>
                <a:sym typeface="Roboto"/>
              </a:rPr>
              <a:t> to our </a:t>
            </a:r>
            <a:r>
              <a:rPr lang="en-US" sz="2100" dirty="0" err="1">
                <a:solidFill>
                  <a:srgbClr val="388D89"/>
                </a:solidFill>
                <a:latin typeface="Roboto"/>
                <a:ea typeface="Roboto"/>
                <a:cs typeface="Roboto"/>
                <a:sym typeface="Roboto"/>
              </a:rPr>
              <a:t>principlal</a:t>
            </a:r>
            <a:r>
              <a:rPr lang="en-US" sz="2100" dirty="0">
                <a:solidFill>
                  <a:srgbClr val="388D89"/>
                </a:solidFill>
                <a:latin typeface="Roboto"/>
                <a:ea typeface="Roboto"/>
                <a:cs typeface="Roboto"/>
                <a:sym typeface="Roboto"/>
              </a:rPr>
              <a:t> ,</a:t>
            </a:r>
            <a:r>
              <a:rPr lang="en-US" sz="2100" b="1" dirty="0" err="1">
                <a:solidFill>
                  <a:srgbClr val="388D89"/>
                </a:solidFill>
                <a:latin typeface="Roboto"/>
                <a:ea typeface="Roboto"/>
                <a:cs typeface="Roboto"/>
                <a:sym typeface="Roboto"/>
              </a:rPr>
              <a:t>Dr.Sandip</a:t>
            </a:r>
            <a:r>
              <a:rPr lang="en-US" sz="2100" b="1" dirty="0">
                <a:solidFill>
                  <a:srgbClr val="388D89"/>
                </a:solidFill>
                <a:latin typeface="Roboto"/>
                <a:ea typeface="Roboto"/>
                <a:cs typeface="Roboto"/>
                <a:sym typeface="Roboto"/>
              </a:rPr>
              <a:t> Surati </a:t>
            </a:r>
            <a:r>
              <a:rPr lang="en-US" sz="2100" dirty="0">
                <a:solidFill>
                  <a:srgbClr val="388D89"/>
                </a:solidFill>
                <a:latin typeface="Roboto"/>
                <a:ea typeface="Roboto"/>
                <a:cs typeface="Roboto"/>
                <a:sym typeface="Roboto"/>
              </a:rPr>
              <a:t>,and campus Director, </a:t>
            </a:r>
            <a:r>
              <a:rPr lang="en-US" sz="2100" b="1" dirty="0">
                <a:solidFill>
                  <a:srgbClr val="388D89"/>
                </a:solidFill>
                <a:latin typeface="Roboto"/>
                <a:ea typeface="Roboto"/>
                <a:cs typeface="Roboto"/>
                <a:sym typeface="Roboto"/>
              </a:rPr>
              <a:t>Mrs. Sumathi Shenoy</a:t>
            </a:r>
            <a:r>
              <a:rPr lang="en-US" sz="2100" dirty="0">
                <a:solidFill>
                  <a:srgbClr val="388D89"/>
                </a:solidFill>
                <a:latin typeface="Roboto"/>
                <a:ea typeface="Roboto"/>
                <a:cs typeface="Roboto"/>
                <a:sym typeface="Roboto"/>
              </a:rPr>
              <a:t>, for their support and resources.</a:t>
            </a:r>
          </a:p>
          <a:p>
            <a:pPr marL="0" lvl="0" indent="0" algn="just">
              <a:lnSpc>
                <a:spcPct val="200000"/>
              </a:lnSpc>
            </a:pPr>
            <a:r>
              <a:rPr lang="en-US" sz="2100" dirty="0">
                <a:solidFill>
                  <a:srgbClr val="388D89"/>
                </a:solidFill>
                <a:latin typeface="Roboto"/>
                <a:ea typeface="Roboto"/>
                <a:cs typeface="Roboto"/>
                <a:sym typeface="Roboto"/>
              </a:rPr>
              <a:t>Lastly, we thank our parents, friends and faculty for their encouragement.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E7259-F8EA-1E6C-3214-27EED076CF6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4674377-67CD-5305-B9B8-81A619BB2EF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Freeform 3">
            <a:extLst>
              <a:ext uri="{FF2B5EF4-FFF2-40B4-BE49-F238E27FC236}">
                <a16:creationId xmlns:a16="http://schemas.microsoft.com/office/drawing/2014/main" id="{330267C7-6228-E1F6-C725-16CAEE6F9E1D}"/>
              </a:ext>
            </a:extLst>
          </p:cNvPr>
          <p:cNvSpPr/>
          <p:nvPr/>
        </p:nvSpPr>
        <p:spPr>
          <a:xfrm>
            <a:off x="9829646" y="342156"/>
            <a:ext cx="7298042" cy="9602687"/>
          </a:xfrm>
          <a:custGeom>
            <a:avLst/>
            <a:gdLst/>
            <a:ahLst/>
            <a:cxnLst/>
            <a:rect l="l" t="t" r="r" b="b"/>
            <a:pathLst>
              <a:path w="7298042" h="9602687">
                <a:moveTo>
                  <a:pt x="0" y="0"/>
                </a:moveTo>
                <a:lnTo>
                  <a:pt x="7298043" y="0"/>
                </a:lnTo>
                <a:lnTo>
                  <a:pt x="7298043" y="9602687"/>
                </a:lnTo>
                <a:lnTo>
                  <a:pt x="0" y="9602687"/>
                </a:lnTo>
                <a:lnTo>
                  <a:pt x="0" y="0"/>
                </a:lnTo>
                <a:close/>
              </a:path>
            </a:pathLst>
          </a:custGeom>
          <a: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a:blipFill>
        </p:spPr>
        <p:txBody>
          <a:bodyPr/>
          <a:lstStyle/>
          <a:p>
            <a:endParaRPr lang="en-IN" dirty="0"/>
          </a:p>
        </p:txBody>
      </p:sp>
      <p:pic>
        <p:nvPicPr>
          <p:cNvPr id="6" name="Picture 5">
            <a:extLst>
              <a:ext uri="{FF2B5EF4-FFF2-40B4-BE49-F238E27FC236}">
                <a16:creationId xmlns:a16="http://schemas.microsoft.com/office/drawing/2014/main" id="{5263C9D6-8B5B-4B91-B844-CD8960BA2DD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09600" y="316755"/>
            <a:ext cx="8059734" cy="9754339"/>
          </a:xfrm>
          <a:prstGeom prst="rect">
            <a:avLst/>
          </a:prstGeom>
          <a:noFill/>
          <a:ln>
            <a:noFill/>
          </a:ln>
        </p:spPr>
      </p:pic>
    </p:spTree>
    <p:extLst>
      <p:ext uri="{BB962C8B-B14F-4D97-AF65-F5344CB8AC3E}">
        <p14:creationId xmlns:p14="http://schemas.microsoft.com/office/powerpoint/2010/main" val="483582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Freeform 3"/>
          <p:cNvSpPr/>
          <p:nvPr/>
        </p:nvSpPr>
        <p:spPr>
          <a:xfrm>
            <a:off x="13940118" y="179196"/>
            <a:ext cx="3205675" cy="9605018"/>
          </a:xfrm>
          <a:custGeom>
            <a:avLst/>
            <a:gdLst/>
            <a:ahLst/>
            <a:cxnLst/>
            <a:rect l="l" t="t" r="r" b="b"/>
            <a:pathLst>
              <a:path w="3205675" h="9605018">
                <a:moveTo>
                  <a:pt x="0" y="0"/>
                </a:moveTo>
                <a:lnTo>
                  <a:pt x="3205675" y="0"/>
                </a:lnTo>
                <a:lnTo>
                  <a:pt x="3205675" y="9605018"/>
                </a:lnTo>
                <a:lnTo>
                  <a:pt x="0" y="9605018"/>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792520" y="1487236"/>
            <a:ext cx="11315700" cy="2577629"/>
          </a:xfrm>
          <a:prstGeom prst="rect">
            <a:avLst/>
          </a:prstGeom>
        </p:spPr>
        <p:txBody>
          <a:bodyPr wrap="square" lIns="0" tIns="0" rIns="0" bIns="0" rtlCol="0" anchor="t">
            <a:spAutoFit/>
          </a:bodyPr>
          <a:lstStyle/>
          <a:p>
            <a:pPr marL="0" lvl="0" indent="0" algn="l">
              <a:lnSpc>
                <a:spcPts val="6748"/>
              </a:lnSpc>
            </a:pPr>
            <a:r>
              <a:rPr lang="en-US" sz="6025" b="1" dirty="0">
                <a:solidFill>
                  <a:srgbClr val="388D89"/>
                </a:solidFill>
                <a:latin typeface="Roboto Bold"/>
                <a:ea typeface="Roboto Bold"/>
                <a:cs typeface="Roboto Bold"/>
                <a:sym typeface="Roboto Bold"/>
              </a:rPr>
              <a:t>INTRODUCTION TO MENTAL HEALTH AS A GLOBAL CONCERN</a:t>
            </a:r>
          </a:p>
        </p:txBody>
      </p:sp>
      <p:sp>
        <p:nvSpPr>
          <p:cNvPr id="5" name="TextBox 5"/>
          <p:cNvSpPr txBox="1"/>
          <p:nvPr/>
        </p:nvSpPr>
        <p:spPr>
          <a:xfrm>
            <a:off x="914400" y="4457700"/>
            <a:ext cx="9982200" cy="2846933"/>
          </a:xfrm>
          <a:prstGeom prst="rect">
            <a:avLst/>
          </a:prstGeom>
        </p:spPr>
        <p:txBody>
          <a:bodyPr wrap="square" lIns="0" tIns="0" rIns="0" bIns="0" rtlCol="0" anchor="t">
            <a:spAutoFit/>
          </a:bodyPr>
          <a:lstStyle/>
          <a:p>
            <a:pPr marL="0" lvl="0" indent="0" algn="just">
              <a:lnSpc>
                <a:spcPct val="200000"/>
              </a:lnSpc>
            </a:pPr>
            <a:r>
              <a:rPr lang="en-US" sz="2400" dirty="0">
                <a:solidFill>
                  <a:srgbClr val="388D89"/>
                </a:solidFill>
                <a:latin typeface="Roboto"/>
                <a:ea typeface="Roboto"/>
                <a:cs typeface="Roboto"/>
                <a:sym typeface="Roboto"/>
              </a:rPr>
              <a:t>Mental health disorders affect 1 in 4 people globally, making it one of the leading causes of disability worldwide. Our lifestyle choices—including sleep patterns, physical activity, and social connections—play a crucial role in shaping our mental well-being.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Freeform 3"/>
          <p:cNvSpPr/>
          <p:nvPr/>
        </p:nvSpPr>
        <p:spPr>
          <a:xfrm>
            <a:off x="1257868" y="4453768"/>
            <a:ext cx="7462091" cy="4738428"/>
          </a:xfrm>
          <a:custGeom>
            <a:avLst/>
            <a:gdLst/>
            <a:ahLst/>
            <a:cxnLst/>
            <a:rect l="l" t="t" r="r" b="b"/>
            <a:pathLst>
              <a:path w="7462091" h="4738428">
                <a:moveTo>
                  <a:pt x="0" y="0"/>
                </a:moveTo>
                <a:lnTo>
                  <a:pt x="7462091" y="0"/>
                </a:lnTo>
                <a:lnTo>
                  <a:pt x="7462091" y="4738427"/>
                </a:lnTo>
                <a:lnTo>
                  <a:pt x="0" y="4738427"/>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1176989"/>
            <a:ext cx="8017661" cy="2586926"/>
          </a:xfrm>
          <a:prstGeom prst="rect">
            <a:avLst/>
          </a:prstGeom>
        </p:spPr>
        <p:txBody>
          <a:bodyPr lIns="0" tIns="0" rIns="0" bIns="0" rtlCol="0" anchor="t">
            <a:spAutoFit/>
          </a:bodyPr>
          <a:lstStyle/>
          <a:p>
            <a:pPr marL="0" lvl="0" indent="0" algn="l">
              <a:lnSpc>
                <a:spcPts val="10072"/>
              </a:lnSpc>
            </a:pPr>
            <a:r>
              <a:rPr lang="en-US" sz="8993" b="1">
                <a:solidFill>
                  <a:srgbClr val="388D89"/>
                </a:solidFill>
                <a:latin typeface="Roboto Bold"/>
                <a:ea typeface="Roboto Bold"/>
                <a:cs typeface="Roboto Bold"/>
                <a:sym typeface="Roboto Bold"/>
              </a:rPr>
              <a:t>PROJECT OBJECTIVES</a:t>
            </a:r>
          </a:p>
        </p:txBody>
      </p:sp>
      <p:grpSp>
        <p:nvGrpSpPr>
          <p:cNvPr id="5" name="Group 5"/>
          <p:cNvGrpSpPr/>
          <p:nvPr/>
        </p:nvGrpSpPr>
        <p:grpSpPr>
          <a:xfrm>
            <a:off x="9997678" y="1195400"/>
            <a:ext cx="7261622" cy="1723940"/>
            <a:chOff x="0" y="0"/>
            <a:chExt cx="1912526" cy="454042"/>
          </a:xfrm>
        </p:grpSpPr>
        <p:sp>
          <p:nvSpPr>
            <p:cNvPr id="6" name="Freeform 6"/>
            <p:cNvSpPr/>
            <p:nvPr/>
          </p:nvSpPr>
          <p:spPr>
            <a:xfrm>
              <a:off x="0" y="0"/>
              <a:ext cx="1912526" cy="454042"/>
            </a:xfrm>
            <a:custGeom>
              <a:avLst/>
              <a:gdLst/>
              <a:ahLst/>
              <a:cxnLst/>
              <a:rect l="l" t="t" r="r" b="b"/>
              <a:pathLst>
                <a:path w="1912526" h="454042">
                  <a:moveTo>
                    <a:pt x="1912526" y="21323"/>
                  </a:moveTo>
                  <a:lnTo>
                    <a:pt x="1912526" y="432719"/>
                  </a:lnTo>
                  <a:cubicBezTo>
                    <a:pt x="1912526" y="438374"/>
                    <a:pt x="1910279" y="443798"/>
                    <a:pt x="1906281" y="447796"/>
                  </a:cubicBezTo>
                  <a:cubicBezTo>
                    <a:pt x="1902282" y="451795"/>
                    <a:pt x="1896858" y="454042"/>
                    <a:pt x="1891203" y="454042"/>
                  </a:cubicBezTo>
                  <a:lnTo>
                    <a:pt x="21323" y="454042"/>
                  </a:lnTo>
                  <a:cubicBezTo>
                    <a:pt x="9547" y="454042"/>
                    <a:pt x="0" y="444495"/>
                    <a:pt x="0" y="432719"/>
                  </a:cubicBezTo>
                  <a:lnTo>
                    <a:pt x="0" y="21323"/>
                  </a:lnTo>
                  <a:cubicBezTo>
                    <a:pt x="0" y="9547"/>
                    <a:pt x="9547" y="0"/>
                    <a:pt x="21323" y="0"/>
                  </a:cubicBezTo>
                  <a:lnTo>
                    <a:pt x="1891203" y="0"/>
                  </a:lnTo>
                  <a:cubicBezTo>
                    <a:pt x="1902979" y="0"/>
                    <a:pt x="1912526" y="9547"/>
                    <a:pt x="1912526" y="21323"/>
                  </a:cubicBezTo>
                  <a:close/>
                </a:path>
              </a:pathLst>
            </a:custGeom>
            <a:solidFill>
              <a:srgbClr val="388D89"/>
            </a:solidFill>
          </p:spPr>
          <p:txBody>
            <a:bodyPr/>
            <a:lstStyle/>
            <a:p>
              <a:endParaRPr lang="en-US"/>
            </a:p>
          </p:txBody>
        </p:sp>
        <p:sp>
          <p:nvSpPr>
            <p:cNvPr id="7" name="TextBox 7"/>
            <p:cNvSpPr txBox="1"/>
            <p:nvPr/>
          </p:nvSpPr>
          <p:spPr>
            <a:xfrm>
              <a:off x="0" y="-38100"/>
              <a:ext cx="1912526" cy="492142"/>
            </a:xfrm>
            <a:prstGeom prst="rect">
              <a:avLst/>
            </a:prstGeom>
          </p:spPr>
          <p:txBody>
            <a:bodyPr lIns="50800" tIns="50800" rIns="50800" bIns="50800" rtlCol="0" anchor="ctr"/>
            <a:lstStyle/>
            <a:p>
              <a:pPr marL="0" lvl="0" indent="0" algn="ctr">
                <a:lnSpc>
                  <a:spcPts val="2659"/>
                </a:lnSpc>
              </a:pPr>
              <a:endParaRPr/>
            </a:p>
          </p:txBody>
        </p:sp>
      </p:grpSp>
      <p:sp>
        <p:nvSpPr>
          <p:cNvPr id="8" name="TextBox 8"/>
          <p:cNvSpPr txBox="1"/>
          <p:nvPr/>
        </p:nvSpPr>
        <p:spPr>
          <a:xfrm>
            <a:off x="11351796" y="1560545"/>
            <a:ext cx="5648104" cy="792658"/>
          </a:xfrm>
          <a:prstGeom prst="rect">
            <a:avLst/>
          </a:prstGeom>
        </p:spPr>
        <p:txBody>
          <a:bodyPr lIns="0" tIns="0" rIns="0" bIns="0" rtlCol="0" anchor="t">
            <a:spAutoFit/>
          </a:bodyPr>
          <a:lstStyle/>
          <a:p>
            <a:pPr marL="0" lvl="0" indent="0" algn="just">
              <a:lnSpc>
                <a:spcPts val="3248"/>
              </a:lnSpc>
            </a:pPr>
            <a:r>
              <a:rPr lang="en-US" sz="1845">
                <a:solidFill>
                  <a:srgbClr val="DEF3FC"/>
                </a:solidFill>
                <a:latin typeface="Roboto"/>
                <a:ea typeface="Roboto"/>
                <a:cs typeface="Roboto"/>
                <a:sym typeface="Roboto"/>
              </a:rPr>
              <a:t>Conduct comprehensive Exploratory Data Analysis (EDA) to understand data patterns and distributions.</a:t>
            </a:r>
          </a:p>
        </p:txBody>
      </p:sp>
      <p:sp>
        <p:nvSpPr>
          <p:cNvPr id="9" name="TextBox 9"/>
          <p:cNvSpPr txBox="1"/>
          <p:nvPr/>
        </p:nvSpPr>
        <p:spPr>
          <a:xfrm>
            <a:off x="10257079" y="1379570"/>
            <a:ext cx="858417" cy="1070107"/>
          </a:xfrm>
          <a:prstGeom prst="rect">
            <a:avLst/>
          </a:prstGeom>
        </p:spPr>
        <p:txBody>
          <a:bodyPr lIns="0" tIns="0" rIns="0" bIns="0" rtlCol="0" anchor="t">
            <a:spAutoFit/>
          </a:bodyPr>
          <a:lstStyle/>
          <a:p>
            <a:pPr marL="0" lvl="0" indent="0" algn="ctr">
              <a:lnSpc>
                <a:spcPts val="9124"/>
              </a:lnSpc>
            </a:pPr>
            <a:r>
              <a:rPr lang="en-US" sz="5184" b="1">
                <a:solidFill>
                  <a:srgbClr val="F8FFFF"/>
                </a:solidFill>
                <a:latin typeface="Roboto Bold"/>
                <a:ea typeface="Roboto Bold"/>
                <a:cs typeface="Roboto Bold"/>
                <a:sym typeface="Roboto Bold"/>
              </a:rPr>
              <a:t>01</a:t>
            </a:r>
          </a:p>
        </p:txBody>
      </p:sp>
      <p:grpSp>
        <p:nvGrpSpPr>
          <p:cNvPr id="10" name="Group 10"/>
          <p:cNvGrpSpPr/>
          <p:nvPr/>
        </p:nvGrpSpPr>
        <p:grpSpPr>
          <a:xfrm>
            <a:off x="9997678" y="3253032"/>
            <a:ext cx="7261622" cy="1723940"/>
            <a:chOff x="0" y="0"/>
            <a:chExt cx="1912526" cy="454042"/>
          </a:xfrm>
        </p:grpSpPr>
        <p:sp>
          <p:nvSpPr>
            <p:cNvPr id="11" name="Freeform 11"/>
            <p:cNvSpPr/>
            <p:nvPr/>
          </p:nvSpPr>
          <p:spPr>
            <a:xfrm>
              <a:off x="0" y="0"/>
              <a:ext cx="1912526" cy="454042"/>
            </a:xfrm>
            <a:custGeom>
              <a:avLst/>
              <a:gdLst/>
              <a:ahLst/>
              <a:cxnLst/>
              <a:rect l="l" t="t" r="r" b="b"/>
              <a:pathLst>
                <a:path w="1912526" h="454042">
                  <a:moveTo>
                    <a:pt x="1912526" y="21323"/>
                  </a:moveTo>
                  <a:lnTo>
                    <a:pt x="1912526" y="432719"/>
                  </a:lnTo>
                  <a:cubicBezTo>
                    <a:pt x="1912526" y="438374"/>
                    <a:pt x="1910279" y="443798"/>
                    <a:pt x="1906281" y="447796"/>
                  </a:cubicBezTo>
                  <a:cubicBezTo>
                    <a:pt x="1902282" y="451795"/>
                    <a:pt x="1896858" y="454042"/>
                    <a:pt x="1891203" y="454042"/>
                  </a:cubicBezTo>
                  <a:lnTo>
                    <a:pt x="21323" y="454042"/>
                  </a:lnTo>
                  <a:cubicBezTo>
                    <a:pt x="9547" y="454042"/>
                    <a:pt x="0" y="444495"/>
                    <a:pt x="0" y="432719"/>
                  </a:cubicBezTo>
                  <a:lnTo>
                    <a:pt x="0" y="21323"/>
                  </a:lnTo>
                  <a:cubicBezTo>
                    <a:pt x="0" y="9547"/>
                    <a:pt x="9547" y="0"/>
                    <a:pt x="21323" y="0"/>
                  </a:cubicBezTo>
                  <a:lnTo>
                    <a:pt x="1891203" y="0"/>
                  </a:lnTo>
                  <a:cubicBezTo>
                    <a:pt x="1902979" y="0"/>
                    <a:pt x="1912526" y="9547"/>
                    <a:pt x="1912526" y="21323"/>
                  </a:cubicBezTo>
                  <a:close/>
                </a:path>
              </a:pathLst>
            </a:custGeom>
            <a:solidFill>
              <a:srgbClr val="CCF1F0"/>
            </a:solidFill>
          </p:spPr>
          <p:txBody>
            <a:bodyPr/>
            <a:lstStyle/>
            <a:p>
              <a:endParaRPr lang="en-US"/>
            </a:p>
          </p:txBody>
        </p:sp>
        <p:sp>
          <p:nvSpPr>
            <p:cNvPr id="12" name="TextBox 12"/>
            <p:cNvSpPr txBox="1"/>
            <p:nvPr/>
          </p:nvSpPr>
          <p:spPr>
            <a:xfrm>
              <a:off x="0" y="-38100"/>
              <a:ext cx="1912526" cy="492142"/>
            </a:xfrm>
            <a:prstGeom prst="rect">
              <a:avLst/>
            </a:prstGeom>
          </p:spPr>
          <p:txBody>
            <a:bodyPr lIns="50800" tIns="50800" rIns="50800" bIns="50800" rtlCol="0" anchor="ctr"/>
            <a:lstStyle/>
            <a:p>
              <a:pPr marL="0" lvl="0" indent="0" algn="ctr">
                <a:lnSpc>
                  <a:spcPts val="2659"/>
                </a:lnSpc>
              </a:pPr>
              <a:endParaRPr/>
            </a:p>
          </p:txBody>
        </p:sp>
      </p:grpSp>
      <p:sp>
        <p:nvSpPr>
          <p:cNvPr id="13" name="TextBox 13"/>
          <p:cNvSpPr txBox="1"/>
          <p:nvPr/>
        </p:nvSpPr>
        <p:spPr>
          <a:xfrm>
            <a:off x="11351796" y="3618177"/>
            <a:ext cx="5648104" cy="792658"/>
          </a:xfrm>
          <a:prstGeom prst="rect">
            <a:avLst/>
          </a:prstGeom>
        </p:spPr>
        <p:txBody>
          <a:bodyPr lIns="0" tIns="0" rIns="0" bIns="0" rtlCol="0" anchor="t">
            <a:spAutoFit/>
          </a:bodyPr>
          <a:lstStyle/>
          <a:p>
            <a:pPr marL="0" lvl="0" indent="0" algn="just">
              <a:lnSpc>
                <a:spcPts val="3248"/>
              </a:lnSpc>
            </a:pPr>
            <a:r>
              <a:rPr lang="en-US" sz="1845">
                <a:solidFill>
                  <a:srgbClr val="388D89"/>
                </a:solidFill>
                <a:latin typeface="Roboto"/>
                <a:ea typeface="Roboto"/>
                <a:cs typeface="Roboto"/>
                <a:sym typeface="Roboto"/>
              </a:rPr>
              <a:t>Perform thorough data cleaning to handle missing values, outliers, and ensure data quality.</a:t>
            </a:r>
          </a:p>
        </p:txBody>
      </p:sp>
      <p:sp>
        <p:nvSpPr>
          <p:cNvPr id="14" name="TextBox 14"/>
          <p:cNvSpPr txBox="1"/>
          <p:nvPr/>
        </p:nvSpPr>
        <p:spPr>
          <a:xfrm>
            <a:off x="10257079" y="3437202"/>
            <a:ext cx="858417" cy="1070107"/>
          </a:xfrm>
          <a:prstGeom prst="rect">
            <a:avLst/>
          </a:prstGeom>
        </p:spPr>
        <p:txBody>
          <a:bodyPr lIns="0" tIns="0" rIns="0" bIns="0" rtlCol="0" anchor="t">
            <a:spAutoFit/>
          </a:bodyPr>
          <a:lstStyle/>
          <a:p>
            <a:pPr marL="0" lvl="0" indent="0" algn="ctr">
              <a:lnSpc>
                <a:spcPts val="9124"/>
              </a:lnSpc>
            </a:pPr>
            <a:r>
              <a:rPr lang="en-US" sz="5184" b="1">
                <a:solidFill>
                  <a:srgbClr val="388D89"/>
                </a:solidFill>
                <a:latin typeface="Roboto Bold"/>
                <a:ea typeface="Roboto Bold"/>
                <a:cs typeface="Roboto Bold"/>
                <a:sym typeface="Roboto Bold"/>
              </a:rPr>
              <a:t>02</a:t>
            </a:r>
          </a:p>
        </p:txBody>
      </p:sp>
      <p:grpSp>
        <p:nvGrpSpPr>
          <p:cNvPr id="15" name="Group 15"/>
          <p:cNvGrpSpPr/>
          <p:nvPr/>
        </p:nvGrpSpPr>
        <p:grpSpPr>
          <a:xfrm>
            <a:off x="9997678" y="5310346"/>
            <a:ext cx="7261622" cy="1723940"/>
            <a:chOff x="0" y="0"/>
            <a:chExt cx="1912526" cy="454042"/>
          </a:xfrm>
        </p:grpSpPr>
        <p:sp>
          <p:nvSpPr>
            <p:cNvPr id="16" name="Freeform 16"/>
            <p:cNvSpPr/>
            <p:nvPr/>
          </p:nvSpPr>
          <p:spPr>
            <a:xfrm>
              <a:off x="0" y="0"/>
              <a:ext cx="1912526" cy="454042"/>
            </a:xfrm>
            <a:custGeom>
              <a:avLst/>
              <a:gdLst/>
              <a:ahLst/>
              <a:cxnLst/>
              <a:rect l="l" t="t" r="r" b="b"/>
              <a:pathLst>
                <a:path w="1912526" h="454042">
                  <a:moveTo>
                    <a:pt x="1912526" y="21323"/>
                  </a:moveTo>
                  <a:lnTo>
                    <a:pt x="1912526" y="432719"/>
                  </a:lnTo>
                  <a:cubicBezTo>
                    <a:pt x="1912526" y="438374"/>
                    <a:pt x="1910279" y="443798"/>
                    <a:pt x="1906281" y="447796"/>
                  </a:cubicBezTo>
                  <a:cubicBezTo>
                    <a:pt x="1902282" y="451795"/>
                    <a:pt x="1896858" y="454042"/>
                    <a:pt x="1891203" y="454042"/>
                  </a:cubicBezTo>
                  <a:lnTo>
                    <a:pt x="21323" y="454042"/>
                  </a:lnTo>
                  <a:cubicBezTo>
                    <a:pt x="9547" y="454042"/>
                    <a:pt x="0" y="444495"/>
                    <a:pt x="0" y="432719"/>
                  </a:cubicBezTo>
                  <a:lnTo>
                    <a:pt x="0" y="21323"/>
                  </a:lnTo>
                  <a:cubicBezTo>
                    <a:pt x="0" y="9547"/>
                    <a:pt x="9547" y="0"/>
                    <a:pt x="21323" y="0"/>
                  </a:cubicBezTo>
                  <a:lnTo>
                    <a:pt x="1891203" y="0"/>
                  </a:lnTo>
                  <a:cubicBezTo>
                    <a:pt x="1902979" y="0"/>
                    <a:pt x="1912526" y="9547"/>
                    <a:pt x="1912526" y="21323"/>
                  </a:cubicBezTo>
                  <a:close/>
                </a:path>
              </a:pathLst>
            </a:custGeom>
            <a:solidFill>
              <a:srgbClr val="388D89"/>
            </a:solidFill>
          </p:spPr>
          <p:txBody>
            <a:bodyPr/>
            <a:lstStyle/>
            <a:p>
              <a:endParaRPr lang="en-US"/>
            </a:p>
          </p:txBody>
        </p:sp>
        <p:sp>
          <p:nvSpPr>
            <p:cNvPr id="17" name="TextBox 17"/>
            <p:cNvSpPr txBox="1"/>
            <p:nvPr/>
          </p:nvSpPr>
          <p:spPr>
            <a:xfrm>
              <a:off x="0" y="-38100"/>
              <a:ext cx="1912526" cy="492142"/>
            </a:xfrm>
            <a:prstGeom prst="rect">
              <a:avLst/>
            </a:prstGeom>
          </p:spPr>
          <p:txBody>
            <a:bodyPr lIns="50800" tIns="50800" rIns="50800" bIns="50800" rtlCol="0" anchor="ctr"/>
            <a:lstStyle/>
            <a:p>
              <a:pPr marL="0" lvl="0" indent="0" algn="ctr">
                <a:lnSpc>
                  <a:spcPts val="2659"/>
                </a:lnSpc>
              </a:pPr>
              <a:endParaRPr/>
            </a:p>
          </p:txBody>
        </p:sp>
      </p:grpSp>
      <p:sp>
        <p:nvSpPr>
          <p:cNvPr id="18" name="TextBox 18"/>
          <p:cNvSpPr txBox="1"/>
          <p:nvPr/>
        </p:nvSpPr>
        <p:spPr>
          <a:xfrm>
            <a:off x="11351796" y="5675492"/>
            <a:ext cx="5648104" cy="792658"/>
          </a:xfrm>
          <a:prstGeom prst="rect">
            <a:avLst/>
          </a:prstGeom>
        </p:spPr>
        <p:txBody>
          <a:bodyPr lIns="0" tIns="0" rIns="0" bIns="0" rtlCol="0" anchor="t">
            <a:spAutoFit/>
          </a:bodyPr>
          <a:lstStyle/>
          <a:p>
            <a:pPr marL="0" lvl="0" indent="0" algn="just">
              <a:lnSpc>
                <a:spcPts val="3248"/>
              </a:lnSpc>
            </a:pPr>
            <a:r>
              <a:rPr lang="en-US" sz="1845">
                <a:solidFill>
                  <a:srgbClr val="DEF3FC"/>
                </a:solidFill>
                <a:latin typeface="Roboto"/>
                <a:ea typeface="Roboto"/>
                <a:cs typeface="Roboto"/>
                <a:sym typeface="Roboto"/>
              </a:rPr>
              <a:t>Create meaningful visualizations to communicate insights about mental health and lifestyle correlations.</a:t>
            </a:r>
          </a:p>
        </p:txBody>
      </p:sp>
      <p:sp>
        <p:nvSpPr>
          <p:cNvPr id="19" name="TextBox 19"/>
          <p:cNvSpPr txBox="1"/>
          <p:nvPr/>
        </p:nvSpPr>
        <p:spPr>
          <a:xfrm>
            <a:off x="10257079" y="5494517"/>
            <a:ext cx="858417" cy="1070107"/>
          </a:xfrm>
          <a:prstGeom prst="rect">
            <a:avLst/>
          </a:prstGeom>
        </p:spPr>
        <p:txBody>
          <a:bodyPr lIns="0" tIns="0" rIns="0" bIns="0" rtlCol="0" anchor="t">
            <a:spAutoFit/>
          </a:bodyPr>
          <a:lstStyle/>
          <a:p>
            <a:pPr marL="0" lvl="0" indent="0" algn="ctr">
              <a:lnSpc>
                <a:spcPts val="9124"/>
              </a:lnSpc>
            </a:pPr>
            <a:r>
              <a:rPr lang="en-US" sz="5184" b="1">
                <a:solidFill>
                  <a:srgbClr val="F8FFFF"/>
                </a:solidFill>
                <a:latin typeface="Roboto Bold"/>
                <a:ea typeface="Roboto Bold"/>
                <a:cs typeface="Roboto Bold"/>
                <a:sym typeface="Roboto Bold"/>
              </a:rPr>
              <a:t>03</a:t>
            </a:r>
          </a:p>
        </p:txBody>
      </p:sp>
      <p:grpSp>
        <p:nvGrpSpPr>
          <p:cNvPr id="20" name="Group 20"/>
          <p:cNvGrpSpPr/>
          <p:nvPr/>
        </p:nvGrpSpPr>
        <p:grpSpPr>
          <a:xfrm>
            <a:off x="9997678" y="7367661"/>
            <a:ext cx="7261622" cy="1723940"/>
            <a:chOff x="0" y="0"/>
            <a:chExt cx="1912526" cy="454042"/>
          </a:xfrm>
        </p:grpSpPr>
        <p:sp>
          <p:nvSpPr>
            <p:cNvPr id="21" name="Freeform 21"/>
            <p:cNvSpPr/>
            <p:nvPr/>
          </p:nvSpPr>
          <p:spPr>
            <a:xfrm>
              <a:off x="0" y="0"/>
              <a:ext cx="1912526" cy="454042"/>
            </a:xfrm>
            <a:custGeom>
              <a:avLst/>
              <a:gdLst/>
              <a:ahLst/>
              <a:cxnLst/>
              <a:rect l="l" t="t" r="r" b="b"/>
              <a:pathLst>
                <a:path w="1912526" h="454042">
                  <a:moveTo>
                    <a:pt x="1912526" y="21323"/>
                  </a:moveTo>
                  <a:lnTo>
                    <a:pt x="1912526" y="432719"/>
                  </a:lnTo>
                  <a:cubicBezTo>
                    <a:pt x="1912526" y="438374"/>
                    <a:pt x="1910279" y="443798"/>
                    <a:pt x="1906281" y="447796"/>
                  </a:cubicBezTo>
                  <a:cubicBezTo>
                    <a:pt x="1902282" y="451795"/>
                    <a:pt x="1896858" y="454042"/>
                    <a:pt x="1891203" y="454042"/>
                  </a:cubicBezTo>
                  <a:lnTo>
                    <a:pt x="21323" y="454042"/>
                  </a:lnTo>
                  <a:cubicBezTo>
                    <a:pt x="9547" y="454042"/>
                    <a:pt x="0" y="444495"/>
                    <a:pt x="0" y="432719"/>
                  </a:cubicBezTo>
                  <a:lnTo>
                    <a:pt x="0" y="21323"/>
                  </a:lnTo>
                  <a:cubicBezTo>
                    <a:pt x="0" y="9547"/>
                    <a:pt x="9547" y="0"/>
                    <a:pt x="21323" y="0"/>
                  </a:cubicBezTo>
                  <a:lnTo>
                    <a:pt x="1891203" y="0"/>
                  </a:lnTo>
                  <a:cubicBezTo>
                    <a:pt x="1902979" y="0"/>
                    <a:pt x="1912526" y="9547"/>
                    <a:pt x="1912526" y="21323"/>
                  </a:cubicBezTo>
                  <a:close/>
                </a:path>
              </a:pathLst>
            </a:custGeom>
            <a:solidFill>
              <a:srgbClr val="CCF1F0"/>
            </a:solidFill>
          </p:spPr>
          <p:txBody>
            <a:bodyPr/>
            <a:lstStyle/>
            <a:p>
              <a:endParaRPr lang="en-US"/>
            </a:p>
          </p:txBody>
        </p:sp>
        <p:sp>
          <p:nvSpPr>
            <p:cNvPr id="22" name="TextBox 22"/>
            <p:cNvSpPr txBox="1"/>
            <p:nvPr/>
          </p:nvSpPr>
          <p:spPr>
            <a:xfrm>
              <a:off x="0" y="-38100"/>
              <a:ext cx="1912526" cy="492142"/>
            </a:xfrm>
            <a:prstGeom prst="rect">
              <a:avLst/>
            </a:prstGeom>
          </p:spPr>
          <p:txBody>
            <a:bodyPr lIns="50800" tIns="50800" rIns="50800" bIns="50800" rtlCol="0" anchor="ctr"/>
            <a:lstStyle/>
            <a:p>
              <a:pPr marL="0" lvl="0" indent="0" algn="ctr">
                <a:lnSpc>
                  <a:spcPts val="2659"/>
                </a:lnSpc>
              </a:pPr>
              <a:endParaRPr/>
            </a:p>
          </p:txBody>
        </p:sp>
      </p:grpSp>
      <p:sp>
        <p:nvSpPr>
          <p:cNvPr id="23" name="TextBox 23"/>
          <p:cNvSpPr txBox="1"/>
          <p:nvPr/>
        </p:nvSpPr>
        <p:spPr>
          <a:xfrm>
            <a:off x="11351796" y="7732807"/>
            <a:ext cx="5648104" cy="792658"/>
          </a:xfrm>
          <a:prstGeom prst="rect">
            <a:avLst/>
          </a:prstGeom>
        </p:spPr>
        <p:txBody>
          <a:bodyPr lIns="0" tIns="0" rIns="0" bIns="0" rtlCol="0" anchor="t">
            <a:spAutoFit/>
          </a:bodyPr>
          <a:lstStyle/>
          <a:p>
            <a:pPr marL="0" lvl="0" indent="0" algn="just">
              <a:lnSpc>
                <a:spcPts val="3248"/>
              </a:lnSpc>
            </a:pPr>
            <a:r>
              <a:rPr lang="en-US" sz="1845">
                <a:solidFill>
                  <a:srgbClr val="388D89"/>
                </a:solidFill>
                <a:latin typeface="Roboto"/>
                <a:ea typeface="Roboto"/>
                <a:cs typeface="Roboto"/>
                <a:sym typeface="Roboto"/>
              </a:rPr>
              <a:t>Build predictive models using machine learning to generate actionable mental health insights.</a:t>
            </a:r>
          </a:p>
        </p:txBody>
      </p:sp>
      <p:sp>
        <p:nvSpPr>
          <p:cNvPr id="24" name="TextBox 24"/>
          <p:cNvSpPr txBox="1"/>
          <p:nvPr/>
        </p:nvSpPr>
        <p:spPr>
          <a:xfrm>
            <a:off x="10257079" y="7551832"/>
            <a:ext cx="858417" cy="1070107"/>
          </a:xfrm>
          <a:prstGeom prst="rect">
            <a:avLst/>
          </a:prstGeom>
        </p:spPr>
        <p:txBody>
          <a:bodyPr lIns="0" tIns="0" rIns="0" bIns="0" rtlCol="0" anchor="t">
            <a:spAutoFit/>
          </a:bodyPr>
          <a:lstStyle/>
          <a:p>
            <a:pPr marL="0" lvl="0" indent="0" algn="ctr">
              <a:lnSpc>
                <a:spcPts val="9124"/>
              </a:lnSpc>
            </a:pPr>
            <a:r>
              <a:rPr lang="en-US" sz="5184" b="1">
                <a:solidFill>
                  <a:srgbClr val="388D89"/>
                </a:solidFill>
                <a:latin typeface="Roboto Bold"/>
                <a:ea typeface="Roboto Bold"/>
                <a:cs typeface="Roboto Bold"/>
                <a:sym typeface="Roboto Bold"/>
              </a:rPr>
              <a:t>04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TextBox 3"/>
          <p:cNvSpPr txBox="1"/>
          <p:nvPr/>
        </p:nvSpPr>
        <p:spPr>
          <a:xfrm>
            <a:off x="2043802" y="1085850"/>
            <a:ext cx="14200396" cy="2586926"/>
          </a:xfrm>
          <a:prstGeom prst="rect">
            <a:avLst/>
          </a:prstGeom>
        </p:spPr>
        <p:txBody>
          <a:bodyPr lIns="0" tIns="0" rIns="0" bIns="0" rtlCol="0" anchor="t">
            <a:spAutoFit/>
          </a:bodyPr>
          <a:lstStyle/>
          <a:p>
            <a:pPr marL="0" lvl="0" indent="0" algn="ctr">
              <a:lnSpc>
                <a:spcPts val="10072"/>
              </a:lnSpc>
            </a:pPr>
            <a:r>
              <a:rPr lang="en-US" sz="8993" b="1">
                <a:solidFill>
                  <a:srgbClr val="388D89"/>
                </a:solidFill>
                <a:latin typeface="Roboto Bold"/>
                <a:ea typeface="Roboto Bold"/>
                <a:cs typeface="Roboto Bold"/>
                <a:sym typeface="Roboto Bold"/>
              </a:rPr>
              <a:t>PROJECT PURPOSE AND TOOLS</a:t>
            </a:r>
          </a:p>
        </p:txBody>
      </p:sp>
      <p:grpSp>
        <p:nvGrpSpPr>
          <p:cNvPr id="4" name="Group 4"/>
          <p:cNvGrpSpPr/>
          <p:nvPr/>
        </p:nvGrpSpPr>
        <p:grpSpPr>
          <a:xfrm>
            <a:off x="1028700" y="4145148"/>
            <a:ext cx="5094071" cy="3541441"/>
            <a:chOff x="0" y="0"/>
            <a:chExt cx="1341648" cy="932725"/>
          </a:xfrm>
        </p:grpSpPr>
        <p:sp>
          <p:nvSpPr>
            <p:cNvPr id="5" name="Freeform 5"/>
            <p:cNvSpPr/>
            <p:nvPr/>
          </p:nvSpPr>
          <p:spPr>
            <a:xfrm>
              <a:off x="0" y="0"/>
              <a:ext cx="1341648" cy="932725"/>
            </a:xfrm>
            <a:custGeom>
              <a:avLst/>
              <a:gdLst/>
              <a:ahLst/>
              <a:cxnLst/>
              <a:rect l="l" t="t" r="r" b="b"/>
              <a:pathLst>
                <a:path w="1341648" h="932725">
                  <a:moveTo>
                    <a:pt x="1341648" y="45594"/>
                  </a:moveTo>
                  <a:lnTo>
                    <a:pt x="1341648" y="887132"/>
                  </a:lnTo>
                  <a:cubicBezTo>
                    <a:pt x="1341648" y="912312"/>
                    <a:pt x="1321235" y="932725"/>
                    <a:pt x="1296055" y="932725"/>
                  </a:cubicBezTo>
                  <a:lnTo>
                    <a:pt x="45594" y="932725"/>
                  </a:lnTo>
                  <a:cubicBezTo>
                    <a:pt x="20413" y="932725"/>
                    <a:pt x="0" y="912312"/>
                    <a:pt x="0" y="887132"/>
                  </a:cubicBezTo>
                  <a:lnTo>
                    <a:pt x="0" y="45594"/>
                  </a:lnTo>
                  <a:cubicBezTo>
                    <a:pt x="0" y="20413"/>
                    <a:pt x="20413" y="0"/>
                    <a:pt x="45594" y="0"/>
                  </a:cubicBezTo>
                  <a:lnTo>
                    <a:pt x="1296055" y="0"/>
                  </a:lnTo>
                  <a:cubicBezTo>
                    <a:pt x="1321235" y="0"/>
                    <a:pt x="1341648" y="20413"/>
                    <a:pt x="1341648" y="45594"/>
                  </a:cubicBezTo>
                  <a:close/>
                </a:path>
              </a:pathLst>
            </a:custGeom>
            <a:solidFill>
              <a:srgbClr val="388D89"/>
            </a:solidFill>
          </p:spPr>
          <p:txBody>
            <a:bodyPr/>
            <a:lstStyle/>
            <a:p>
              <a:endParaRPr lang="en-US"/>
            </a:p>
          </p:txBody>
        </p:sp>
        <p:sp>
          <p:nvSpPr>
            <p:cNvPr id="6" name="TextBox 6"/>
            <p:cNvSpPr txBox="1"/>
            <p:nvPr/>
          </p:nvSpPr>
          <p:spPr>
            <a:xfrm>
              <a:off x="0" y="-38100"/>
              <a:ext cx="1341648" cy="970825"/>
            </a:xfrm>
            <a:prstGeom prst="rect">
              <a:avLst/>
            </a:prstGeom>
          </p:spPr>
          <p:txBody>
            <a:bodyPr lIns="50800" tIns="50800" rIns="50800" bIns="50800" rtlCol="0" anchor="ctr"/>
            <a:lstStyle/>
            <a:p>
              <a:pPr marL="0" lvl="0" indent="0" algn="ctr">
                <a:lnSpc>
                  <a:spcPts val="2659"/>
                </a:lnSpc>
              </a:pPr>
              <a:endParaRPr/>
            </a:p>
          </p:txBody>
        </p:sp>
      </p:grpSp>
      <p:grpSp>
        <p:nvGrpSpPr>
          <p:cNvPr id="7" name="Group 7"/>
          <p:cNvGrpSpPr/>
          <p:nvPr/>
        </p:nvGrpSpPr>
        <p:grpSpPr>
          <a:xfrm>
            <a:off x="6596965" y="4145148"/>
            <a:ext cx="5094071" cy="3541441"/>
            <a:chOff x="0" y="0"/>
            <a:chExt cx="1341648" cy="932725"/>
          </a:xfrm>
        </p:grpSpPr>
        <p:sp>
          <p:nvSpPr>
            <p:cNvPr id="8" name="Freeform 8"/>
            <p:cNvSpPr/>
            <p:nvPr/>
          </p:nvSpPr>
          <p:spPr>
            <a:xfrm>
              <a:off x="0" y="0"/>
              <a:ext cx="1341648" cy="932725"/>
            </a:xfrm>
            <a:custGeom>
              <a:avLst/>
              <a:gdLst/>
              <a:ahLst/>
              <a:cxnLst/>
              <a:rect l="l" t="t" r="r" b="b"/>
              <a:pathLst>
                <a:path w="1341648" h="932725">
                  <a:moveTo>
                    <a:pt x="1341648" y="45594"/>
                  </a:moveTo>
                  <a:lnTo>
                    <a:pt x="1341648" y="887132"/>
                  </a:lnTo>
                  <a:cubicBezTo>
                    <a:pt x="1341648" y="912312"/>
                    <a:pt x="1321235" y="932725"/>
                    <a:pt x="1296055" y="932725"/>
                  </a:cubicBezTo>
                  <a:lnTo>
                    <a:pt x="45594" y="932725"/>
                  </a:lnTo>
                  <a:cubicBezTo>
                    <a:pt x="20413" y="932725"/>
                    <a:pt x="0" y="912312"/>
                    <a:pt x="0" y="887132"/>
                  </a:cubicBezTo>
                  <a:lnTo>
                    <a:pt x="0" y="45594"/>
                  </a:lnTo>
                  <a:cubicBezTo>
                    <a:pt x="0" y="20413"/>
                    <a:pt x="20413" y="0"/>
                    <a:pt x="45594" y="0"/>
                  </a:cubicBezTo>
                  <a:lnTo>
                    <a:pt x="1296055" y="0"/>
                  </a:lnTo>
                  <a:cubicBezTo>
                    <a:pt x="1321235" y="0"/>
                    <a:pt x="1341648" y="20413"/>
                    <a:pt x="1341648" y="45594"/>
                  </a:cubicBezTo>
                  <a:close/>
                </a:path>
              </a:pathLst>
            </a:custGeom>
            <a:solidFill>
              <a:srgbClr val="CCF1F0"/>
            </a:solidFill>
          </p:spPr>
          <p:txBody>
            <a:bodyPr/>
            <a:lstStyle/>
            <a:p>
              <a:endParaRPr lang="en-US"/>
            </a:p>
          </p:txBody>
        </p:sp>
        <p:sp>
          <p:nvSpPr>
            <p:cNvPr id="9" name="TextBox 9"/>
            <p:cNvSpPr txBox="1"/>
            <p:nvPr/>
          </p:nvSpPr>
          <p:spPr>
            <a:xfrm>
              <a:off x="0" y="-38100"/>
              <a:ext cx="1341648" cy="970825"/>
            </a:xfrm>
            <a:prstGeom prst="rect">
              <a:avLst/>
            </a:prstGeom>
          </p:spPr>
          <p:txBody>
            <a:bodyPr lIns="50800" tIns="50800" rIns="50800" bIns="50800" rtlCol="0" anchor="ctr"/>
            <a:lstStyle/>
            <a:p>
              <a:pPr marL="0" lvl="0" indent="0" algn="ctr">
                <a:lnSpc>
                  <a:spcPts val="2659"/>
                </a:lnSpc>
              </a:pPr>
              <a:endParaRPr/>
            </a:p>
          </p:txBody>
        </p:sp>
      </p:grpSp>
      <p:grpSp>
        <p:nvGrpSpPr>
          <p:cNvPr id="10" name="Group 10"/>
          <p:cNvGrpSpPr/>
          <p:nvPr/>
        </p:nvGrpSpPr>
        <p:grpSpPr>
          <a:xfrm>
            <a:off x="12165229" y="4145148"/>
            <a:ext cx="5094071" cy="3541441"/>
            <a:chOff x="0" y="0"/>
            <a:chExt cx="1341648" cy="932725"/>
          </a:xfrm>
        </p:grpSpPr>
        <p:sp>
          <p:nvSpPr>
            <p:cNvPr id="11" name="Freeform 11"/>
            <p:cNvSpPr/>
            <p:nvPr/>
          </p:nvSpPr>
          <p:spPr>
            <a:xfrm>
              <a:off x="0" y="0"/>
              <a:ext cx="1341648" cy="932725"/>
            </a:xfrm>
            <a:custGeom>
              <a:avLst/>
              <a:gdLst/>
              <a:ahLst/>
              <a:cxnLst/>
              <a:rect l="l" t="t" r="r" b="b"/>
              <a:pathLst>
                <a:path w="1341648" h="932725">
                  <a:moveTo>
                    <a:pt x="1341648" y="45594"/>
                  </a:moveTo>
                  <a:lnTo>
                    <a:pt x="1341648" y="887132"/>
                  </a:lnTo>
                  <a:cubicBezTo>
                    <a:pt x="1341648" y="912312"/>
                    <a:pt x="1321235" y="932725"/>
                    <a:pt x="1296055" y="932725"/>
                  </a:cubicBezTo>
                  <a:lnTo>
                    <a:pt x="45594" y="932725"/>
                  </a:lnTo>
                  <a:cubicBezTo>
                    <a:pt x="20413" y="932725"/>
                    <a:pt x="0" y="912312"/>
                    <a:pt x="0" y="887132"/>
                  </a:cubicBezTo>
                  <a:lnTo>
                    <a:pt x="0" y="45594"/>
                  </a:lnTo>
                  <a:cubicBezTo>
                    <a:pt x="0" y="20413"/>
                    <a:pt x="20413" y="0"/>
                    <a:pt x="45594" y="0"/>
                  </a:cubicBezTo>
                  <a:lnTo>
                    <a:pt x="1296055" y="0"/>
                  </a:lnTo>
                  <a:cubicBezTo>
                    <a:pt x="1321235" y="0"/>
                    <a:pt x="1341648" y="20413"/>
                    <a:pt x="1341648" y="45594"/>
                  </a:cubicBezTo>
                  <a:close/>
                </a:path>
              </a:pathLst>
            </a:custGeom>
            <a:solidFill>
              <a:srgbClr val="388D89"/>
            </a:solidFill>
          </p:spPr>
          <p:txBody>
            <a:bodyPr/>
            <a:lstStyle/>
            <a:p>
              <a:endParaRPr lang="en-US"/>
            </a:p>
          </p:txBody>
        </p:sp>
        <p:sp>
          <p:nvSpPr>
            <p:cNvPr id="12" name="TextBox 12"/>
            <p:cNvSpPr txBox="1"/>
            <p:nvPr/>
          </p:nvSpPr>
          <p:spPr>
            <a:xfrm>
              <a:off x="0" y="-38100"/>
              <a:ext cx="1341648" cy="970825"/>
            </a:xfrm>
            <a:prstGeom prst="rect">
              <a:avLst/>
            </a:prstGeom>
          </p:spPr>
          <p:txBody>
            <a:bodyPr lIns="50800" tIns="50800" rIns="50800" bIns="50800" rtlCol="0" anchor="ctr"/>
            <a:lstStyle/>
            <a:p>
              <a:pPr marL="0" lvl="0" indent="0" algn="ctr">
                <a:lnSpc>
                  <a:spcPts val="2659"/>
                </a:lnSpc>
              </a:pPr>
              <a:endParaRPr/>
            </a:p>
          </p:txBody>
        </p:sp>
      </p:grpSp>
      <p:sp>
        <p:nvSpPr>
          <p:cNvPr id="13" name="TextBox 13"/>
          <p:cNvSpPr txBox="1"/>
          <p:nvPr/>
        </p:nvSpPr>
        <p:spPr>
          <a:xfrm>
            <a:off x="1348907" y="5512965"/>
            <a:ext cx="4453657" cy="1831953"/>
          </a:xfrm>
          <a:prstGeom prst="rect">
            <a:avLst/>
          </a:prstGeom>
        </p:spPr>
        <p:txBody>
          <a:bodyPr lIns="0" tIns="0" rIns="0" bIns="0" rtlCol="0" anchor="t">
            <a:spAutoFit/>
          </a:bodyPr>
          <a:lstStyle/>
          <a:p>
            <a:pPr marL="0" lvl="0" indent="0" algn="just">
              <a:lnSpc>
                <a:spcPts val="3693"/>
              </a:lnSpc>
            </a:pPr>
            <a:r>
              <a:rPr lang="en-US" sz="2098">
                <a:solidFill>
                  <a:srgbClr val="F8FFFF"/>
                </a:solidFill>
                <a:latin typeface="Roboto"/>
                <a:ea typeface="Roboto"/>
                <a:cs typeface="Roboto"/>
                <a:sym typeface="Roboto"/>
              </a:rPr>
              <a:t>Analyze the relationship between lifestyle habits and mental health indicators using data-driven approaches.</a:t>
            </a:r>
          </a:p>
        </p:txBody>
      </p:sp>
      <p:sp>
        <p:nvSpPr>
          <p:cNvPr id="14" name="TextBox 14"/>
          <p:cNvSpPr txBox="1"/>
          <p:nvPr/>
        </p:nvSpPr>
        <p:spPr>
          <a:xfrm>
            <a:off x="1348907" y="4153548"/>
            <a:ext cx="4453657" cy="1240455"/>
          </a:xfrm>
          <a:prstGeom prst="rect">
            <a:avLst/>
          </a:prstGeom>
        </p:spPr>
        <p:txBody>
          <a:bodyPr lIns="0" tIns="0" rIns="0" bIns="0" rtlCol="0" anchor="t">
            <a:spAutoFit/>
          </a:bodyPr>
          <a:lstStyle/>
          <a:p>
            <a:pPr marL="0" lvl="0" indent="0" algn="just">
              <a:lnSpc>
                <a:spcPts val="10552"/>
              </a:lnSpc>
            </a:pPr>
            <a:r>
              <a:rPr lang="en-US" sz="5995" b="1">
                <a:solidFill>
                  <a:srgbClr val="F8FFFF"/>
                </a:solidFill>
                <a:latin typeface="Roboto Bold"/>
                <a:ea typeface="Roboto Bold"/>
                <a:cs typeface="Roboto Bold"/>
                <a:sym typeface="Roboto Bold"/>
              </a:rPr>
              <a:t>01</a:t>
            </a:r>
          </a:p>
        </p:txBody>
      </p:sp>
      <p:sp>
        <p:nvSpPr>
          <p:cNvPr id="15" name="TextBox 15"/>
          <p:cNvSpPr txBox="1"/>
          <p:nvPr/>
        </p:nvSpPr>
        <p:spPr>
          <a:xfrm>
            <a:off x="6917172" y="5518657"/>
            <a:ext cx="4453657" cy="1365228"/>
          </a:xfrm>
          <a:prstGeom prst="rect">
            <a:avLst/>
          </a:prstGeom>
        </p:spPr>
        <p:txBody>
          <a:bodyPr lIns="0" tIns="0" rIns="0" bIns="0" rtlCol="0" anchor="t">
            <a:spAutoFit/>
          </a:bodyPr>
          <a:lstStyle/>
          <a:p>
            <a:pPr marL="0" lvl="0" indent="0" algn="just">
              <a:lnSpc>
                <a:spcPts val="3693"/>
              </a:lnSpc>
            </a:pPr>
            <a:r>
              <a:rPr lang="en-US" sz="2098">
                <a:solidFill>
                  <a:srgbClr val="388D89"/>
                </a:solidFill>
                <a:latin typeface="Roboto"/>
                <a:ea typeface="Roboto"/>
                <a:cs typeface="Roboto"/>
                <a:sym typeface="Roboto"/>
              </a:rPr>
              <a:t>Utilize Python programming for data processing, statistical analysis, and visualization of survey results.</a:t>
            </a:r>
          </a:p>
        </p:txBody>
      </p:sp>
      <p:sp>
        <p:nvSpPr>
          <p:cNvPr id="16" name="TextBox 16"/>
          <p:cNvSpPr txBox="1"/>
          <p:nvPr/>
        </p:nvSpPr>
        <p:spPr>
          <a:xfrm>
            <a:off x="6917172" y="4159240"/>
            <a:ext cx="4453657" cy="1240455"/>
          </a:xfrm>
          <a:prstGeom prst="rect">
            <a:avLst/>
          </a:prstGeom>
        </p:spPr>
        <p:txBody>
          <a:bodyPr lIns="0" tIns="0" rIns="0" bIns="0" rtlCol="0" anchor="t">
            <a:spAutoFit/>
          </a:bodyPr>
          <a:lstStyle/>
          <a:p>
            <a:pPr marL="0" lvl="0" indent="0" algn="just">
              <a:lnSpc>
                <a:spcPts val="10552"/>
              </a:lnSpc>
            </a:pPr>
            <a:r>
              <a:rPr lang="en-US" sz="5995" b="1">
                <a:solidFill>
                  <a:srgbClr val="388D89"/>
                </a:solidFill>
                <a:latin typeface="Roboto Bold"/>
                <a:ea typeface="Roboto Bold"/>
                <a:cs typeface="Roboto Bold"/>
                <a:sym typeface="Roboto Bold"/>
              </a:rPr>
              <a:t>02</a:t>
            </a:r>
          </a:p>
        </p:txBody>
      </p:sp>
      <p:sp>
        <p:nvSpPr>
          <p:cNvPr id="17" name="TextBox 17"/>
          <p:cNvSpPr txBox="1"/>
          <p:nvPr/>
        </p:nvSpPr>
        <p:spPr>
          <a:xfrm>
            <a:off x="12491135" y="5518657"/>
            <a:ext cx="4447046" cy="1365228"/>
          </a:xfrm>
          <a:prstGeom prst="rect">
            <a:avLst/>
          </a:prstGeom>
        </p:spPr>
        <p:txBody>
          <a:bodyPr lIns="0" tIns="0" rIns="0" bIns="0" rtlCol="0" anchor="t">
            <a:spAutoFit/>
          </a:bodyPr>
          <a:lstStyle/>
          <a:p>
            <a:pPr marL="0" lvl="0" indent="0" algn="just">
              <a:lnSpc>
                <a:spcPts val="3693"/>
              </a:lnSpc>
            </a:pPr>
            <a:r>
              <a:rPr lang="en-US" sz="2098">
                <a:solidFill>
                  <a:srgbClr val="F8FFFF"/>
                </a:solidFill>
                <a:latin typeface="Roboto"/>
                <a:ea typeface="Roboto"/>
                <a:cs typeface="Roboto"/>
                <a:sym typeface="Roboto"/>
              </a:rPr>
              <a:t>Apply machine learning algorithms to identify patterns and predict mental health outcomes.</a:t>
            </a:r>
          </a:p>
        </p:txBody>
      </p:sp>
      <p:sp>
        <p:nvSpPr>
          <p:cNvPr id="18" name="TextBox 18"/>
          <p:cNvSpPr txBox="1"/>
          <p:nvPr/>
        </p:nvSpPr>
        <p:spPr>
          <a:xfrm>
            <a:off x="12491135" y="4159240"/>
            <a:ext cx="4447046" cy="1240455"/>
          </a:xfrm>
          <a:prstGeom prst="rect">
            <a:avLst/>
          </a:prstGeom>
        </p:spPr>
        <p:txBody>
          <a:bodyPr lIns="0" tIns="0" rIns="0" bIns="0" rtlCol="0" anchor="t">
            <a:spAutoFit/>
          </a:bodyPr>
          <a:lstStyle/>
          <a:p>
            <a:pPr marL="0" lvl="0" indent="0" algn="just">
              <a:lnSpc>
                <a:spcPts val="10552"/>
              </a:lnSpc>
            </a:pPr>
            <a:r>
              <a:rPr lang="en-US" sz="5995" b="1">
                <a:solidFill>
                  <a:srgbClr val="F8FFFF"/>
                </a:solidFill>
                <a:latin typeface="Roboto Bold"/>
                <a:ea typeface="Roboto Bold"/>
                <a:cs typeface="Roboto Bold"/>
                <a:sym typeface="Roboto Bold"/>
              </a:rPr>
              <a:t>03</a:t>
            </a:r>
          </a:p>
        </p:txBody>
      </p:sp>
      <p:sp>
        <p:nvSpPr>
          <p:cNvPr id="19" name="Freeform 19"/>
          <p:cNvSpPr/>
          <p:nvPr/>
        </p:nvSpPr>
        <p:spPr>
          <a:xfrm>
            <a:off x="-362801" y="8625656"/>
            <a:ext cx="2194587" cy="2194587"/>
          </a:xfrm>
          <a:custGeom>
            <a:avLst/>
            <a:gdLst/>
            <a:ahLst/>
            <a:cxnLst/>
            <a:rect l="l" t="t" r="r" b="b"/>
            <a:pathLst>
              <a:path w="2194587" h="2194587">
                <a:moveTo>
                  <a:pt x="0" y="0"/>
                </a:moveTo>
                <a:lnTo>
                  <a:pt x="2194587" y="0"/>
                </a:lnTo>
                <a:lnTo>
                  <a:pt x="2194587" y="2194587"/>
                </a:lnTo>
                <a:lnTo>
                  <a:pt x="0" y="2194587"/>
                </a:lnTo>
                <a:lnTo>
                  <a:pt x="0" y="0"/>
                </a:lnTo>
                <a:close/>
              </a:path>
            </a:pathLst>
          </a:custGeom>
          <a:blipFill>
            <a:blip r:embed="rId3"/>
            <a:stretch>
              <a:fillRect/>
            </a:stretch>
          </a:blipFill>
        </p:spPr>
        <p:txBody>
          <a:bodyPr/>
          <a:lstStyle/>
          <a:p>
            <a:endParaRPr lang="en-US"/>
          </a:p>
        </p:txBody>
      </p:sp>
      <p:sp>
        <p:nvSpPr>
          <p:cNvPr id="20" name="Freeform 20"/>
          <p:cNvSpPr/>
          <p:nvPr/>
        </p:nvSpPr>
        <p:spPr>
          <a:xfrm rot="-980700">
            <a:off x="15552546" y="8517587"/>
            <a:ext cx="3167563" cy="3163077"/>
          </a:xfrm>
          <a:custGeom>
            <a:avLst/>
            <a:gdLst/>
            <a:ahLst/>
            <a:cxnLst/>
            <a:rect l="l" t="t" r="r" b="b"/>
            <a:pathLst>
              <a:path w="3167563" h="3163077">
                <a:moveTo>
                  <a:pt x="0" y="0"/>
                </a:moveTo>
                <a:lnTo>
                  <a:pt x="3167563" y="0"/>
                </a:lnTo>
                <a:lnTo>
                  <a:pt x="3167563" y="3163076"/>
                </a:lnTo>
                <a:lnTo>
                  <a:pt x="0" y="3163076"/>
                </a:lnTo>
                <a:lnTo>
                  <a:pt x="0" y="0"/>
                </a:lnTo>
                <a:close/>
              </a:path>
            </a:pathLst>
          </a:custGeom>
          <a:blipFill>
            <a:blip r:embed="rId4"/>
            <a:stretch>
              <a:fillRect/>
            </a:stretch>
          </a:blipFill>
        </p:spPr>
        <p:txBody>
          <a:bodyPr/>
          <a:lstStyle/>
          <a:p>
            <a:endParaRPr lang="en-US"/>
          </a:p>
        </p:txBody>
      </p:sp>
      <p:sp>
        <p:nvSpPr>
          <p:cNvPr id="21" name="Freeform 21"/>
          <p:cNvSpPr/>
          <p:nvPr/>
        </p:nvSpPr>
        <p:spPr>
          <a:xfrm>
            <a:off x="2494297" y="8520147"/>
            <a:ext cx="2322754" cy="2334915"/>
          </a:xfrm>
          <a:custGeom>
            <a:avLst/>
            <a:gdLst/>
            <a:ahLst/>
            <a:cxnLst/>
            <a:rect l="l" t="t" r="r" b="b"/>
            <a:pathLst>
              <a:path w="2322754" h="2334915">
                <a:moveTo>
                  <a:pt x="0" y="0"/>
                </a:moveTo>
                <a:lnTo>
                  <a:pt x="2322753" y="0"/>
                </a:lnTo>
                <a:lnTo>
                  <a:pt x="2322753" y="2334915"/>
                </a:lnTo>
                <a:lnTo>
                  <a:pt x="0" y="2334915"/>
                </a:lnTo>
                <a:lnTo>
                  <a:pt x="0" y="0"/>
                </a:lnTo>
                <a:close/>
              </a:path>
            </a:pathLst>
          </a:custGeom>
          <a:blipFill>
            <a:blip r:embed="rId5"/>
            <a:stretch>
              <a:fillRect/>
            </a:stretch>
          </a:blipFill>
        </p:spPr>
        <p:txBody>
          <a:bodyPr/>
          <a:lstStyle/>
          <a:p>
            <a:endParaRPr lang="en-US"/>
          </a:p>
        </p:txBody>
      </p:sp>
      <p:sp>
        <p:nvSpPr>
          <p:cNvPr id="22" name="Freeform 22"/>
          <p:cNvSpPr/>
          <p:nvPr/>
        </p:nvSpPr>
        <p:spPr>
          <a:xfrm>
            <a:off x="5250446" y="8731940"/>
            <a:ext cx="2242780" cy="2177667"/>
          </a:xfrm>
          <a:custGeom>
            <a:avLst/>
            <a:gdLst/>
            <a:ahLst/>
            <a:cxnLst/>
            <a:rect l="l" t="t" r="r" b="b"/>
            <a:pathLst>
              <a:path w="2242780" h="2177667">
                <a:moveTo>
                  <a:pt x="0" y="0"/>
                </a:moveTo>
                <a:lnTo>
                  <a:pt x="2242780" y="0"/>
                </a:lnTo>
                <a:lnTo>
                  <a:pt x="2242780" y="2177667"/>
                </a:lnTo>
                <a:lnTo>
                  <a:pt x="0" y="2177667"/>
                </a:lnTo>
                <a:lnTo>
                  <a:pt x="0" y="0"/>
                </a:lnTo>
                <a:close/>
              </a:path>
            </a:pathLst>
          </a:custGeom>
          <a:blipFill>
            <a:blip r:embed="rId6"/>
            <a:stretch>
              <a:fillRect/>
            </a:stretch>
          </a:blipFill>
        </p:spPr>
        <p:txBody>
          <a:bodyPr/>
          <a:lstStyle/>
          <a:p>
            <a:endParaRPr lang="en-US"/>
          </a:p>
        </p:txBody>
      </p:sp>
      <p:sp>
        <p:nvSpPr>
          <p:cNvPr id="23" name="Freeform 23"/>
          <p:cNvSpPr/>
          <p:nvPr/>
        </p:nvSpPr>
        <p:spPr>
          <a:xfrm>
            <a:off x="8068604" y="8864548"/>
            <a:ext cx="3427837" cy="1786760"/>
          </a:xfrm>
          <a:custGeom>
            <a:avLst/>
            <a:gdLst/>
            <a:ahLst/>
            <a:cxnLst/>
            <a:rect l="l" t="t" r="r" b="b"/>
            <a:pathLst>
              <a:path w="3427837" h="1786760">
                <a:moveTo>
                  <a:pt x="0" y="0"/>
                </a:moveTo>
                <a:lnTo>
                  <a:pt x="3427837" y="0"/>
                </a:lnTo>
                <a:lnTo>
                  <a:pt x="3427837" y="1786760"/>
                </a:lnTo>
                <a:lnTo>
                  <a:pt x="0" y="1786760"/>
                </a:lnTo>
                <a:lnTo>
                  <a:pt x="0" y="0"/>
                </a:lnTo>
                <a:close/>
              </a:path>
            </a:pathLst>
          </a:custGeom>
          <a:blipFill>
            <a:blip r:embed="rId7"/>
            <a:stretch>
              <a:fillRect/>
            </a:stretch>
          </a:blipFill>
        </p:spPr>
        <p:txBody>
          <a:bodyPr/>
          <a:lstStyle/>
          <a:p>
            <a:endParaRPr lang="en-US"/>
          </a:p>
        </p:txBody>
      </p:sp>
      <p:sp>
        <p:nvSpPr>
          <p:cNvPr id="24" name="Freeform 24"/>
          <p:cNvSpPr/>
          <p:nvPr/>
        </p:nvSpPr>
        <p:spPr>
          <a:xfrm>
            <a:off x="11629722" y="7873429"/>
            <a:ext cx="3274888" cy="3781461"/>
          </a:xfrm>
          <a:custGeom>
            <a:avLst/>
            <a:gdLst/>
            <a:ahLst/>
            <a:cxnLst/>
            <a:rect l="l" t="t" r="r" b="b"/>
            <a:pathLst>
              <a:path w="3274888" h="3781461">
                <a:moveTo>
                  <a:pt x="0" y="0"/>
                </a:moveTo>
                <a:lnTo>
                  <a:pt x="3274888" y="0"/>
                </a:lnTo>
                <a:lnTo>
                  <a:pt x="3274888" y="3781461"/>
                </a:lnTo>
                <a:lnTo>
                  <a:pt x="0" y="3781461"/>
                </a:lnTo>
                <a:lnTo>
                  <a:pt x="0" y="0"/>
                </a:lnTo>
                <a:close/>
              </a:path>
            </a:pathLst>
          </a:custGeom>
          <a:blipFill>
            <a:blip r:embed="rId8"/>
            <a:stretch>
              <a:fillRect/>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Freeform 3"/>
          <p:cNvSpPr/>
          <p:nvPr/>
        </p:nvSpPr>
        <p:spPr>
          <a:xfrm>
            <a:off x="9982073" y="2475297"/>
            <a:ext cx="6886465" cy="5689942"/>
          </a:xfrm>
          <a:custGeom>
            <a:avLst/>
            <a:gdLst/>
            <a:ahLst/>
            <a:cxnLst/>
            <a:rect l="l" t="t" r="r" b="b"/>
            <a:pathLst>
              <a:path w="6886465" h="5689942">
                <a:moveTo>
                  <a:pt x="0" y="0"/>
                </a:moveTo>
                <a:lnTo>
                  <a:pt x="6886465" y="0"/>
                </a:lnTo>
                <a:lnTo>
                  <a:pt x="6886465" y="5689942"/>
                </a:lnTo>
                <a:lnTo>
                  <a:pt x="0" y="5689942"/>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914400" y="1353815"/>
            <a:ext cx="7863617" cy="2586990"/>
          </a:xfrm>
          <a:prstGeom prst="rect">
            <a:avLst/>
          </a:prstGeom>
        </p:spPr>
        <p:txBody>
          <a:bodyPr lIns="0" tIns="0" rIns="0" bIns="0" rtlCol="0" anchor="t">
            <a:spAutoFit/>
          </a:bodyPr>
          <a:lstStyle/>
          <a:p>
            <a:pPr marL="0" lvl="0" indent="0" algn="l">
              <a:lnSpc>
                <a:spcPts val="10080"/>
              </a:lnSpc>
            </a:pPr>
            <a:r>
              <a:rPr lang="en-US" sz="9000" b="1" dirty="0">
                <a:solidFill>
                  <a:srgbClr val="388D89"/>
                </a:solidFill>
                <a:latin typeface="Roboto Bold"/>
                <a:ea typeface="Roboto Bold"/>
                <a:cs typeface="Roboto Bold"/>
                <a:sym typeface="Roboto Bold"/>
              </a:rPr>
              <a:t>DATA SOURCE OVERVIEW</a:t>
            </a:r>
          </a:p>
        </p:txBody>
      </p:sp>
      <p:sp>
        <p:nvSpPr>
          <p:cNvPr id="5" name="TextBox 5"/>
          <p:cNvSpPr txBox="1"/>
          <p:nvPr/>
        </p:nvSpPr>
        <p:spPr>
          <a:xfrm>
            <a:off x="1097328" y="4381500"/>
            <a:ext cx="7863617" cy="3137397"/>
          </a:xfrm>
          <a:prstGeom prst="rect">
            <a:avLst/>
          </a:prstGeom>
        </p:spPr>
        <p:txBody>
          <a:bodyPr lIns="0" tIns="0" rIns="0" bIns="0" rtlCol="0" anchor="t">
            <a:spAutoFit/>
          </a:bodyPr>
          <a:lstStyle/>
          <a:p>
            <a:pPr marL="0" lvl="0" indent="0" algn="just">
              <a:lnSpc>
                <a:spcPct val="200000"/>
              </a:lnSpc>
            </a:pPr>
            <a:r>
              <a:rPr lang="en-US" sz="2100" dirty="0">
                <a:solidFill>
                  <a:srgbClr val="388D89"/>
                </a:solidFill>
                <a:latin typeface="Roboto"/>
                <a:ea typeface="Roboto"/>
                <a:cs typeface="Roboto"/>
                <a:sym typeface="Roboto"/>
              </a:rPr>
              <a:t>The dataset is sourced from Kaggle, containing comprehensive mental health and lifestyle survey responses. It includes demographic information, lifestyle habits, and mental health indicators in CSV format, enabling thorough exploratory data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TextBox 3"/>
          <p:cNvSpPr txBox="1"/>
          <p:nvPr/>
        </p:nvSpPr>
        <p:spPr>
          <a:xfrm>
            <a:off x="914400" y="883496"/>
            <a:ext cx="7573842" cy="666849"/>
          </a:xfrm>
          <a:prstGeom prst="rect">
            <a:avLst/>
          </a:prstGeom>
        </p:spPr>
        <p:txBody>
          <a:bodyPr lIns="0" tIns="0" rIns="0" bIns="0" rtlCol="0" anchor="t">
            <a:spAutoFit/>
          </a:bodyPr>
          <a:lstStyle/>
          <a:p>
            <a:pPr marL="0" lvl="0" indent="0" algn="l">
              <a:lnSpc>
                <a:spcPts val="5166"/>
              </a:lnSpc>
            </a:pPr>
            <a:r>
              <a:rPr lang="en-US" sz="4612" b="1" dirty="0">
                <a:solidFill>
                  <a:srgbClr val="388D89"/>
                </a:solidFill>
                <a:latin typeface="Roboto Bold"/>
                <a:ea typeface="Roboto Bold"/>
                <a:cs typeface="Roboto Bold"/>
                <a:sym typeface="Roboto Bold"/>
              </a:rPr>
              <a:t>DATASET FEATURES</a:t>
            </a:r>
          </a:p>
        </p:txBody>
      </p:sp>
      <p:sp>
        <p:nvSpPr>
          <p:cNvPr id="4" name="Freeform 4"/>
          <p:cNvSpPr/>
          <p:nvPr/>
        </p:nvSpPr>
        <p:spPr>
          <a:xfrm>
            <a:off x="11920793" y="1933733"/>
            <a:ext cx="4764941" cy="6687637"/>
          </a:xfrm>
          <a:custGeom>
            <a:avLst/>
            <a:gdLst/>
            <a:ahLst/>
            <a:cxnLst/>
            <a:rect l="l" t="t" r="r" b="b"/>
            <a:pathLst>
              <a:path w="4764941" h="6687637">
                <a:moveTo>
                  <a:pt x="0" y="0"/>
                </a:moveTo>
                <a:lnTo>
                  <a:pt x="4764941" y="0"/>
                </a:lnTo>
                <a:lnTo>
                  <a:pt x="4764941" y="6687637"/>
                </a:lnTo>
                <a:lnTo>
                  <a:pt x="0" y="6687637"/>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1028700" y="3413455"/>
            <a:ext cx="7573842" cy="1141338"/>
          </a:xfrm>
          <a:prstGeom prst="rect">
            <a:avLst/>
          </a:prstGeom>
        </p:spPr>
        <p:txBody>
          <a:bodyPr lIns="0" tIns="0" rIns="0" bIns="0" rtlCol="0" anchor="t">
            <a:spAutoFit/>
          </a:bodyPr>
          <a:lstStyle/>
          <a:p>
            <a:pPr marL="0" lvl="0" indent="0" algn="just">
              <a:lnSpc>
                <a:spcPct val="200000"/>
              </a:lnSpc>
            </a:pPr>
            <a:r>
              <a:rPr lang="en-US" sz="2000" b="1" dirty="0">
                <a:solidFill>
                  <a:srgbClr val="388D89"/>
                </a:solidFill>
                <a:latin typeface="Roboto"/>
                <a:ea typeface="Roboto"/>
                <a:cs typeface="Roboto"/>
                <a:sym typeface="Roboto"/>
              </a:rPr>
              <a:t>Age</a:t>
            </a:r>
            <a:r>
              <a:rPr lang="en-US" sz="2000" dirty="0">
                <a:solidFill>
                  <a:srgbClr val="388D89"/>
                </a:solidFill>
                <a:latin typeface="Roboto"/>
                <a:ea typeface="Roboto"/>
                <a:cs typeface="Roboto"/>
                <a:sym typeface="Roboto"/>
              </a:rPr>
              <a:t>: Captures participant age ranges to analyze how mental health patterns vary across different life stages and generations.</a:t>
            </a:r>
          </a:p>
        </p:txBody>
      </p:sp>
      <p:sp>
        <p:nvSpPr>
          <p:cNvPr id="6" name="TextBox 6"/>
          <p:cNvSpPr txBox="1"/>
          <p:nvPr/>
        </p:nvSpPr>
        <p:spPr>
          <a:xfrm>
            <a:off x="1028700" y="2292512"/>
            <a:ext cx="7573842" cy="648081"/>
          </a:xfrm>
          <a:prstGeom prst="rect">
            <a:avLst/>
          </a:prstGeom>
        </p:spPr>
        <p:txBody>
          <a:bodyPr lIns="0" tIns="0" rIns="0" bIns="0" rtlCol="0" anchor="t">
            <a:spAutoFit/>
          </a:bodyPr>
          <a:lstStyle/>
          <a:p>
            <a:pPr marL="0" lvl="0" indent="0" algn="just">
              <a:lnSpc>
                <a:spcPts val="5412"/>
              </a:lnSpc>
            </a:pPr>
            <a:r>
              <a:rPr lang="en-US" sz="3075" b="1" dirty="0">
                <a:solidFill>
                  <a:srgbClr val="388D89"/>
                </a:solidFill>
                <a:latin typeface="Roboto Bold"/>
                <a:ea typeface="Roboto Bold"/>
                <a:cs typeface="Roboto Bold"/>
                <a:sym typeface="Roboto Bold"/>
              </a:rPr>
              <a:t>01</a:t>
            </a:r>
          </a:p>
        </p:txBody>
      </p:sp>
      <p:sp>
        <p:nvSpPr>
          <p:cNvPr id="7" name="TextBox 7"/>
          <p:cNvSpPr txBox="1"/>
          <p:nvPr/>
        </p:nvSpPr>
        <p:spPr>
          <a:xfrm>
            <a:off x="1028700" y="6147770"/>
            <a:ext cx="7573842" cy="1756891"/>
          </a:xfrm>
          <a:prstGeom prst="rect">
            <a:avLst/>
          </a:prstGeom>
        </p:spPr>
        <p:txBody>
          <a:bodyPr lIns="0" tIns="0" rIns="0" bIns="0" rtlCol="0" anchor="t">
            <a:spAutoFit/>
          </a:bodyPr>
          <a:lstStyle/>
          <a:p>
            <a:pPr marL="0" lvl="0" indent="0" algn="just">
              <a:lnSpc>
                <a:spcPct val="200000"/>
              </a:lnSpc>
            </a:pPr>
            <a:r>
              <a:rPr lang="en-US" sz="2000" b="1" dirty="0">
                <a:solidFill>
                  <a:srgbClr val="388D89"/>
                </a:solidFill>
                <a:latin typeface="Roboto"/>
                <a:ea typeface="Roboto"/>
                <a:cs typeface="Roboto"/>
                <a:sym typeface="Roboto"/>
              </a:rPr>
              <a:t>Gender &amp; Occupation: </a:t>
            </a:r>
            <a:r>
              <a:rPr lang="en-US" sz="2000" dirty="0">
                <a:solidFill>
                  <a:srgbClr val="388D89"/>
                </a:solidFill>
                <a:latin typeface="Roboto"/>
                <a:ea typeface="Roboto"/>
                <a:cs typeface="Roboto"/>
                <a:sym typeface="Roboto"/>
              </a:rPr>
              <a:t>Demographic identifiers that help examine mental health disparities across different groups and work environments.</a:t>
            </a:r>
          </a:p>
        </p:txBody>
      </p:sp>
      <p:sp>
        <p:nvSpPr>
          <p:cNvPr id="8" name="TextBox 8"/>
          <p:cNvSpPr txBox="1"/>
          <p:nvPr/>
        </p:nvSpPr>
        <p:spPr>
          <a:xfrm>
            <a:off x="1028700" y="5033591"/>
            <a:ext cx="7573842" cy="648081"/>
          </a:xfrm>
          <a:prstGeom prst="rect">
            <a:avLst/>
          </a:prstGeom>
        </p:spPr>
        <p:txBody>
          <a:bodyPr lIns="0" tIns="0" rIns="0" bIns="0" rtlCol="0" anchor="t">
            <a:spAutoFit/>
          </a:bodyPr>
          <a:lstStyle/>
          <a:p>
            <a:pPr marL="0" lvl="0" indent="0" algn="just">
              <a:lnSpc>
                <a:spcPts val="5412"/>
              </a:lnSpc>
            </a:pPr>
            <a:r>
              <a:rPr lang="en-US" sz="3075" b="1" dirty="0">
                <a:solidFill>
                  <a:srgbClr val="388D89"/>
                </a:solidFill>
                <a:latin typeface="Roboto Bold"/>
                <a:ea typeface="Roboto Bold"/>
                <a:cs typeface="Roboto Bold"/>
                <a:sym typeface="Roboto Bold"/>
              </a:rPr>
              <a:t>02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510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grpSp>
        <p:nvGrpSpPr>
          <p:cNvPr id="3" name="Group 3"/>
          <p:cNvGrpSpPr/>
          <p:nvPr/>
        </p:nvGrpSpPr>
        <p:grpSpPr>
          <a:xfrm>
            <a:off x="10205411" y="1028700"/>
            <a:ext cx="7050238" cy="2456780"/>
            <a:chOff x="0" y="0"/>
            <a:chExt cx="1856853" cy="647053"/>
          </a:xfrm>
        </p:grpSpPr>
        <p:sp>
          <p:nvSpPr>
            <p:cNvPr id="4" name="Freeform 4"/>
            <p:cNvSpPr/>
            <p:nvPr/>
          </p:nvSpPr>
          <p:spPr>
            <a:xfrm>
              <a:off x="0" y="0"/>
              <a:ext cx="1856853" cy="647053"/>
            </a:xfrm>
            <a:custGeom>
              <a:avLst/>
              <a:gdLst/>
              <a:ahLst/>
              <a:cxnLst/>
              <a:rect l="l" t="t" r="r" b="b"/>
              <a:pathLst>
                <a:path w="1856853" h="647053">
                  <a:moveTo>
                    <a:pt x="1856853" y="32943"/>
                  </a:moveTo>
                  <a:lnTo>
                    <a:pt x="1856853" y="614110"/>
                  </a:lnTo>
                  <a:cubicBezTo>
                    <a:pt x="1856853" y="632304"/>
                    <a:pt x="1842104" y="647053"/>
                    <a:pt x="1823910" y="647053"/>
                  </a:cubicBezTo>
                  <a:lnTo>
                    <a:pt x="32943" y="647053"/>
                  </a:lnTo>
                  <a:cubicBezTo>
                    <a:pt x="14749" y="647053"/>
                    <a:pt x="0" y="632304"/>
                    <a:pt x="0" y="614110"/>
                  </a:cubicBezTo>
                  <a:lnTo>
                    <a:pt x="0" y="32943"/>
                  </a:lnTo>
                  <a:cubicBezTo>
                    <a:pt x="0" y="14749"/>
                    <a:pt x="14749" y="0"/>
                    <a:pt x="32943" y="0"/>
                  </a:cubicBezTo>
                  <a:lnTo>
                    <a:pt x="1823910" y="0"/>
                  </a:lnTo>
                  <a:cubicBezTo>
                    <a:pt x="1842104" y="0"/>
                    <a:pt x="1856853" y="14749"/>
                    <a:pt x="1856853" y="32943"/>
                  </a:cubicBezTo>
                  <a:close/>
                </a:path>
              </a:pathLst>
            </a:custGeom>
            <a:solidFill>
              <a:srgbClr val="388D89"/>
            </a:solidFill>
          </p:spPr>
          <p:txBody>
            <a:bodyPr/>
            <a:lstStyle/>
            <a:p>
              <a:endParaRPr lang="en-US"/>
            </a:p>
          </p:txBody>
        </p:sp>
        <p:sp>
          <p:nvSpPr>
            <p:cNvPr id="5" name="TextBox 5"/>
            <p:cNvSpPr txBox="1"/>
            <p:nvPr/>
          </p:nvSpPr>
          <p:spPr>
            <a:xfrm>
              <a:off x="0" y="-38100"/>
              <a:ext cx="1856853" cy="685153"/>
            </a:xfrm>
            <a:prstGeom prst="rect">
              <a:avLst/>
            </a:prstGeom>
          </p:spPr>
          <p:txBody>
            <a:bodyPr lIns="50800" tIns="50800" rIns="50800" bIns="50800" rtlCol="0" anchor="ctr"/>
            <a:lstStyle/>
            <a:p>
              <a:pPr marL="0" lvl="0" indent="0" algn="ctr">
                <a:lnSpc>
                  <a:spcPts val="2659"/>
                </a:lnSpc>
              </a:pPr>
              <a:endParaRPr/>
            </a:p>
          </p:txBody>
        </p:sp>
      </p:grpSp>
      <p:grpSp>
        <p:nvGrpSpPr>
          <p:cNvPr id="6" name="Group 6"/>
          <p:cNvGrpSpPr/>
          <p:nvPr/>
        </p:nvGrpSpPr>
        <p:grpSpPr>
          <a:xfrm>
            <a:off x="10209062" y="3908330"/>
            <a:ext cx="7050238" cy="2456780"/>
            <a:chOff x="0" y="0"/>
            <a:chExt cx="1856853" cy="647053"/>
          </a:xfrm>
        </p:grpSpPr>
        <p:sp>
          <p:nvSpPr>
            <p:cNvPr id="7" name="Freeform 7"/>
            <p:cNvSpPr/>
            <p:nvPr/>
          </p:nvSpPr>
          <p:spPr>
            <a:xfrm>
              <a:off x="0" y="0"/>
              <a:ext cx="1856853" cy="647053"/>
            </a:xfrm>
            <a:custGeom>
              <a:avLst/>
              <a:gdLst/>
              <a:ahLst/>
              <a:cxnLst/>
              <a:rect l="l" t="t" r="r" b="b"/>
              <a:pathLst>
                <a:path w="1856853" h="647053">
                  <a:moveTo>
                    <a:pt x="1856853" y="32943"/>
                  </a:moveTo>
                  <a:lnTo>
                    <a:pt x="1856853" y="614110"/>
                  </a:lnTo>
                  <a:cubicBezTo>
                    <a:pt x="1856853" y="632304"/>
                    <a:pt x="1842104" y="647053"/>
                    <a:pt x="1823910" y="647053"/>
                  </a:cubicBezTo>
                  <a:lnTo>
                    <a:pt x="32943" y="647053"/>
                  </a:lnTo>
                  <a:cubicBezTo>
                    <a:pt x="14749" y="647053"/>
                    <a:pt x="0" y="632304"/>
                    <a:pt x="0" y="614110"/>
                  </a:cubicBezTo>
                  <a:lnTo>
                    <a:pt x="0" y="32943"/>
                  </a:lnTo>
                  <a:cubicBezTo>
                    <a:pt x="0" y="14749"/>
                    <a:pt x="14749" y="0"/>
                    <a:pt x="32943" y="0"/>
                  </a:cubicBezTo>
                  <a:lnTo>
                    <a:pt x="1823910" y="0"/>
                  </a:lnTo>
                  <a:cubicBezTo>
                    <a:pt x="1842104" y="0"/>
                    <a:pt x="1856853" y="14749"/>
                    <a:pt x="1856853" y="32943"/>
                  </a:cubicBezTo>
                  <a:close/>
                </a:path>
              </a:pathLst>
            </a:custGeom>
            <a:solidFill>
              <a:srgbClr val="CCF1F0"/>
            </a:solidFill>
          </p:spPr>
          <p:txBody>
            <a:bodyPr/>
            <a:lstStyle/>
            <a:p>
              <a:endParaRPr lang="en-US"/>
            </a:p>
          </p:txBody>
        </p:sp>
        <p:sp>
          <p:nvSpPr>
            <p:cNvPr id="8" name="TextBox 8"/>
            <p:cNvSpPr txBox="1"/>
            <p:nvPr/>
          </p:nvSpPr>
          <p:spPr>
            <a:xfrm>
              <a:off x="0" y="-38100"/>
              <a:ext cx="1856853" cy="685153"/>
            </a:xfrm>
            <a:prstGeom prst="rect">
              <a:avLst/>
            </a:prstGeom>
          </p:spPr>
          <p:txBody>
            <a:bodyPr lIns="50800" tIns="50800" rIns="50800" bIns="50800" rtlCol="0" anchor="ctr"/>
            <a:lstStyle/>
            <a:p>
              <a:pPr marL="0" lvl="0" indent="0" algn="ctr">
                <a:lnSpc>
                  <a:spcPts val="2659"/>
                </a:lnSpc>
              </a:pPr>
              <a:endParaRPr/>
            </a:p>
          </p:txBody>
        </p:sp>
      </p:grpSp>
      <p:sp>
        <p:nvSpPr>
          <p:cNvPr id="9" name="Freeform 9"/>
          <p:cNvSpPr/>
          <p:nvPr/>
        </p:nvSpPr>
        <p:spPr>
          <a:xfrm rot="-321536">
            <a:off x="16317203" y="8447153"/>
            <a:ext cx="2528708" cy="2516048"/>
          </a:xfrm>
          <a:custGeom>
            <a:avLst/>
            <a:gdLst/>
            <a:ahLst/>
            <a:cxnLst/>
            <a:rect l="l" t="t" r="r" b="b"/>
            <a:pathLst>
              <a:path w="2528708" h="2516048">
                <a:moveTo>
                  <a:pt x="0" y="0"/>
                </a:moveTo>
                <a:lnTo>
                  <a:pt x="2528708" y="0"/>
                </a:lnTo>
                <a:lnTo>
                  <a:pt x="2528708" y="2516048"/>
                </a:lnTo>
                <a:lnTo>
                  <a:pt x="0" y="2516048"/>
                </a:lnTo>
                <a:lnTo>
                  <a:pt x="0" y="0"/>
                </a:lnTo>
                <a:close/>
              </a:path>
            </a:pathLst>
          </a:custGeom>
          <a:blipFill>
            <a:blip r:embed="rId3"/>
            <a:stretch>
              <a:fillRect/>
            </a:stretch>
          </a:blipFill>
        </p:spPr>
        <p:txBody>
          <a:bodyPr/>
          <a:lstStyle/>
          <a:p>
            <a:endParaRPr lang="en-IN" dirty="0"/>
          </a:p>
        </p:txBody>
      </p:sp>
      <p:grpSp>
        <p:nvGrpSpPr>
          <p:cNvPr id="10" name="Group 10"/>
          <p:cNvGrpSpPr/>
          <p:nvPr/>
        </p:nvGrpSpPr>
        <p:grpSpPr>
          <a:xfrm>
            <a:off x="10205411" y="6899918"/>
            <a:ext cx="7050238" cy="2456780"/>
            <a:chOff x="0" y="0"/>
            <a:chExt cx="1856853" cy="647053"/>
          </a:xfrm>
        </p:grpSpPr>
        <p:sp>
          <p:nvSpPr>
            <p:cNvPr id="11" name="Freeform 11"/>
            <p:cNvSpPr/>
            <p:nvPr/>
          </p:nvSpPr>
          <p:spPr>
            <a:xfrm>
              <a:off x="0" y="0"/>
              <a:ext cx="1856853" cy="647053"/>
            </a:xfrm>
            <a:custGeom>
              <a:avLst/>
              <a:gdLst/>
              <a:ahLst/>
              <a:cxnLst/>
              <a:rect l="l" t="t" r="r" b="b"/>
              <a:pathLst>
                <a:path w="1856853" h="647053">
                  <a:moveTo>
                    <a:pt x="1856853" y="32943"/>
                  </a:moveTo>
                  <a:lnTo>
                    <a:pt x="1856853" y="614110"/>
                  </a:lnTo>
                  <a:cubicBezTo>
                    <a:pt x="1856853" y="632304"/>
                    <a:pt x="1842104" y="647053"/>
                    <a:pt x="1823910" y="647053"/>
                  </a:cubicBezTo>
                  <a:lnTo>
                    <a:pt x="32943" y="647053"/>
                  </a:lnTo>
                  <a:cubicBezTo>
                    <a:pt x="14749" y="647053"/>
                    <a:pt x="0" y="632304"/>
                    <a:pt x="0" y="614110"/>
                  </a:cubicBezTo>
                  <a:lnTo>
                    <a:pt x="0" y="32943"/>
                  </a:lnTo>
                  <a:cubicBezTo>
                    <a:pt x="0" y="14749"/>
                    <a:pt x="14749" y="0"/>
                    <a:pt x="32943" y="0"/>
                  </a:cubicBezTo>
                  <a:lnTo>
                    <a:pt x="1823910" y="0"/>
                  </a:lnTo>
                  <a:cubicBezTo>
                    <a:pt x="1842104" y="0"/>
                    <a:pt x="1856853" y="14749"/>
                    <a:pt x="1856853" y="32943"/>
                  </a:cubicBezTo>
                  <a:close/>
                </a:path>
              </a:pathLst>
            </a:custGeom>
            <a:solidFill>
              <a:srgbClr val="388D89"/>
            </a:solidFill>
          </p:spPr>
          <p:txBody>
            <a:bodyPr/>
            <a:lstStyle/>
            <a:p>
              <a:endParaRPr lang="en-US"/>
            </a:p>
          </p:txBody>
        </p:sp>
        <p:sp>
          <p:nvSpPr>
            <p:cNvPr id="12" name="TextBox 12"/>
            <p:cNvSpPr txBox="1"/>
            <p:nvPr/>
          </p:nvSpPr>
          <p:spPr>
            <a:xfrm>
              <a:off x="0" y="-38100"/>
              <a:ext cx="1856853" cy="685153"/>
            </a:xfrm>
            <a:prstGeom prst="rect">
              <a:avLst/>
            </a:prstGeom>
          </p:spPr>
          <p:txBody>
            <a:bodyPr lIns="50800" tIns="50800" rIns="50800" bIns="50800" rtlCol="0" anchor="ctr"/>
            <a:lstStyle/>
            <a:p>
              <a:pPr marL="0" lvl="0" indent="0" algn="ctr">
                <a:lnSpc>
                  <a:spcPts val="2659"/>
                </a:lnSpc>
              </a:pPr>
              <a:endParaRPr/>
            </a:p>
          </p:txBody>
        </p:sp>
      </p:grpSp>
      <p:sp>
        <p:nvSpPr>
          <p:cNvPr id="13" name="Freeform 13"/>
          <p:cNvSpPr/>
          <p:nvPr/>
        </p:nvSpPr>
        <p:spPr>
          <a:xfrm>
            <a:off x="1136258" y="3784563"/>
            <a:ext cx="6264978" cy="5090294"/>
          </a:xfrm>
          <a:custGeom>
            <a:avLst/>
            <a:gdLst/>
            <a:ahLst/>
            <a:cxnLst/>
            <a:rect l="l" t="t" r="r" b="b"/>
            <a:pathLst>
              <a:path w="6264978" h="5090294">
                <a:moveTo>
                  <a:pt x="0" y="0"/>
                </a:moveTo>
                <a:lnTo>
                  <a:pt x="6264977" y="0"/>
                </a:lnTo>
                <a:lnTo>
                  <a:pt x="6264977" y="5090295"/>
                </a:lnTo>
                <a:lnTo>
                  <a:pt x="0" y="5090295"/>
                </a:lnTo>
                <a:lnTo>
                  <a:pt x="0" y="0"/>
                </a:lnTo>
                <a:close/>
              </a:path>
            </a:pathLst>
          </a:custGeom>
          <a:blipFill>
            <a:blip r:embed="rId4"/>
            <a:stretch>
              <a:fillRect/>
            </a:stretch>
          </a:blipFill>
        </p:spPr>
        <p:txBody>
          <a:bodyPr/>
          <a:lstStyle/>
          <a:p>
            <a:endParaRPr lang="en-US"/>
          </a:p>
        </p:txBody>
      </p:sp>
      <p:sp>
        <p:nvSpPr>
          <p:cNvPr id="14" name="TextBox 14"/>
          <p:cNvSpPr txBox="1"/>
          <p:nvPr/>
        </p:nvSpPr>
        <p:spPr>
          <a:xfrm>
            <a:off x="762000" y="1832873"/>
            <a:ext cx="8222327" cy="2000548"/>
          </a:xfrm>
          <a:prstGeom prst="rect">
            <a:avLst/>
          </a:prstGeom>
        </p:spPr>
        <p:txBody>
          <a:bodyPr lIns="0" tIns="0" rIns="0" bIns="0" rtlCol="0" anchor="t">
            <a:spAutoFit/>
          </a:bodyPr>
          <a:lstStyle/>
          <a:p>
            <a:pPr marL="0" lvl="0" indent="0" algn="l">
              <a:lnSpc>
                <a:spcPts val="7751"/>
              </a:lnSpc>
            </a:pPr>
            <a:r>
              <a:rPr lang="en-US" sz="6600" b="1" dirty="0">
                <a:solidFill>
                  <a:srgbClr val="388D89"/>
                </a:solidFill>
                <a:latin typeface="Roboto Bold"/>
                <a:ea typeface="Roboto Bold"/>
                <a:cs typeface="Roboto Bold"/>
                <a:sym typeface="Roboto Bold"/>
              </a:rPr>
              <a:t>DATASET FEATURES</a:t>
            </a:r>
          </a:p>
          <a:p>
            <a:pPr marL="0" lvl="0" indent="0" algn="l">
              <a:lnSpc>
                <a:spcPts val="7751"/>
              </a:lnSpc>
            </a:pPr>
            <a:endParaRPr lang="en-US" sz="6600" b="1" dirty="0">
              <a:solidFill>
                <a:srgbClr val="388D89"/>
              </a:solidFill>
              <a:latin typeface="Roboto Bold"/>
              <a:ea typeface="Roboto Bold"/>
              <a:cs typeface="Roboto Bold"/>
              <a:sym typeface="Roboto Bold"/>
            </a:endParaRPr>
          </a:p>
        </p:txBody>
      </p:sp>
      <p:sp>
        <p:nvSpPr>
          <p:cNvPr id="15" name="TextBox 15"/>
          <p:cNvSpPr txBox="1"/>
          <p:nvPr/>
        </p:nvSpPr>
        <p:spPr>
          <a:xfrm>
            <a:off x="10657986" y="2467997"/>
            <a:ext cx="5930954" cy="719442"/>
          </a:xfrm>
          <a:prstGeom prst="rect">
            <a:avLst/>
          </a:prstGeom>
        </p:spPr>
        <p:txBody>
          <a:bodyPr lIns="0" tIns="0" rIns="0" bIns="0" rtlCol="0" anchor="t">
            <a:spAutoFit/>
          </a:bodyPr>
          <a:lstStyle/>
          <a:p>
            <a:pPr marL="0" lvl="0" indent="0" algn="just">
              <a:lnSpc>
                <a:spcPts val="2938"/>
              </a:lnSpc>
            </a:pPr>
            <a:r>
              <a:rPr lang="en-US" sz="1669" dirty="0">
                <a:solidFill>
                  <a:srgbClr val="F8FFFF"/>
                </a:solidFill>
                <a:latin typeface="Roboto"/>
                <a:ea typeface="Roboto"/>
                <a:cs typeface="Roboto"/>
                <a:sym typeface="Roboto"/>
              </a:rPr>
              <a:t>Sleep Hours measures daily rest duration. Physical Activity Level tracks exercise frequency and intensity patterns.</a:t>
            </a:r>
          </a:p>
        </p:txBody>
      </p:sp>
      <p:sp>
        <p:nvSpPr>
          <p:cNvPr id="16" name="TextBox 16"/>
          <p:cNvSpPr txBox="1"/>
          <p:nvPr/>
        </p:nvSpPr>
        <p:spPr>
          <a:xfrm>
            <a:off x="10645286" y="2005494"/>
            <a:ext cx="5862648" cy="415239"/>
          </a:xfrm>
          <a:prstGeom prst="rect">
            <a:avLst/>
          </a:prstGeom>
        </p:spPr>
        <p:txBody>
          <a:bodyPr lIns="0" tIns="0" rIns="0" bIns="0" rtlCol="0" anchor="t">
            <a:spAutoFit/>
          </a:bodyPr>
          <a:lstStyle/>
          <a:p>
            <a:pPr marL="0" lvl="0" indent="0" algn="l">
              <a:lnSpc>
                <a:spcPts val="3027"/>
              </a:lnSpc>
            </a:pPr>
            <a:r>
              <a:rPr lang="en-US" sz="2997" b="1" dirty="0">
                <a:solidFill>
                  <a:srgbClr val="F8FFFF"/>
                </a:solidFill>
                <a:latin typeface="Roboto Bold"/>
                <a:ea typeface="Roboto Bold"/>
                <a:cs typeface="Roboto Bold"/>
                <a:sym typeface="Roboto Bold"/>
              </a:rPr>
              <a:t>Sleep &amp; Physical Activity</a:t>
            </a:r>
          </a:p>
        </p:txBody>
      </p:sp>
      <p:sp>
        <p:nvSpPr>
          <p:cNvPr id="17" name="TextBox 17"/>
          <p:cNvSpPr txBox="1"/>
          <p:nvPr/>
        </p:nvSpPr>
        <p:spPr>
          <a:xfrm>
            <a:off x="10728953" y="5225016"/>
            <a:ext cx="5930954" cy="719442"/>
          </a:xfrm>
          <a:prstGeom prst="rect">
            <a:avLst/>
          </a:prstGeom>
        </p:spPr>
        <p:txBody>
          <a:bodyPr lIns="0" tIns="0" rIns="0" bIns="0" rtlCol="0" anchor="t">
            <a:spAutoFit/>
          </a:bodyPr>
          <a:lstStyle/>
          <a:p>
            <a:pPr marL="0" lvl="0" indent="0" algn="just">
              <a:lnSpc>
                <a:spcPts val="2938"/>
              </a:lnSpc>
            </a:pPr>
            <a:r>
              <a:rPr lang="en-US" sz="1669" dirty="0">
                <a:solidFill>
                  <a:srgbClr val="388D89"/>
                </a:solidFill>
                <a:latin typeface="Roboto"/>
                <a:ea typeface="Roboto"/>
                <a:cs typeface="Roboto"/>
                <a:sym typeface="Roboto"/>
              </a:rPr>
              <a:t>Work Stress and Social Isolation scores capture environmental and relational stressors affecting mental wellness.</a:t>
            </a:r>
          </a:p>
        </p:txBody>
      </p:sp>
      <p:sp>
        <p:nvSpPr>
          <p:cNvPr id="18" name="TextBox 18"/>
          <p:cNvSpPr txBox="1"/>
          <p:nvPr/>
        </p:nvSpPr>
        <p:spPr>
          <a:xfrm>
            <a:off x="10714158" y="4752133"/>
            <a:ext cx="5930954" cy="415239"/>
          </a:xfrm>
          <a:prstGeom prst="rect">
            <a:avLst/>
          </a:prstGeom>
        </p:spPr>
        <p:txBody>
          <a:bodyPr lIns="0" tIns="0" rIns="0" bIns="0" rtlCol="0" anchor="t">
            <a:spAutoFit/>
          </a:bodyPr>
          <a:lstStyle/>
          <a:p>
            <a:pPr marL="0" lvl="0" indent="0" algn="l">
              <a:lnSpc>
                <a:spcPts val="3027"/>
              </a:lnSpc>
            </a:pPr>
            <a:r>
              <a:rPr lang="en-US" sz="2997" b="1" dirty="0">
                <a:solidFill>
                  <a:srgbClr val="388D89"/>
                </a:solidFill>
                <a:latin typeface="Roboto Bold"/>
                <a:ea typeface="Roboto Bold"/>
                <a:cs typeface="Roboto Bold"/>
                <a:sym typeface="Roboto Bold"/>
              </a:rPr>
              <a:t>Stress Indicators</a:t>
            </a:r>
          </a:p>
        </p:txBody>
      </p:sp>
      <p:sp>
        <p:nvSpPr>
          <p:cNvPr id="19" name="TextBox 19"/>
          <p:cNvSpPr txBox="1"/>
          <p:nvPr/>
        </p:nvSpPr>
        <p:spPr>
          <a:xfrm>
            <a:off x="10645286" y="8162815"/>
            <a:ext cx="5930954" cy="719442"/>
          </a:xfrm>
          <a:prstGeom prst="rect">
            <a:avLst/>
          </a:prstGeom>
        </p:spPr>
        <p:txBody>
          <a:bodyPr lIns="0" tIns="0" rIns="0" bIns="0" rtlCol="0" anchor="t">
            <a:spAutoFit/>
          </a:bodyPr>
          <a:lstStyle/>
          <a:p>
            <a:pPr marL="0" lvl="0" indent="0" algn="just">
              <a:lnSpc>
                <a:spcPts val="2938"/>
              </a:lnSpc>
            </a:pPr>
            <a:r>
              <a:rPr lang="en-US" sz="1669" dirty="0">
                <a:solidFill>
                  <a:srgbClr val="F8FFFF"/>
                </a:solidFill>
                <a:latin typeface="Roboto"/>
                <a:ea typeface="Roboto"/>
                <a:cs typeface="Roboto"/>
                <a:sym typeface="Roboto"/>
              </a:rPr>
              <a:t>Anxiety and Depression scores provide direct mental health measurements for predictive modeling analysis.</a:t>
            </a:r>
          </a:p>
        </p:txBody>
      </p:sp>
      <p:sp>
        <p:nvSpPr>
          <p:cNvPr id="20" name="TextBox 20"/>
          <p:cNvSpPr txBox="1"/>
          <p:nvPr/>
        </p:nvSpPr>
        <p:spPr>
          <a:xfrm>
            <a:off x="10645286" y="7658910"/>
            <a:ext cx="5930954" cy="384721"/>
          </a:xfrm>
          <a:prstGeom prst="rect">
            <a:avLst/>
          </a:prstGeom>
        </p:spPr>
        <p:txBody>
          <a:bodyPr lIns="0" tIns="0" rIns="0" bIns="0" rtlCol="0" anchor="t">
            <a:spAutoFit/>
          </a:bodyPr>
          <a:lstStyle/>
          <a:p>
            <a:pPr marL="0" lvl="0" indent="0" algn="l">
              <a:lnSpc>
                <a:spcPts val="3027"/>
              </a:lnSpc>
            </a:pPr>
            <a:r>
              <a:rPr lang="en-US" sz="2997" b="1" dirty="0">
                <a:solidFill>
                  <a:srgbClr val="F8FFFF"/>
                </a:solidFill>
                <a:latin typeface="Roboto Bold"/>
                <a:ea typeface="Roboto Bold"/>
                <a:cs typeface="Roboto Bold"/>
                <a:sym typeface="Roboto Bold"/>
              </a:rPr>
              <a:t>Mental Health Scores</a:t>
            </a:r>
          </a:p>
        </p:txBody>
      </p:sp>
      <p:sp>
        <p:nvSpPr>
          <p:cNvPr id="21" name="TextBox 6">
            <a:extLst>
              <a:ext uri="{FF2B5EF4-FFF2-40B4-BE49-F238E27FC236}">
                <a16:creationId xmlns:a16="http://schemas.microsoft.com/office/drawing/2014/main" id="{F98FF97E-90DB-9890-FE75-6697528B1831}"/>
              </a:ext>
            </a:extLst>
          </p:cNvPr>
          <p:cNvSpPr txBox="1"/>
          <p:nvPr/>
        </p:nvSpPr>
        <p:spPr>
          <a:xfrm>
            <a:off x="10714158" y="4020288"/>
            <a:ext cx="7573842" cy="617990"/>
          </a:xfrm>
          <a:prstGeom prst="rect">
            <a:avLst/>
          </a:prstGeom>
        </p:spPr>
        <p:txBody>
          <a:bodyPr lIns="0" tIns="0" rIns="0" bIns="0" rtlCol="0" anchor="t">
            <a:spAutoFit/>
          </a:bodyPr>
          <a:lstStyle/>
          <a:p>
            <a:pPr marL="0" lvl="0" indent="0" algn="just">
              <a:lnSpc>
                <a:spcPts val="5412"/>
              </a:lnSpc>
            </a:pPr>
            <a:r>
              <a:rPr lang="en-US" sz="3075" b="1" dirty="0">
                <a:solidFill>
                  <a:srgbClr val="388D89"/>
                </a:solidFill>
                <a:latin typeface="Roboto Bold"/>
                <a:ea typeface="Roboto Bold"/>
                <a:cs typeface="Roboto Bold"/>
                <a:sym typeface="Roboto Bold"/>
              </a:rPr>
              <a:t>04</a:t>
            </a:r>
          </a:p>
        </p:txBody>
      </p:sp>
      <p:sp>
        <p:nvSpPr>
          <p:cNvPr id="22" name="TextBox 6">
            <a:extLst>
              <a:ext uri="{FF2B5EF4-FFF2-40B4-BE49-F238E27FC236}">
                <a16:creationId xmlns:a16="http://schemas.microsoft.com/office/drawing/2014/main" id="{D68B63A7-10F3-FDD2-E3F6-88FB6B7530DB}"/>
              </a:ext>
            </a:extLst>
          </p:cNvPr>
          <p:cNvSpPr txBox="1"/>
          <p:nvPr/>
        </p:nvSpPr>
        <p:spPr>
          <a:xfrm>
            <a:off x="10657986" y="1248410"/>
            <a:ext cx="7573842" cy="617990"/>
          </a:xfrm>
          <a:prstGeom prst="rect">
            <a:avLst/>
          </a:prstGeom>
        </p:spPr>
        <p:txBody>
          <a:bodyPr lIns="0" tIns="0" rIns="0" bIns="0" rtlCol="0" anchor="t">
            <a:spAutoFit/>
          </a:bodyPr>
          <a:lstStyle/>
          <a:p>
            <a:pPr marL="0" lvl="0" indent="0" algn="just">
              <a:lnSpc>
                <a:spcPts val="5412"/>
              </a:lnSpc>
            </a:pPr>
            <a:r>
              <a:rPr lang="en-US" sz="3075" b="1" dirty="0">
                <a:solidFill>
                  <a:schemeClr val="bg1"/>
                </a:solidFill>
                <a:latin typeface="Roboto Bold"/>
                <a:ea typeface="Roboto Bold"/>
                <a:cs typeface="Roboto Bold"/>
                <a:sym typeface="Roboto Bold"/>
              </a:rPr>
              <a:t>03</a:t>
            </a:r>
          </a:p>
        </p:txBody>
      </p:sp>
      <p:sp>
        <p:nvSpPr>
          <p:cNvPr id="23" name="TextBox 6">
            <a:extLst>
              <a:ext uri="{FF2B5EF4-FFF2-40B4-BE49-F238E27FC236}">
                <a16:creationId xmlns:a16="http://schemas.microsoft.com/office/drawing/2014/main" id="{1A8E2546-BE01-F680-E620-A70DAE90C344}"/>
              </a:ext>
            </a:extLst>
          </p:cNvPr>
          <p:cNvSpPr txBox="1"/>
          <p:nvPr/>
        </p:nvSpPr>
        <p:spPr>
          <a:xfrm>
            <a:off x="10632586" y="6951848"/>
            <a:ext cx="7573842" cy="617990"/>
          </a:xfrm>
          <a:prstGeom prst="rect">
            <a:avLst/>
          </a:prstGeom>
        </p:spPr>
        <p:txBody>
          <a:bodyPr lIns="0" tIns="0" rIns="0" bIns="0" rtlCol="0" anchor="t">
            <a:spAutoFit/>
          </a:bodyPr>
          <a:lstStyle/>
          <a:p>
            <a:pPr marL="0" lvl="0" indent="0" algn="just">
              <a:lnSpc>
                <a:spcPts val="5412"/>
              </a:lnSpc>
            </a:pPr>
            <a:r>
              <a:rPr lang="en-US" sz="3075" b="1" dirty="0">
                <a:solidFill>
                  <a:schemeClr val="bg1"/>
                </a:solidFill>
                <a:latin typeface="Roboto Bold"/>
                <a:ea typeface="Roboto Bold"/>
                <a:cs typeface="Roboto Bold"/>
                <a:sym typeface="Roboto Bold"/>
              </a:rPr>
              <a:t>05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Freeform 3"/>
          <p:cNvSpPr/>
          <p:nvPr/>
        </p:nvSpPr>
        <p:spPr>
          <a:xfrm>
            <a:off x="11506200" y="1790700"/>
            <a:ext cx="6629400" cy="6248400"/>
          </a:xfrm>
          <a:custGeom>
            <a:avLst/>
            <a:gdLst/>
            <a:ahLst/>
            <a:cxnLst/>
            <a:rect l="l" t="t" r="r" b="b"/>
            <a:pathLst>
              <a:path w="8432714" h="7368256">
                <a:moveTo>
                  <a:pt x="0" y="0"/>
                </a:moveTo>
                <a:lnTo>
                  <a:pt x="8432714" y="0"/>
                </a:lnTo>
                <a:lnTo>
                  <a:pt x="8432714" y="7368256"/>
                </a:lnTo>
                <a:lnTo>
                  <a:pt x="0" y="7368256"/>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609600" y="1096267"/>
            <a:ext cx="11551881" cy="4017767"/>
          </a:xfrm>
          <a:prstGeom prst="rect">
            <a:avLst/>
          </a:prstGeom>
        </p:spPr>
        <p:txBody>
          <a:bodyPr lIns="0" tIns="0" rIns="0" bIns="0" rtlCol="0" anchor="t">
            <a:spAutoFit/>
          </a:bodyPr>
          <a:lstStyle/>
          <a:p>
            <a:pPr marL="0" lvl="0" indent="0" algn="l">
              <a:lnSpc>
                <a:spcPct val="150000"/>
              </a:lnSpc>
            </a:pPr>
            <a:r>
              <a:rPr lang="en-US" sz="6025" b="1" dirty="0">
                <a:solidFill>
                  <a:srgbClr val="388D89"/>
                </a:solidFill>
                <a:latin typeface="Roboto Bold"/>
                <a:ea typeface="Roboto Bold"/>
                <a:cs typeface="Roboto Bold"/>
                <a:sym typeface="Roboto Bold"/>
              </a:rPr>
              <a:t>DOMAIN EXPLANATION: MENTAL HEALTH &amp; LIFESTYLE ANALYSIS</a:t>
            </a:r>
          </a:p>
        </p:txBody>
      </p:sp>
      <p:sp>
        <p:nvSpPr>
          <p:cNvPr id="5" name="TextBox 5"/>
          <p:cNvSpPr txBox="1"/>
          <p:nvPr/>
        </p:nvSpPr>
        <p:spPr>
          <a:xfrm>
            <a:off x="609600" y="5372100"/>
            <a:ext cx="11551881" cy="2850267"/>
          </a:xfrm>
          <a:prstGeom prst="rect">
            <a:avLst/>
          </a:prstGeom>
        </p:spPr>
        <p:txBody>
          <a:bodyPr lIns="0" tIns="0" rIns="0" bIns="0" rtlCol="0" anchor="t">
            <a:spAutoFit/>
          </a:bodyPr>
          <a:lstStyle/>
          <a:p>
            <a:pPr marL="0" lvl="0" indent="0" algn="just">
              <a:lnSpc>
                <a:spcPct val="200000"/>
              </a:lnSpc>
            </a:pPr>
            <a:r>
              <a:rPr lang="en-US" sz="2400" dirty="0">
                <a:solidFill>
                  <a:srgbClr val="388D89"/>
                </a:solidFill>
                <a:latin typeface="Roboto"/>
                <a:ea typeface="Roboto"/>
                <a:cs typeface="Roboto"/>
                <a:sym typeface="Roboto"/>
              </a:rPr>
              <a:t>This project falls under the domain of </a:t>
            </a:r>
            <a:r>
              <a:rPr lang="en-US" sz="2400" b="1" dirty="0">
                <a:solidFill>
                  <a:srgbClr val="388D89"/>
                </a:solidFill>
                <a:latin typeface="Roboto"/>
                <a:ea typeface="Roboto"/>
                <a:cs typeface="Roboto"/>
                <a:sym typeface="Roboto"/>
              </a:rPr>
              <a:t>“Mental Health And Lifestyle Analysis” </a:t>
            </a:r>
            <a:r>
              <a:rPr lang="en-US" sz="2400" dirty="0">
                <a:solidFill>
                  <a:srgbClr val="388D89"/>
                </a:solidFill>
                <a:latin typeface="Roboto"/>
                <a:ea typeface="Roboto"/>
                <a:cs typeface="Roboto"/>
                <a:sym typeface="Roboto"/>
              </a:rPr>
              <a:t>, which focuses on studying how daily habits and personal </a:t>
            </a:r>
            <a:r>
              <a:rPr lang="en-US" sz="2400" dirty="0" err="1">
                <a:solidFill>
                  <a:srgbClr val="388D89"/>
                </a:solidFill>
                <a:latin typeface="Roboto"/>
                <a:ea typeface="Roboto"/>
                <a:cs typeface="Roboto"/>
                <a:sym typeface="Roboto"/>
              </a:rPr>
              <a:t>behaviour</a:t>
            </a:r>
            <a:r>
              <a:rPr lang="en-US" sz="2400" dirty="0">
                <a:solidFill>
                  <a:srgbClr val="388D89"/>
                </a:solidFill>
                <a:latin typeface="Roboto"/>
                <a:ea typeface="Roboto"/>
                <a:cs typeface="Roboto"/>
                <a:sym typeface="Roboto"/>
              </a:rPr>
              <a:t> impact and individual’s mental well-being. It combines  concepts from healthcare , physiology and data analytics to understand issues like stress, anxiety and depression.</a:t>
            </a:r>
            <a:endParaRPr lang="en-US" sz="2400" b="1" dirty="0">
              <a:solidFill>
                <a:srgbClr val="388D89"/>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Freeform 3"/>
          <p:cNvSpPr/>
          <p:nvPr/>
        </p:nvSpPr>
        <p:spPr>
          <a:xfrm>
            <a:off x="9390942" y="2662580"/>
            <a:ext cx="8058898" cy="5218137"/>
          </a:xfrm>
          <a:custGeom>
            <a:avLst/>
            <a:gdLst/>
            <a:ahLst/>
            <a:cxnLst/>
            <a:rect l="l" t="t" r="r" b="b"/>
            <a:pathLst>
              <a:path w="8058898" h="5218137">
                <a:moveTo>
                  <a:pt x="0" y="0"/>
                </a:moveTo>
                <a:lnTo>
                  <a:pt x="8058898" y="0"/>
                </a:lnTo>
                <a:lnTo>
                  <a:pt x="8058898" y="5218137"/>
                </a:lnTo>
                <a:lnTo>
                  <a:pt x="0" y="5218137"/>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33442" y="1349079"/>
            <a:ext cx="7863617" cy="2627001"/>
          </a:xfrm>
          <a:prstGeom prst="rect">
            <a:avLst/>
          </a:prstGeom>
        </p:spPr>
        <p:txBody>
          <a:bodyPr lIns="0" tIns="0" rIns="0" bIns="0" rtlCol="0" anchor="t">
            <a:spAutoFit/>
          </a:bodyPr>
          <a:lstStyle/>
          <a:p>
            <a:pPr marL="0" lvl="0" indent="0" algn="l">
              <a:lnSpc>
                <a:spcPct val="150000"/>
              </a:lnSpc>
            </a:pPr>
            <a:r>
              <a:rPr lang="en-US" sz="6025" b="1" dirty="0">
                <a:solidFill>
                  <a:srgbClr val="388D89"/>
                </a:solidFill>
                <a:latin typeface="Roboto Bold"/>
                <a:ea typeface="Roboto Bold"/>
                <a:cs typeface="Roboto Bold"/>
                <a:sym typeface="Roboto Bold"/>
              </a:rPr>
              <a:t>MODE OF PROJECT &amp; WORK DISTRIBUTION</a:t>
            </a:r>
          </a:p>
        </p:txBody>
      </p:sp>
      <p:sp>
        <p:nvSpPr>
          <p:cNvPr id="5" name="TextBox 5"/>
          <p:cNvSpPr txBox="1"/>
          <p:nvPr/>
        </p:nvSpPr>
        <p:spPr>
          <a:xfrm>
            <a:off x="1219200" y="4076700"/>
            <a:ext cx="7863617" cy="4183196"/>
          </a:xfrm>
          <a:prstGeom prst="rect">
            <a:avLst/>
          </a:prstGeom>
        </p:spPr>
        <p:txBody>
          <a:bodyPr lIns="0" tIns="0" rIns="0" bIns="0" rtlCol="0" anchor="t">
            <a:spAutoFit/>
          </a:bodyPr>
          <a:lstStyle/>
          <a:p>
            <a:pPr marL="342900" lvl="0" indent="-342900" algn="just">
              <a:lnSpc>
                <a:spcPct val="200000"/>
              </a:lnSpc>
              <a:buFont typeface="Arial" panose="020B0604020202020204" pitchFamily="34" charset="0"/>
              <a:buChar char="•"/>
            </a:pPr>
            <a:r>
              <a:rPr lang="en-US" sz="2800" dirty="0">
                <a:solidFill>
                  <a:srgbClr val="388D89"/>
                </a:solidFill>
                <a:latin typeface="Roboto"/>
                <a:ea typeface="Roboto"/>
                <a:cs typeface="Roboto"/>
                <a:sym typeface="Roboto"/>
              </a:rPr>
              <a:t>Group Project : 2 Members</a:t>
            </a:r>
          </a:p>
          <a:p>
            <a:pPr marL="342900" lvl="0" indent="-342900" algn="just">
              <a:lnSpc>
                <a:spcPct val="200000"/>
              </a:lnSpc>
              <a:buFont typeface="Arial" panose="020B0604020202020204" pitchFamily="34" charset="0"/>
              <a:buChar char="•"/>
            </a:pPr>
            <a:r>
              <a:rPr lang="en-US" sz="2800" dirty="0">
                <a:solidFill>
                  <a:srgbClr val="388D89"/>
                </a:solidFill>
                <a:latin typeface="Roboto"/>
                <a:ea typeface="Roboto"/>
                <a:cs typeface="Roboto"/>
                <a:sym typeface="Roboto"/>
              </a:rPr>
              <a:t>Data Analysis &amp; Exploratory  Data Analysis</a:t>
            </a:r>
          </a:p>
          <a:p>
            <a:pPr marL="342900" lvl="0" indent="-342900" algn="just">
              <a:lnSpc>
                <a:spcPct val="200000"/>
              </a:lnSpc>
              <a:buFont typeface="Arial" panose="020B0604020202020204" pitchFamily="34" charset="0"/>
              <a:buChar char="•"/>
            </a:pPr>
            <a:r>
              <a:rPr lang="en-US" sz="2800" dirty="0">
                <a:solidFill>
                  <a:srgbClr val="388D89"/>
                </a:solidFill>
                <a:latin typeface="Roboto"/>
                <a:ea typeface="Roboto"/>
                <a:cs typeface="Roboto"/>
                <a:sym typeface="Roboto"/>
              </a:rPr>
              <a:t>Machine Learning models &amp; Visualization</a:t>
            </a:r>
          </a:p>
          <a:p>
            <a:pPr marL="342900" lvl="0" indent="-342900" algn="just">
              <a:lnSpc>
                <a:spcPct val="200000"/>
              </a:lnSpc>
              <a:buFont typeface="Arial" panose="020B0604020202020204" pitchFamily="34" charset="0"/>
              <a:buChar char="•"/>
            </a:pPr>
            <a:r>
              <a:rPr lang="en-US" sz="2800" dirty="0">
                <a:solidFill>
                  <a:srgbClr val="388D89"/>
                </a:solidFill>
                <a:latin typeface="Roboto"/>
                <a:ea typeface="Roboto"/>
                <a:cs typeface="Roboto"/>
                <a:sym typeface="Roboto"/>
              </a:rPr>
              <a:t>Joint review, documentation &amp; presentation</a:t>
            </a:r>
          </a:p>
          <a:p>
            <a:pPr marL="342900" lvl="0" indent="-342900" algn="just">
              <a:lnSpc>
                <a:spcPct val="200000"/>
              </a:lnSpc>
              <a:buFont typeface="Arial" panose="020B0604020202020204" pitchFamily="34" charset="0"/>
              <a:buChar char="•"/>
            </a:pPr>
            <a:r>
              <a:rPr lang="en-US" sz="2800" dirty="0">
                <a:solidFill>
                  <a:srgbClr val="388D89"/>
                </a:solidFill>
                <a:latin typeface="Roboto"/>
                <a:ea typeface="Roboto"/>
                <a:cs typeface="Roboto"/>
                <a:sym typeface="Roboto"/>
              </a:rPr>
              <a:t>Python-based  analysis with scikit-learn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TextBox 3"/>
          <p:cNvSpPr txBox="1"/>
          <p:nvPr/>
        </p:nvSpPr>
        <p:spPr>
          <a:xfrm>
            <a:off x="1028700" y="1207211"/>
            <a:ext cx="7573842" cy="2011000"/>
          </a:xfrm>
          <a:prstGeom prst="rect">
            <a:avLst/>
          </a:prstGeom>
        </p:spPr>
        <p:txBody>
          <a:bodyPr lIns="0" tIns="0" rIns="0" bIns="0" rtlCol="0" anchor="t">
            <a:spAutoFit/>
          </a:bodyPr>
          <a:lstStyle/>
          <a:p>
            <a:pPr marL="0" lvl="0" indent="0" algn="l">
              <a:lnSpc>
                <a:spcPct val="150000"/>
              </a:lnSpc>
            </a:pPr>
            <a:r>
              <a:rPr lang="en-US" sz="4612" b="1" dirty="0">
                <a:solidFill>
                  <a:srgbClr val="388D89"/>
                </a:solidFill>
                <a:latin typeface="Roboto Bold"/>
                <a:ea typeface="Roboto Bold"/>
                <a:cs typeface="Roboto Bold"/>
                <a:sym typeface="Roboto Bold"/>
              </a:rPr>
              <a:t>PYTHON TOOLS &amp; LIBRARIES</a:t>
            </a:r>
          </a:p>
        </p:txBody>
      </p:sp>
      <p:sp>
        <p:nvSpPr>
          <p:cNvPr id="4" name="Freeform 4"/>
          <p:cNvSpPr/>
          <p:nvPr/>
        </p:nvSpPr>
        <p:spPr>
          <a:xfrm>
            <a:off x="10877714" y="1504940"/>
            <a:ext cx="6845827" cy="7502277"/>
          </a:xfrm>
          <a:custGeom>
            <a:avLst/>
            <a:gdLst/>
            <a:ahLst/>
            <a:cxnLst/>
            <a:rect l="l" t="t" r="r" b="b"/>
            <a:pathLst>
              <a:path w="6845827" h="7502277">
                <a:moveTo>
                  <a:pt x="0" y="0"/>
                </a:moveTo>
                <a:lnTo>
                  <a:pt x="6845827" y="0"/>
                </a:lnTo>
                <a:lnTo>
                  <a:pt x="6845827" y="7502276"/>
                </a:lnTo>
                <a:lnTo>
                  <a:pt x="0" y="7502276"/>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1028700" y="4181684"/>
            <a:ext cx="7573842" cy="1756891"/>
          </a:xfrm>
          <a:prstGeom prst="rect">
            <a:avLst/>
          </a:prstGeom>
        </p:spPr>
        <p:txBody>
          <a:bodyPr lIns="0" tIns="0" rIns="0" bIns="0" rtlCol="0" anchor="t">
            <a:spAutoFit/>
          </a:bodyPr>
          <a:lstStyle/>
          <a:p>
            <a:pPr marL="0" lvl="0" indent="0" algn="just">
              <a:lnSpc>
                <a:spcPct val="200000"/>
              </a:lnSpc>
            </a:pPr>
            <a:r>
              <a:rPr lang="en-US" sz="2000" b="1" spc="300" dirty="0">
                <a:solidFill>
                  <a:srgbClr val="388D89"/>
                </a:solidFill>
                <a:latin typeface="Roboto"/>
                <a:ea typeface="Roboto"/>
                <a:cs typeface="Roboto"/>
                <a:sym typeface="Roboto"/>
              </a:rPr>
              <a:t>NumPy</a:t>
            </a:r>
            <a:r>
              <a:rPr lang="en-US" sz="2000" dirty="0">
                <a:solidFill>
                  <a:srgbClr val="388D89"/>
                </a:solidFill>
                <a:latin typeface="Roboto"/>
                <a:ea typeface="Roboto"/>
                <a:cs typeface="Roboto"/>
                <a:sym typeface="Roboto"/>
              </a:rPr>
              <a:t>: Provides powerful numerical computing capabilities for array operations, mathematical functions, and efficient data manipulation essential for handling large datasets.</a:t>
            </a:r>
          </a:p>
        </p:txBody>
      </p:sp>
      <p:sp>
        <p:nvSpPr>
          <p:cNvPr id="6" name="TextBox 6"/>
          <p:cNvSpPr txBox="1"/>
          <p:nvPr/>
        </p:nvSpPr>
        <p:spPr>
          <a:xfrm>
            <a:off x="1028700" y="3455933"/>
            <a:ext cx="7573842" cy="617990"/>
          </a:xfrm>
          <a:prstGeom prst="rect">
            <a:avLst/>
          </a:prstGeom>
        </p:spPr>
        <p:txBody>
          <a:bodyPr lIns="0" tIns="0" rIns="0" bIns="0" rtlCol="0" anchor="t">
            <a:spAutoFit/>
          </a:bodyPr>
          <a:lstStyle/>
          <a:p>
            <a:pPr marL="0" lvl="0" indent="0" algn="just">
              <a:lnSpc>
                <a:spcPts val="5412"/>
              </a:lnSpc>
            </a:pPr>
            <a:r>
              <a:rPr lang="en-US" sz="3075" b="1" dirty="0">
                <a:solidFill>
                  <a:srgbClr val="388D89"/>
                </a:solidFill>
                <a:latin typeface="Roboto Bold"/>
                <a:ea typeface="Roboto Bold"/>
                <a:cs typeface="Roboto Bold"/>
                <a:sym typeface="Roboto Bold"/>
              </a:rPr>
              <a:t>1</a:t>
            </a:r>
          </a:p>
        </p:txBody>
      </p:sp>
      <p:sp>
        <p:nvSpPr>
          <p:cNvPr id="7" name="TextBox 7"/>
          <p:cNvSpPr txBox="1"/>
          <p:nvPr/>
        </p:nvSpPr>
        <p:spPr>
          <a:xfrm>
            <a:off x="1028700" y="6776505"/>
            <a:ext cx="7573842" cy="1756891"/>
          </a:xfrm>
          <a:prstGeom prst="rect">
            <a:avLst/>
          </a:prstGeom>
        </p:spPr>
        <p:txBody>
          <a:bodyPr lIns="0" tIns="0" rIns="0" bIns="0" rtlCol="0" anchor="t">
            <a:spAutoFit/>
          </a:bodyPr>
          <a:lstStyle/>
          <a:p>
            <a:pPr marL="0" lvl="0" indent="0" algn="just">
              <a:lnSpc>
                <a:spcPct val="200000"/>
              </a:lnSpc>
            </a:pPr>
            <a:r>
              <a:rPr lang="en-US" sz="2000" b="1" spc="300" dirty="0">
                <a:solidFill>
                  <a:srgbClr val="388D89"/>
                </a:solidFill>
                <a:latin typeface="Roboto"/>
                <a:ea typeface="Roboto"/>
                <a:cs typeface="Roboto"/>
                <a:sym typeface="Roboto"/>
              </a:rPr>
              <a:t>Pandas</a:t>
            </a:r>
            <a:r>
              <a:rPr lang="en-US" sz="2000" dirty="0">
                <a:solidFill>
                  <a:srgbClr val="388D89"/>
                </a:solidFill>
                <a:latin typeface="Roboto"/>
                <a:ea typeface="Roboto"/>
                <a:cs typeface="Roboto"/>
                <a:sym typeface="Roboto"/>
              </a:rPr>
              <a:t>: Offers data structures like </a:t>
            </a:r>
            <a:r>
              <a:rPr lang="en-US" sz="2000" dirty="0" err="1">
                <a:solidFill>
                  <a:srgbClr val="388D89"/>
                </a:solidFill>
                <a:latin typeface="Roboto"/>
                <a:ea typeface="Roboto"/>
                <a:cs typeface="Roboto"/>
                <a:sym typeface="Roboto"/>
              </a:rPr>
              <a:t>DataFrame</a:t>
            </a:r>
            <a:r>
              <a:rPr lang="en-US" sz="2000" dirty="0">
                <a:solidFill>
                  <a:srgbClr val="388D89"/>
                </a:solidFill>
                <a:latin typeface="Roboto"/>
                <a:ea typeface="Roboto"/>
                <a:cs typeface="Roboto"/>
                <a:sym typeface="Roboto"/>
              </a:rPr>
              <a:t> for organizing, cleaning, filtering, and analyzing structured data with intuitive syntax and built-in functions.</a:t>
            </a:r>
          </a:p>
        </p:txBody>
      </p:sp>
      <p:sp>
        <p:nvSpPr>
          <p:cNvPr id="8" name="TextBox 8"/>
          <p:cNvSpPr txBox="1"/>
          <p:nvPr/>
        </p:nvSpPr>
        <p:spPr>
          <a:xfrm>
            <a:off x="1028700" y="6050754"/>
            <a:ext cx="7573842" cy="617990"/>
          </a:xfrm>
          <a:prstGeom prst="rect">
            <a:avLst/>
          </a:prstGeom>
        </p:spPr>
        <p:txBody>
          <a:bodyPr lIns="0" tIns="0" rIns="0" bIns="0" rtlCol="0" anchor="t">
            <a:spAutoFit/>
          </a:bodyPr>
          <a:lstStyle/>
          <a:p>
            <a:pPr marL="0" lvl="0" indent="0" algn="just">
              <a:lnSpc>
                <a:spcPts val="5412"/>
              </a:lnSpc>
            </a:pPr>
            <a:r>
              <a:rPr lang="en-US" sz="3075" b="1" dirty="0">
                <a:solidFill>
                  <a:srgbClr val="388D89"/>
                </a:solidFill>
                <a:latin typeface="Roboto Bold"/>
                <a:ea typeface="Roboto Bold"/>
                <a:cs typeface="Roboto Bold"/>
                <a:sym typeface="Roboto Bold"/>
              </a:rPr>
              <a:t>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grpSp>
        <p:nvGrpSpPr>
          <p:cNvPr id="3" name="Group 3"/>
          <p:cNvGrpSpPr/>
          <p:nvPr/>
        </p:nvGrpSpPr>
        <p:grpSpPr>
          <a:xfrm>
            <a:off x="1032573" y="6798945"/>
            <a:ext cx="5126720" cy="2459355"/>
            <a:chOff x="0" y="0"/>
            <a:chExt cx="1350247" cy="647731"/>
          </a:xfrm>
        </p:grpSpPr>
        <p:sp>
          <p:nvSpPr>
            <p:cNvPr id="4" name="Freeform 4"/>
            <p:cNvSpPr/>
            <p:nvPr/>
          </p:nvSpPr>
          <p:spPr>
            <a:xfrm>
              <a:off x="0" y="0"/>
              <a:ext cx="1350247" cy="647731"/>
            </a:xfrm>
            <a:custGeom>
              <a:avLst/>
              <a:gdLst/>
              <a:ahLst/>
              <a:cxnLst/>
              <a:rect l="l" t="t" r="r" b="b"/>
              <a:pathLst>
                <a:path w="1350247" h="647731">
                  <a:moveTo>
                    <a:pt x="1350247" y="30202"/>
                  </a:moveTo>
                  <a:lnTo>
                    <a:pt x="1350247" y="617529"/>
                  </a:lnTo>
                  <a:cubicBezTo>
                    <a:pt x="1350247" y="625539"/>
                    <a:pt x="1347065" y="633221"/>
                    <a:pt x="1341401" y="638885"/>
                  </a:cubicBezTo>
                  <a:cubicBezTo>
                    <a:pt x="1335737" y="644549"/>
                    <a:pt x="1328055" y="647731"/>
                    <a:pt x="1320045" y="647731"/>
                  </a:cubicBezTo>
                  <a:lnTo>
                    <a:pt x="30202" y="647731"/>
                  </a:lnTo>
                  <a:cubicBezTo>
                    <a:pt x="22192" y="647731"/>
                    <a:pt x="14510" y="644549"/>
                    <a:pt x="8846" y="638885"/>
                  </a:cubicBezTo>
                  <a:cubicBezTo>
                    <a:pt x="3182" y="633221"/>
                    <a:pt x="0" y="625539"/>
                    <a:pt x="0" y="617529"/>
                  </a:cubicBezTo>
                  <a:lnTo>
                    <a:pt x="0" y="30202"/>
                  </a:lnTo>
                  <a:cubicBezTo>
                    <a:pt x="0" y="22192"/>
                    <a:pt x="3182" y="14510"/>
                    <a:pt x="8846" y="8846"/>
                  </a:cubicBezTo>
                  <a:cubicBezTo>
                    <a:pt x="14510" y="3182"/>
                    <a:pt x="22192" y="0"/>
                    <a:pt x="30202" y="0"/>
                  </a:cubicBezTo>
                  <a:lnTo>
                    <a:pt x="1320045" y="0"/>
                  </a:lnTo>
                  <a:cubicBezTo>
                    <a:pt x="1328055" y="0"/>
                    <a:pt x="1335737" y="3182"/>
                    <a:pt x="1341401" y="8846"/>
                  </a:cubicBezTo>
                  <a:cubicBezTo>
                    <a:pt x="1347065" y="14510"/>
                    <a:pt x="1350247" y="22192"/>
                    <a:pt x="1350247" y="30202"/>
                  </a:cubicBezTo>
                  <a:close/>
                </a:path>
              </a:pathLst>
            </a:custGeom>
            <a:solidFill>
              <a:srgbClr val="CCF1F0"/>
            </a:solidFill>
          </p:spPr>
          <p:txBody>
            <a:bodyPr/>
            <a:lstStyle/>
            <a:p>
              <a:endParaRPr lang="en-US"/>
            </a:p>
          </p:txBody>
        </p:sp>
        <p:sp>
          <p:nvSpPr>
            <p:cNvPr id="5" name="TextBox 5"/>
            <p:cNvSpPr txBox="1"/>
            <p:nvPr/>
          </p:nvSpPr>
          <p:spPr>
            <a:xfrm>
              <a:off x="0" y="-38100"/>
              <a:ext cx="1350247" cy="685831"/>
            </a:xfrm>
            <a:prstGeom prst="rect">
              <a:avLst/>
            </a:prstGeom>
          </p:spPr>
          <p:txBody>
            <a:bodyPr lIns="50800" tIns="50800" rIns="50800" bIns="50800" rtlCol="0" anchor="ctr"/>
            <a:lstStyle/>
            <a:p>
              <a:pPr marL="0" lvl="0" indent="0" algn="ctr">
                <a:lnSpc>
                  <a:spcPts val="2659"/>
                </a:lnSpc>
              </a:pPr>
              <a:endParaRPr/>
            </a:p>
          </p:txBody>
        </p:sp>
      </p:grpSp>
      <p:grpSp>
        <p:nvGrpSpPr>
          <p:cNvPr id="6" name="Group 6"/>
          <p:cNvGrpSpPr/>
          <p:nvPr/>
        </p:nvGrpSpPr>
        <p:grpSpPr>
          <a:xfrm>
            <a:off x="6580640" y="1028700"/>
            <a:ext cx="5126720" cy="2459355"/>
            <a:chOff x="0" y="0"/>
            <a:chExt cx="1350247" cy="647731"/>
          </a:xfrm>
        </p:grpSpPr>
        <p:sp>
          <p:nvSpPr>
            <p:cNvPr id="7" name="Freeform 7"/>
            <p:cNvSpPr/>
            <p:nvPr/>
          </p:nvSpPr>
          <p:spPr>
            <a:xfrm>
              <a:off x="0" y="0"/>
              <a:ext cx="1350247" cy="647731"/>
            </a:xfrm>
            <a:custGeom>
              <a:avLst/>
              <a:gdLst/>
              <a:ahLst/>
              <a:cxnLst/>
              <a:rect l="l" t="t" r="r" b="b"/>
              <a:pathLst>
                <a:path w="1350247" h="647731">
                  <a:moveTo>
                    <a:pt x="1350247" y="30202"/>
                  </a:moveTo>
                  <a:lnTo>
                    <a:pt x="1350247" y="617529"/>
                  </a:lnTo>
                  <a:cubicBezTo>
                    <a:pt x="1350247" y="625539"/>
                    <a:pt x="1347065" y="633221"/>
                    <a:pt x="1341401" y="638885"/>
                  </a:cubicBezTo>
                  <a:cubicBezTo>
                    <a:pt x="1335737" y="644549"/>
                    <a:pt x="1328055" y="647731"/>
                    <a:pt x="1320045" y="647731"/>
                  </a:cubicBezTo>
                  <a:lnTo>
                    <a:pt x="30202" y="647731"/>
                  </a:lnTo>
                  <a:cubicBezTo>
                    <a:pt x="22192" y="647731"/>
                    <a:pt x="14510" y="644549"/>
                    <a:pt x="8846" y="638885"/>
                  </a:cubicBezTo>
                  <a:cubicBezTo>
                    <a:pt x="3182" y="633221"/>
                    <a:pt x="0" y="625539"/>
                    <a:pt x="0" y="617529"/>
                  </a:cubicBezTo>
                  <a:lnTo>
                    <a:pt x="0" y="30202"/>
                  </a:lnTo>
                  <a:cubicBezTo>
                    <a:pt x="0" y="22192"/>
                    <a:pt x="3182" y="14510"/>
                    <a:pt x="8846" y="8846"/>
                  </a:cubicBezTo>
                  <a:cubicBezTo>
                    <a:pt x="14510" y="3182"/>
                    <a:pt x="22192" y="0"/>
                    <a:pt x="30202" y="0"/>
                  </a:cubicBezTo>
                  <a:lnTo>
                    <a:pt x="1320045" y="0"/>
                  </a:lnTo>
                  <a:cubicBezTo>
                    <a:pt x="1328055" y="0"/>
                    <a:pt x="1335737" y="3182"/>
                    <a:pt x="1341401" y="8846"/>
                  </a:cubicBezTo>
                  <a:cubicBezTo>
                    <a:pt x="1347065" y="14510"/>
                    <a:pt x="1350247" y="22192"/>
                    <a:pt x="1350247" y="30202"/>
                  </a:cubicBezTo>
                  <a:close/>
                </a:path>
              </a:pathLst>
            </a:custGeom>
            <a:solidFill>
              <a:srgbClr val="CCF1F0"/>
            </a:solidFill>
          </p:spPr>
          <p:txBody>
            <a:bodyPr/>
            <a:lstStyle/>
            <a:p>
              <a:endParaRPr lang="en-US"/>
            </a:p>
          </p:txBody>
        </p:sp>
        <p:sp>
          <p:nvSpPr>
            <p:cNvPr id="8" name="TextBox 8"/>
            <p:cNvSpPr txBox="1"/>
            <p:nvPr/>
          </p:nvSpPr>
          <p:spPr>
            <a:xfrm>
              <a:off x="0" y="-38100"/>
              <a:ext cx="1350247" cy="685831"/>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2128707" y="6798945"/>
            <a:ext cx="5126720" cy="2459355"/>
            <a:chOff x="0" y="0"/>
            <a:chExt cx="1350247" cy="647731"/>
          </a:xfrm>
        </p:grpSpPr>
        <p:sp>
          <p:nvSpPr>
            <p:cNvPr id="10" name="Freeform 10"/>
            <p:cNvSpPr/>
            <p:nvPr/>
          </p:nvSpPr>
          <p:spPr>
            <a:xfrm>
              <a:off x="0" y="0"/>
              <a:ext cx="1350247" cy="647731"/>
            </a:xfrm>
            <a:custGeom>
              <a:avLst/>
              <a:gdLst/>
              <a:ahLst/>
              <a:cxnLst/>
              <a:rect l="l" t="t" r="r" b="b"/>
              <a:pathLst>
                <a:path w="1350247" h="647731">
                  <a:moveTo>
                    <a:pt x="1350247" y="30202"/>
                  </a:moveTo>
                  <a:lnTo>
                    <a:pt x="1350247" y="617529"/>
                  </a:lnTo>
                  <a:cubicBezTo>
                    <a:pt x="1350247" y="625539"/>
                    <a:pt x="1347065" y="633221"/>
                    <a:pt x="1341401" y="638885"/>
                  </a:cubicBezTo>
                  <a:cubicBezTo>
                    <a:pt x="1335737" y="644549"/>
                    <a:pt x="1328055" y="647731"/>
                    <a:pt x="1320045" y="647731"/>
                  </a:cubicBezTo>
                  <a:lnTo>
                    <a:pt x="30202" y="647731"/>
                  </a:lnTo>
                  <a:cubicBezTo>
                    <a:pt x="22192" y="647731"/>
                    <a:pt x="14510" y="644549"/>
                    <a:pt x="8846" y="638885"/>
                  </a:cubicBezTo>
                  <a:cubicBezTo>
                    <a:pt x="3182" y="633221"/>
                    <a:pt x="0" y="625539"/>
                    <a:pt x="0" y="617529"/>
                  </a:cubicBezTo>
                  <a:lnTo>
                    <a:pt x="0" y="30202"/>
                  </a:lnTo>
                  <a:cubicBezTo>
                    <a:pt x="0" y="22192"/>
                    <a:pt x="3182" y="14510"/>
                    <a:pt x="8846" y="8846"/>
                  </a:cubicBezTo>
                  <a:cubicBezTo>
                    <a:pt x="14510" y="3182"/>
                    <a:pt x="22192" y="0"/>
                    <a:pt x="30202" y="0"/>
                  </a:cubicBezTo>
                  <a:lnTo>
                    <a:pt x="1320045" y="0"/>
                  </a:lnTo>
                  <a:cubicBezTo>
                    <a:pt x="1328055" y="0"/>
                    <a:pt x="1335737" y="3182"/>
                    <a:pt x="1341401" y="8846"/>
                  </a:cubicBezTo>
                  <a:cubicBezTo>
                    <a:pt x="1347065" y="14510"/>
                    <a:pt x="1350247" y="22192"/>
                    <a:pt x="1350247" y="30202"/>
                  </a:cubicBezTo>
                  <a:close/>
                </a:path>
              </a:pathLst>
            </a:custGeom>
            <a:solidFill>
              <a:srgbClr val="CCF1F0"/>
            </a:solidFill>
          </p:spPr>
          <p:txBody>
            <a:bodyPr/>
            <a:lstStyle/>
            <a:p>
              <a:endParaRPr lang="en-US"/>
            </a:p>
          </p:txBody>
        </p:sp>
        <p:sp>
          <p:nvSpPr>
            <p:cNvPr id="11" name="TextBox 11"/>
            <p:cNvSpPr txBox="1"/>
            <p:nvPr/>
          </p:nvSpPr>
          <p:spPr>
            <a:xfrm>
              <a:off x="0" y="-38100"/>
              <a:ext cx="1350247" cy="685831"/>
            </a:xfrm>
            <a:prstGeom prst="rect">
              <a:avLst/>
            </a:prstGeom>
          </p:spPr>
          <p:txBody>
            <a:bodyPr lIns="50800" tIns="50800" rIns="50800" bIns="50800" rtlCol="0" anchor="ctr"/>
            <a:lstStyle/>
            <a:p>
              <a:pPr marL="0" lvl="0" indent="0" algn="ctr">
                <a:lnSpc>
                  <a:spcPts val="2659"/>
                </a:lnSpc>
              </a:pPr>
              <a:endParaRPr/>
            </a:p>
          </p:txBody>
        </p:sp>
      </p:grpSp>
      <p:sp>
        <p:nvSpPr>
          <p:cNvPr id="12" name="TextBox 12"/>
          <p:cNvSpPr txBox="1"/>
          <p:nvPr/>
        </p:nvSpPr>
        <p:spPr>
          <a:xfrm>
            <a:off x="3770789" y="3878580"/>
            <a:ext cx="10746421" cy="2586926"/>
          </a:xfrm>
          <a:prstGeom prst="rect">
            <a:avLst/>
          </a:prstGeom>
        </p:spPr>
        <p:txBody>
          <a:bodyPr lIns="0" tIns="0" rIns="0" bIns="0" rtlCol="0" anchor="t">
            <a:spAutoFit/>
          </a:bodyPr>
          <a:lstStyle/>
          <a:p>
            <a:pPr marL="0" lvl="0" indent="0" algn="ctr">
              <a:lnSpc>
                <a:spcPts val="10072"/>
              </a:lnSpc>
            </a:pPr>
            <a:r>
              <a:rPr lang="en-US" sz="8993" b="1">
                <a:solidFill>
                  <a:srgbClr val="388D89"/>
                </a:solidFill>
                <a:latin typeface="Roboto Bold"/>
                <a:ea typeface="Roboto Bold"/>
                <a:cs typeface="Roboto Bold"/>
                <a:sym typeface="Roboto Bold"/>
              </a:rPr>
              <a:t>PYTHON TOOLS &amp; LIBRARIES</a:t>
            </a:r>
          </a:p>
        </p:txBody>
      </p:sp>
      <p:sp>
        <p:nvSpPr>
          <p:cNvPr id="13" name="TextBox 13"/>
          <p:cNvSpPr txBox="1"/>
          <p:nvPr/>
        </p:nvSpPr>
        <p:spPr>
          <a:xfrm>
            <a:off x="1356195" y="7951918"/>
            <a:ext cx="4471730" cy="849953"/>
          </a:xfrm>
          <a:prstGeom prst="rect">
            <a:avLst/>
          </a:prstGeom>
        </p:spPr>
        <p:txBody>
          <a:bodyPr lIns="0" tIns="0" rIns="0" bIns="0" rtlCol="0" anchor="t">
            <a:spAutoFit/>
          </a:bodyPr>
          <a:lstStyle/>
          <a:p>
            <a:pPr marL="0" lvl="0" indent="0" algn="just">
              <a:lnSpc>
                <a:spcPts val="3480"/>
              </a:lnSpc>
            </a:pPr>
            <a:r>
              <a:rPr lang="en-US" sz="1977">
                <a:solidFill>
                  <a:srgbClr val="388D89"/>
                </a:solidFill>
                <a:latin typeface="Roboto"/>
                <a:ea typeface="Roboto"/>
                <a:cs typeface="Roboto"/>
                <a:sym typeface="Roboto"/>
              </a:rPr>
              <a:t>Splits datasets into training and testing subsets for model validation.</a:t>
            </a:r>
          </a:p>
        </p:txBody>
      </p:sp>
      <p:sp>
        <p:nvSpPr>
          <p:cNvPr id="14" name="TextBox 14"/>
          <p:cNvSpPr txBox="1"/>
          <p:nvPr/>
        </p:nvSpPr>
        <p:spPr>
          <a:xfrm>
            <a:off x="1356195" y="7416489"/>
            <a:ext cx="4471730" cy="415239"/>
          </a:xfrm>
          <a:prstGeom prst="rect">
            <a:avLst/>
          </a:prstGeom>
        </p:spPr>
        <p:txBody>
          <a:bodyPr lIns="0" tIns="0" rIns="0" bIns="0" rtlCol="0" anchor="t">
            <a:spAutoFit/>
          </a:bodyPr>
          <a:lstStyle/>
          <a:p>
            <a:pPr marL="0" lvl="0" indent="0" algn="l">
              <a:lnSpc>
                <a:spcPts val="3027"/>
              </a:lnSpc>
            </a:pPr>
            <a:r>
              <a:rPr lang="en-US" sz="2997" b="1">
                <a:solidFill>
                  <a:srgbClr val="388D89"/>
                </a:solidFill>
                <a:latin typeface="Roboto Bold"/>
                <a:ea typeface="Roboto Bold"/>
                <a:cs typeface="Roboto Bold"/>
                <a:sym typeface="Roboto Bold"/>
              </a:rPr>
              <a:t>Train_Test_Split</a:t>
            </a:r>
          </a:p>
        </p:txBody>
      </p:sp>
      <p:grpSp>
        <p:nvGrpSpPr>
          <p:cNvPr id="15" name="Group 15"/>
          <p:cNvGrpSpPr/>
          <p:nvPr/>
        </p:nvGrpSpPr>
        <p:grpSpPr>
          <a:xfrm>
            <a:off x="6580640" y="6798945"/>
            <a:ext cx="5126720" cy="2459355"/>
            <a:chOff x="0" y="0"/>
            <a:chExt cx="1350247" cy="647731"/>
          </a:xfrm>
        </p:grpSpPr>
        <p:sp>
          <p:nvSpPr>
            <p:cNvPr id="16" name="Freeform 16"/>
            <p:cNvSpPr/>
            <p:nvPr/>
          </p:nvSpPr>
          <p:spPr>
            <a:xfrm>
              <a:off x="0" y="0"/>
              <a:ext cx="1350247" cy="647731"/>
            </a:xfrm>
            <a:custGeom>
              <a:avLst/>
              <a:gdLst/>
              <a:ahLst/>
              <a:cxnLst/>
              <a:rect l="l" t="t" r="r" b="b"/>
              <a:pathLst>
                <a:path w="1350247" h="647731">
                  <a:moveTo>
                    <a:pt x="1350247" y="30202"/>
                  </a:moveTo>
                  <a:lnTo>
                    <a:pt x="1350247" y="617529"/>
                  </a:lnTo>
                  <a:cubicBezTo>
                    <a:pt x="1350247" y="625539"/>
                    <a:pt x="1347065" y="633221"/>
                    <a:pt x="1341401" y="638885"/>
                  </a:cubicBezTo>
                  <a:cubicBezTo>
                    <a:pt x="1335737" y="644549"/>
                    <a:pt x="1328055" y="647731"/>
                    <a:pt x="1320045" y="647731"/>
                  </a:cubicBezTo>
                  <a:lnTo>
                    <a:pt x="30202" y="647731"/>
                  </a:lnTo>
                  <a:cubicBezTo>
                    <a:pt x="22192" y="647731"/>
                    <a:pt x="14510" y="644549"/>
                    <a:pt x="8846" y="638885"/>
                  </a:cubicBezTo>
                  <a:cubicBezTo>
                    <a:pt x="3182" y="633221"/>
                    <a:pt x="0" y="625539"/>
                    <a:pt x="0" y="617529"/>
                  </a:cubicBezTo>
                  <a:lnTo>
                    <a:pt x="0" y="30202"/>
                  </a:lnTo>
                  <a:cubicBezTo>
                    <a:pt x="0" y="22192"/>
                    <a:pt x="3182" y="14510"/>
                    <a:pt x="8846" y="8846"/>
                  </a:cubicBezTo>
                  <a:cubicBezTo>
                    <a:pt x="14510" y="3182"/>
                    <a:pt x="22192" y="0"/>
                    <a:pt x="30202" y="0"/>
                  </a:cubicBezTo>
                  <a:lnTo>
                    <a:pt x="1320045" y="0"/>
                  </a:lnTo>
                  <a:cubicBezTo>
                    <a:pt x="1328055" y="0"/>
                    <a:pt x="1335737" y="3182"/>
                    <a:pt x="1341401" y="8846"/>
                  </a:cubicBezTo>
                  <a:cubicBezTo>
                    <a:pt x="1347065" y="14510"/>
                    <a:pt x="1350247" y="22192"/>
                    <a:pt x="1350247" y="30202"/>
                  </a:cubicBezTo>
                  <a:close/>
                </a:path>
              </a:pathLst>
            </a:custGeom>
            <a:solidFill>
              <a:srgbClr val="388D89"/>
            </a:solidFill>
          </p:spPr>
          <p:txBody>
            <a:bodyPr/>
            <a:lstStyle/>
            <a:p>
              <a:endParaRPr lang="en-US"/>
            </a:p>
          </p:txBody>
        </p:sp>
        <p:sp>
          <p:nvSpPr>
            <p:cNvPr id="17" name="TextBox 17"/>
            <p:cNvSpPr txBox="1"/>
            <p:nvPr/>
          </p:nvSpPr>
          <p:spPr>
            <a:xfrm>
              <a:off x="0" y="-38100"/>
              <a:ext cx="1350247" cy="685831"/>
            </a:xfrm>
            <a:prstGeom prst="rect">
              <a:avLst/>
            </a:prstGeom>
          </p:spPr>
          <p:txBody>
            <a:bodyPr lIns="50800" tIns="50800" rIns="50800" bIns="50800" rtlCol="0" anchor="ctr"/>
            <a:lstStyle/>
            <a:p>
              <a:pPr marL="0" lvl="0" indent="0" algn="ctr">
                <a:lnSpc>
                  <a:spcPts val="2659"/>
                </a:lnSpc>
              </a:pPr>
              <a:endParaRPr/>
            </a:p>
          </p:txBody>
        </p:sp>
      </p:grpSp>
      <p:sp>
        <p:nvSpPr>
          <p:cNvPr id="18" name="TextBox 18"/>
          <p:cNvSpPr txBox="1"/>
          <p:nvPr/>
        </p:nvSpPr>
        <p:spPr>
          <a:xfrm>
            <a:off x="6908135" y="7951918"/>
            <a:ext cx="4471730" cy="849953"/>
          </a:xfrm>
          <a:prstGeom prst="rect">
            <a:avLst/>
          </a:prstGeom>
        </p:spPr>
        <p:txBody>
          <a:bodyPr lIns="0" tIns="0" rIns="0" bIns="0" rtlCol="0" anchor="t">
            <a:spAutoFit/>
          </a:bodyPr>
          <a:lstStyle/>
          <a:p>
            <a:pPr marL="0" lvl="0" indent="0" algn="just">
              <a:lnSpc>
                <a:spcPts val="3480"/>
              </a:lnSpc>
            </a:pPr>
            <a:r>
              <a:rPr lang="en-US" sz="1977">
                <a:solidFill>
                  <a:srgbClr val="F8FFFF"/>
                </a:solidFill>
                <a:latin typeface="Roboto"/>
                <a:ea typeface="Roboto"/>
                <a:cs typeface="Roboto"/>
                <a:sym typeface="Roboto"/>
              </a:rPr>
              <a:t>Accuracy, precision, recall, F1-score measure model performance.</a:t>
            </a:r>
          </a:p>
        </p:txBody>
      </p:sp>
      <p:sp>
        <p:nvSpPr>
          <p:cNvPr id="19" name="TextBox 19"/>
          <p:cNvSpPr txBox="1"/>
          <p:nvPr/>
        </p:nvSpPr>
        <p:spPr>
          <a:xfrm>
            <a:off x="6908135" y="7416489"/>
            <a:ext cx="4471730" cy="415239"/>
          </a:xfrm>
          <a:prstGeom prst="rect">
            <a:avLst/>
          </a:prstGeom>
        </p:spPr>
        <p:txBody>
          <a:bodyPr lIns="0" tIns="0" rIns="0" bIns="0" rtlCol="0" anchor="t">
            <a:spAutoFit/>
          </a:bodyPr>
          <a:lstStyle/>
          <a:p>
            <a:pPr marL="0" lvl="0" indent="0" algn="l">
              <a:lnSpc>
                <a:spcPts val="3027"/>
              </a:lnSpc>
            </a:pPr>
            <a:r>
              <a:rPr lang="en-US" sz="2997" b="1">
                <a:solidFill>
                  <a:srgbClr val="F8FFFF"/>
                </a:solidFill>
                <a:latin typeface="Roboto Bold"/>
                <a:ea typeface="Roboto Bold"/>
                <a:cs typeface="Roboto Bold"/>
                <a:sym typeface="Roboto Bold"/>
              </a:rPr>
              <a:t>Evaluation Metrics</a:t>
            </a:r>
          </a:p>
        </p:txBody>
      </p:sp>
      <p:sp>
        <p:nvSpPr>
          <p:cNvPr id="20" name="TextBox 20"/>
          <p:cNvSpPr txBox="1"/>
          <p:nvPr/>
        </p:nvSpPr>
        <p:spPr>
          <a:xfrm>
            <a:off x="12460075" y="7632825"/>
            <a:ext cx="4471730" cy="1288103"/>
          </a:xfrm>
          <a:prstGeom prst="rect">
            <a:avLst/>
          </a:prstGeom>
        </p:spPr>
        <p:txBody>
          <a:bodyPr lIns="0" tIns="0" rIns="0" bIns="0" rtlCol="0" anchor="t">
            <a:spAutoFit/>
          </a:bodyPr>
          <a:lstStyle/>
          <a:p>
            <a:pPr marL="0" lvl="0" indent="0" algn="just">
              <a:lnSpc>
                <a:spcPts val="3480"/>
              </a:lnSpc>
            </a:pPr>
            <a:r>
              <a:rPr lang="en-US" sz="1977">
                <a:solidFill>
                  <a:srgbClr val="388D89"/>
                </a:solidFill>
                <a:latin typeface="Roboto"/>
                <a:ea typeface="Roboto"/>
                <a:cs typeface="Roboto"/>
                <a:sym typeface="Roboto"/>
              </a:rPr>
              <a:t>Comprehensive ML library for classification, regression, and clustering algorithms.</a:t>
            </a:r>
          </a:p>
        </p:txBody>
      </p:sp>
      <p:sp>
        <p:nvSpPr>
          <p:cNvPr id="21" name="TextBox 21"/>
          <p:cNvSpPr txBox="1"/>
          <p:nvPr/>
        </p:nvSpPr>
        <p:spPr>
          <a:xfrm>
            <a:off x="12460075" y="7097397"/>
            <a:ext cx="4471730" cy="415239"/>
          </a:xfrm>
          <a:prstGeom prst="rect">
            <a:avLst/>
          </a:prstGeom>
        </p:spPr>
        <p:txBody>
          <a:bodyPr lIns="0" tIns="0" rIns="0" bIns="0" rtlCol="0" anchor="t">
            <a:spAutoFit/>
          </a:bodyPr>
          <a:lstStyle/>
          <a:p>
            <a:pPr marL="0" lvl="0" indent="0" algn="l">
              <a:lnSpc>
                <a:spcPts val="3027"/>
              </a:lnSpc>
            </a:pPr>
            <a:r>
              <a:rPr lang="en-US" sz="2997" b="1">
                <a:solidFill>
                  <a:srgbClr val="388D89"/>
                </a:solidFill>
                <a:latin typeface="Roboto Bold"/>
                <a:ea typeface="Roboto Bold"/>
                <a:cs typeface="Roboto Bold"/>
                <a:sym typeface="Roboto Bold"/>
              </a:rPr>
              <a:t>Scikit-learn</a:t>
            </a:r>
          </a:p>
        </p:txBody>
      </p:sp>
      <p:grpSp>
        <p:nvGrpSpPr>
          <p:cNvPr id="22" name="Group 22"/>
          <p:cNvGrpSpPr/>
          <p:nvPr/>
        </p:nvGrpSpPr>
        <p:grpSpPr>
          <a:xfrm>
            <a:off x="1028700" y="1028700"/>
            <a:ext cx="5126720" cy="2459355"/>
            <a:chOff x="0" y="0"/>
            <a:chExt cx="1350247" cy="647731"/>
          </a:xfrm>
        </p:grpSpPr>
        <p:sp>
          <p:nvSpPr>
            <p:cNvPr id="23" name="Freeform 23"/>
            <p:cNvSpPr/>
            <p:nvPr/>
          </p:nvSpPr>
          <p:spPr>
            <a:xfrm>
              <a:off x="0" y="0"/>
              <a:ext cx="1350247" cy="647731"/>
            </a:xfrm>
            <a:custGeom>
              <a:avLst/>
              <a:gdLst/>
              <a:ahLst/>
              <a:cxnLst/>
              <a:rect l="l" t="t" r="r" b="b"/>
              <a:pathLst>
                <a:path w="1350247" h="647731">
                  <a:moveTo>
                    <a:pt x="1350247" y="30202"/>
                  </a:moveTo>
                  <a:lnTo>
                    <a:pt x="1350247" y="617529"/>
                  </a:lnTo>
                  <a:cubicBezTo>
                    <a:pt x="1350247" y="625539"/>
                    <a:pt x="1347065" y="633221"/>
                    <a:pt x="1341401" y="638885"/>
                  </a:cubicBezTo>
                  <a:cubicBezTo>
                    <a:pt x="1335737" y="644549"/>
                    <a:pt x="1328055" y="647731"/>
                    <a:pt x="1320045" y="647731"/>
                  </a:cubicBezTo>
                  <a:lnTo>
                    <a:pt x="30202" y="647731"/>
                  </a:lnTo>
                  <a:cubicBezTo>
                    <a:pt x="22192" y="647731"/>
                    <a:pt x="14510" y="644549"/>
                    <a:pt x="8846" y="638885"/>
                  </a:cubicBezTo>
                  <a:cubicBezTo>
                    <a:pt x="3182" y="633221"/>
                    <a:pt x="0" y="625539"/>
                    <a:pt x="0" y="617529"/>
                  </a:cubicBezTo>
                  <a:lnTo>
                    <a:pt x="0" y="30202"/>
                  </a:lnTo>
                  <a:cubicBezTo>
                    <a:pt x="0" y="22192"/>
                    <a:pt x="3182" y="14510"/>
                    <a:pt x="8846" y="8846"/>
                  </a:cubicBezTo>
                  <a:cubicBezTo>
                    <a:pt x="14510" y="3182"/>
                    <a:pt x="22192" y="0"/>
                    <a:pt x="30202" y="0"/>
                  </a:cubicBezTo>
                  <a:lnTo>
                    <a:pt x="1320045" y="0"/>
                  </a:lnTo>
                  <a:cubicBezTo>
                    <a:pt x="1328055" y="0"/>
                    <a:pt x="1335737" y="3182"/>
                    <a:pt x="1341401" y="8846"/>
                  </a:cubicBezTo>
                  <a:cubicBezTo>
                    <a:pt x="1347065" y="14510"/>
                    <a:pt x="1350247" y="22192"/>
                    <a:pt x="1350247" y="30202"/>
                  </a:cubicBezTo>
                  <a:close/>
                </a:path>
              </a:pathLst>
            </a:custGeom>
            <a:solidFill>
              <a:srgbClr val="388D89"/>
            </a:solidFill>
          </p:spPr>
          <p:txBody>
            <a:bodyPr/>
            <a:lstStyle/>
            <a:p>
              <a:endParaRPr lang="en-US"/>
            </a:p>
          </p:txBody>
        </p:sp>
        <p:sp>
          <p:nvSpPr>
            <p:cNvPr id="24" name="TextBox 24"/>
            <p:cNvSpPr txBox="1"/>
            <p:nvPr/>
          </p:nvSpPr>
          <p:spPr>
            <a:xfrm>
              <a:off x="0" y="-38100"/>
              <a:ext cx="1350247" cy="685831"/>
            </a:xfrm>
            <a:prstGeom prst="rect">
              <a:avLst/>
            </a:prstGeom>
          </p:spPr>
          <p:txBody>
            <a:bodyPr lIns="50800" tIns="50800" rIns="50800" bIns="50800" rtlCol="0" anchor="ctr"/>
            <a:lstStyle/>
            <a:p>
              <a:pPr marL="0" lvl="0" indent="0" algn="ctr">
                <a:lnSpc>
                  <a:spcPts val="2659"/>
                </a:lnSpc>
              </a:pPr>
              <a:endParaRPr/>
            </a:p>
          </p:txBody>
        </p:sp>
      </p:grpSp>
      <p:sp>
        <p:nvSpPr>
          <p:cNvPr id="25" name="TextBox 25"/>
          <p:cNvSpPr txBox="1"/>
          <p:nvPr/>
        </p:nvSpPr>
        <p:spPr>
          <a:xfrm>
            <a:off x="1356195" y="2095943"/>
            <a:ext cx="4471730" cy="849953"/>
          </a:xfrm>
          <a:prstGeom prst="rect">
            <a:avLst/>
          </a:prstGeom>
        </p:spPr>
        <p:txBody>
          <a:bodyPr lIns="0" tIns="0" rIns="0" bIns="0" rtlCol="0" anchor="t">
            <a:spAutoFit/>
          </a:bodyPr>
          <a:lstStyle/>
          <a:p>
            <a:pPr marL="0" lvl="0" indent="0" algn="just">
              <a:lnSpc>
                <a:spcPts val="3480"/>
              </a:lnSpc>
            </a:pPr>
            <a:r>
              <a:rPr lang="en-US" sz="1977">
                <a:solidFill>
                  <a:srgbClr val="DEF3FC"/>
                </a:solidFill>
                <a:latin typeface="Roboto"/>
                <a:ea typeface="Roboto"/>
                <a:cs typeface="Roboto"/>
                <a:sym typeface="Roboto"/>
              </a:rPr>
              <a:t>Foundation library for creating static, animated, and interactive visualizations.</a:t>
            </a:r>
          </a:p>
        </p:txBody>
      </p:sp>
      <p:sp>
        <p:nvSpPr>
          <p:cNvPr id="26" name="TextBox 26"/>
          <p:cNvSpPr txBox="1"/>
          <p:nvPr/>
        </p:nvSpPr>
        <p:spPr>
          <a:xfrm>
            <a:off x="1356195" y="1560514"/>
            <a:ext cx="4471730" cy="415239"/>
          </a:xfrm>
          <a:prstGeom prst="rect">
            <a:avLst/>
          </a:prstGeom>
        </p:spPr>
        <p:txBody>
          <a:bodyPr lIns="0" tIns="0" rIns="0" bIns="0" rtlCol="0" anchor="t">
            <a:spAutoFit/>
          </a:bodyPr>
          <a:lstStyle/>
          <a:p>
            <a:pPr marL="0" lvl="0" indent="0" algn="l">
              <a:lnSpc>
                <a:spcPts val="3027"/>
              </a:lnSpc>
            </a:pPr>
            <a:r>
              <a:rPr lang="en-US" sz="2997" b="1">
                <a:solidFill>
                  <a:srgbClr val="DEF3FC"/>
                </a:solidFill>
                <a:latin typeface="Roboto Bold"/>
                <a:ea typeface="Roboto Bold"/>
                <a:cs typeface="Roboto Bold"/>
                <a:sym typeface="Roboto Bold"/>
              </a:rPr>
              <a:t>Matplotlib</a:t>
            </a:r>
          </a:p>
        </p:txBody>
      </p:sp>
      <p:grpSp>
        <p:nvGrpSpPr>
          <p:cNvPr id="27" name="Group 27"/>
          <p:cNvGrpSpPr/>
          <p:nvPr/>
        </p:nvGrpSpPr>
        <p:grpSpPr>
          <a:xfrm>
            <a:off x="12132580" y="1028700"/>
            <a:ext cx="5126720" cy="2459355"/>
            <a:chOff x="0" y="0"/>
            <a:chExt cx="1350247" cy="647731"/>
          </a:xfrm>
        </p:grpSpPr>
        <p:sp>
          <p:nvSpPr>
            <p:cNvPr id="28" name="Freeform 28"/>
            <p:cNvSpPr/>
            <p:nvPr/>
          </p:nvSpPr>
          <p:spPr>
            <a:xfrm>
              <a:off x="0" y="0"/>
              <a:ext cx="1350247" cy="647731"/>
            </a:xfrm>
            <a:custGeom>
              <a:avLst/>
              <a:gdLst/>
              <a:ahLst/>
              <a:cxnLst/>
              <a:rect l="l" t="t" r="r" b="b"/>
              <a:pathLst>
                <a:path w="1350247" h="647731">
                  <a:moveTo>
                    <a:pt x="1350247" y="30202"/>
                  </a:moveTo>
                  <a:lnTo>
                    <a:pt x="1350247" y="617529"/>
                  </a:lnTo>
                  <a:cubicBezTo>
                    <a:pt x="1350247" y="625539"/>
                    <a:pt x="1347065" y="633221"/>
                    <a:pt x="1341401" y="638885"/>
                  </a:cubicBezTo>
                  <a:cubicBezTo>
                    <a:pt x="1335737" y="644549"/>
                    <a:pt x="1328055" y="647731"/>
                    <a:pt x="1320045" y="647731"/>
                  </a:cubicBezTo>
                  <a:lnTo>
                    <a:pt x="30202" y="647731"/>
                  </a:lnTo>
                  <a:cubicBezTo>
                    <a:pt x="22192" y="647731"/>
                    <a:pt x="14510" y="644549"/>
                    <a:pt x="8846" y="638885"/>
                  </a:cubicBezTo>
                  <a:cubicBezTo>
                    <a:pt x="3182" y="633221"/>
                    <a:pt x="0" y="625539"/>
                    <a:pt x="0" y="617529"/>
                  </a:cubicBezTo>
                  <a:lnTo>
                    <a:pt x="0" y="30202"/>
                  </a:lnTo>
                  <a:cubicBezTo>
                    <a:pt x="0" y="22192"/>
                    <a:pt x="3182" y="14510"/>
                    <a:pt x="8846" y="8846"/>
                  </a:cubicBezTo>
                  <a:cubicBezTo>
                    <a:pt x="14510" y="3182"/>
                    <a:pt x="22192" y="0"/>
                    <a:pt x="30202" y="0"/>
                  </a:cubicBezTo>
                  <a:lnTo>
                    <a:pt x="1320045" y="0"/>
                  </a:lnTo>
                  <a:cubicBezTo>
                    <a:pt x="1328055" y="0"/>
                    <a:pt x="1335737" y="3182"/>
                    <a:pt x="1341401" y="8846"/>
                  </a:cubicBezTo>
                  <a:cubicBezTo>
                    <a:pt x="1347065" y="14510"/>
                    <a:pt x="1350247" y="22192"/>
                    <a:pt x="1350247" y="30202"/>
                  </a:cubicBezTo>
                  <a:close/>
                </a:path>
              </a:pathLst>
            </a:custGeom>
            <a:solidFill>
              <a:srgbClr val="388D89"/>
            </a:solidFill>
          </p:spPr>
          <p:txBody>
            <a:bodyPr/>
            <a:lstStyle/>
            <a:p>
              <a:endParaRPr lang="en-US"/>
            </a:p>
          </p:txBody>
        </p:sp>
        <p:sp>
          <p:nvSpPr>
            <p:cNvPr id="29" name="TextBox 29"/>
            <p:cNvSpPr txBox="1"/>
            <p:nvPr/>
          </p:nvSpPr>
          <p:spPr>
            <a:xfrm>
              <a:off x="0" y="-38100"/>
              <a:ext cx="1350247" cy="685831"/>
            </a:xfrm>
            <a:prstGeom prst="rect">
              <a:avLst/>
            </a:prstGeom>
          </p:spPr>
          <p:txBody>
            <a:bodyPr lIns="50800" tIns="50800" rIns="50800" bIns="50800" rtlCol="0" anchor="ctr"/>
            <a:lstStyle/>
            <a:p>
              <a:pPr marL="0" lvl="0" indent="0" algn="ctr">
                <a:lnSpc>
                  <a:spcPts val="2659"/>
                </a:lnSpc>
              </a:pPr>
              <a:endParaRPr/>
            </a:p>
          </p:txBody>
        </p:sp>
      </p:grpSp>
      <p:sp>
        <p:nvSpPr>
          <p:cNvPr id="30" name="TextBox 30"/>
          <p:cNvSpPr txBox="1"/>
          <p:nvPr/>
        </p:nvSpPr>
        <p:spPr>
          <a:xfrm>
            <a:off x="6908135" y="2095943"/>
            <a:ext cx="4471730" cy="849953"/>
          </a:xfrm>
          <a:prstGeom prst="rect">
            <a:avLst/>
          </a:prstGeom>
        </p:spPr>
        <p:txBody>
          <a:bodyPr lIns="0" tIns="0" rIns="0" bIns="0" rtlCol="0" anchor="t">
            <a:spAutoFit/>
          </a:bodyPr>
          <a:lstStyle/>
          <a:p>
            <a:pPr marL="0" lvl="0" indent="0" algn="just">
              <a:lnSpc>
                <a:spcPts val="3480"/>
              </a:lnSpc>
            </a:pPr>
            <a:r>
              <a:rPr lang="en-US" sz="1977">
                <a:solidFill>
                  <a:srgbClr val="388D89"/>
                </a:solidFill>
                <a:latin typeface="Roboto"/>
                <a:ea typeface="Roboto"/>
                <a:cs typeface="Roboto"/>
                <a:sym typeface="Roboto"/>
              </a:rPr>
              <a:t>Statistical data visualization library built on Matplotlib with attractive defaults.</a:t>
            </a:r>
          </a:p>
        </p:txBody>
      </p:sp>
      <p:sp>
        <p:nvSpPr>
          <p:cNvPr id="31" name="TextBox 31"/>
          <p:cNvSpPr txBox="1"/>
          <p:nvPr/>
        </p:nvSpPr>
        <p:spPr>
          <a:xfrm>
            <a:off x="6908135" y="1560514"/>
            <a:ext cx="4471730" cy="415239"/>
          </a:xfrm>
          <a:prstGeom prst="rect">
            <a:avLst/>
          </a:prstGeom>
        </p:spPr>
        <p:txBody>
          <a:bodyPr lIns="0" tIns="0" rIns="0" bIns="0" rtlCol="0" anchor="t">
            <a:spAutoFit/>
          </a:bodyPr>
          <a:lstStyle/>
          <a:p>
            <a:pPr marL="0" lvl="0" indent="0" algn="l">
              <a:lnSpc>
                <a:spcPts val="3027"/>
              </a:lnSpc>
            </a:pPr>
            <a:r>
              <a:rPr lang="en-US" sz="2997" b="1">
                <a:solidFill>
                  <a:srgbClr val="388D89"/>
                </a:solidFill>
                <a:latin typeface="Roboto Bold"/>
                <a:ea typeface="Roboto Bold"/>
                <a:cs typeface="Roboto Bold"/>
                <a:sym typeface="Roboto Bold"/>
              </a:rPr>
              <a:t>Seaborn</a:t>
            </a:r>
          </a:p>
        </p:txBody>
      </p:sp>
      <p:sp>
        <p:nvSpPr>
          <p:cNvPr id="32" name="TextBox 32"/>
          <p:cNvSpPr txBox="1"/>
          <p:nvPr/>
        </p:nvSpPr>
        <p:spPr>
          <a:xfrm>
            <a:off x="12460075" y="2095943"/>
            <a:ext cx="4471730" cy="849953"/>
          </a:xfrm>
          <a:prstGeom prst="rect">
            <a:avLst/>
          </a:prstGeom>
        </p:spPr>
        <p:txBody>
          <a:bodyPr lIns="0" tIns="0" rIns="0" bIns="0" rtlCol="0" anchor="t">
            <a:spAutoFit/>
          </a:bodyPr>
          <a:lstStyle/>
          <a:p>
            <a:pPr lvl="0" algn="just">
              <a:lnSpc>
                <a:spcPts val="3480"/>
              </a:lnSpc>
            </a:pPr>
            <a:r>
              <a:rPr lang="en-US" sz="1977" dirty="0">
                <a:solidFill>
                  <a:srgbClr val="DEF3FC"/>
                </a:solidFill>
                <a:latin typeface="Roboto"/>
                <a:ea typeface="Roboto"/>
                <a:cs typeface="Roboto"/>
                <a:sym typeface="Roboto"/>
              </a:rPr>
              <a:t>It is a metric used to evaluate regression models.</a:t>
            </a:r>
          </a:p>
        </p:txBody>
      </p:sp>
      <p:sp>
        <p:nvSpPr>
          <p:cNvPr id="33" name="TextBox 33"/>
          <p:cNvSpPr txBox="1"/>
          <p:nvPr/>
        </p:nvSpPr>
        <p:spPr>
          <a:xfrm>
            <a:off x="12460075" y="1560514"/>
            <a:ext cx="4471730" cy="769441"/>
          </a:xfrm>
          <a:prstGeom prst="rect">
            <a:avLst/>
          </a:prstGeom>
        </p:spPr>
        <p:txBody>
          <a:bodyPr lIns="0" tIns="0" rIns="0" bIns="0" rtlCol="0" anchor="t">
            <a:spAutoFit/>
          </a:bodyPr>
          <a:lstStyle/>
          <a:p>
            <a:pPr>
              <a:lnSpc>
                <a:spcPts val="3027"/>
              </a:lnSpc>
            </a:pPr>
            <a:r>
              <a:rPr lang="en-US" sz="2997" b="1" dirty="0">
                <a:solidFill>
                  <a:srgbClr val="DEF3FC"/>
                </a:solidFill>
                <a:latin typeface="Roboto Bold"/>
                <a:ea typeface="Roboto Bold"/>
                <a:cs typeface="Roboto Bold"/>
                <a:sym typeface="Roboto Bold"/>
              </a:rPr>
              <a:t>R2 Score</a:t>
            </a:r>
          </a:p>
          <a:p>
            <a:pPr marL="0" lvl="0" indent="0" algn="l">
              <a:lnSpc>
                <a:spcPts val="3027"/>
              </a:lnSpc>
            </a:pPr>
            <a:endParaRPr lang="en-US" sz="2997" b="1" dirty="0">
              <a:solidFill>
                <a:srgbClr val="DEF3FC"/>
              </a:solidFill>
              <a:latin typeface="Roboto Bold"/>
              <a:ea typeface="Roboto Bold"/>
              <a:cs typeface="Roboto Bold"/>
              <a:sym typeface="Roboto Bold"/>
            </a:endParaRPr>
          </a:p>
        </p:txBody>
      </p:sp>
      <p:sp>
        <p:nvSpPr>
          <p:cNvPr id="34" name="Freeform 34"/>
          <p:cNvSpPr/>
          <p:nvPr/>
        </p:nvSpPr>
        <p:spPr>
          <a:xfrm>
            <a:off x="13796463" y="3404361"/>
            <a:ext cx="3158890" cy="2845190"/>
          </a:xfrm>
          <a:custGeom>
            <a:avLst/>
            <a:gdLst/>
            <a:ahLst/>
            <a:cxnLst/>
            <a:rect l="l" t="t" r="r" b="b"/>
            <a:pathLst>
              <a:path w="3158890" h="2845190">
                <a:moveTo>
                  <a:pt x="0" y="0"/>
                </a:moveTo>
                <a:lnTo>
                  <a:pt x="3158890" y="0"/>
                </a:lnTo>
                <a:lnTo>
                  <a:pt x="3158890" y="2845190"/>
                </a:lnTo>
                <a:lnTo>
                  <a:pt x="0" y="2845190"/>
                </a:lnTo>
                <a:lnTo>
                  <a:pt x="0" y="0"/>
                </a:lnTo>
                <a:close/>
              </a:path>
            </a:pathLst>
          </a:custGeom>
          <a:blipFill>
            <a:blip r:embed="rId3"/>
            <a:stretch>
              <a:fillRect/>
            </a:stretch>
          </a:blipFill>
        </p:spPr>
        <p:txBody>
          <a:bodyPr/>
          <a:lstStyle/>
          <a:p>
            <a:endParaRPr lang="en-US"/>
          </a:p>
        </p:txBody>
      </p:sp>
      <p:sp>
        <p:nvSpPr>
          <p:cNvPr id="35" name="Freeform 35"/>
          <p:cNvSpPr/>
          <p:nvPr/>
        </p:nvSpPr>
        <p:spPr>
          <a:xfrm rot="4686329">
            <a:off x="1318774" y="3499971"/>
            <a:ext cx="2405101" cy="2897712"/>
          </a:xfrm>
          <a:custGeom>
            <a:avLst/>
            <a:gdLst/>
            <a:ahLst/>
            <a:cxnLst/>
            <a:rect l="l" t="t" r="r" b="b"/>
            <a:pathLst>
              <a:path w="2405101" h="2897712">
                <a:moveTo>
                  <a:pt x="0" y="0"/>
                </a:moveTo>
                <a:lnTo>
                  <a:pt x="2405101" y="0"/>
                </a:lnTo>
                <a:lnTo>
                  <a:pt x="2405101" y="2897711"/>
                </a:lnTo>
                <a:lnTo>
                  <a:pt x="0" y="2897711"/>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258C41EE-A113-5F6D-5740-A69EED075DA4}"/>
              </a:ext>
            </a:extLst>
          </p:cNvPr>
          <p:cNvSpPr/>
          <p:nvPr/>
        </p:nvSpPr>
        <p:spPr>
          <a:xfrm>
            <a:off x="0" y="-1083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grpSp>
        <p:nvGrpSpPr>
          <p:cNvPr id="3" name="Group 3">
            <a:extLst>
              <a:ext uri="{FF2B5EF4-FFF2-40B4-BE49-F238E27FC236}">
                <a16:creationId xmlns:a16="http://schemas.microsoft.com/office/drawing/2014/main" id="{2F34A9E4-2CC6-B4EA-2367-186A6B7AC93F}"/>
              </a:ext>
            </a:extLst>
          </p:cNvPr>
          <p:cNvGrpSpPr/>
          <p:nvPr/>
        </p:nvGrpSpPr>
        <p:grpSpPr>
          <a:xfrm>
            <a:off x="565664" y="4866097"/>
            <a:ext cx="5126720" cy="2459355"/>
            <a:chOff x="0" y="0"/>
            <a:chExt cx="1350247" cy="647731"/>
          </a:xfrm>
        </p:grpSpPr>
        <p:sp>
          <p:nvSpPr>
            <p:cNvPr id="4" name="Freeform 4">
              <a:extLst>
                <a:ext uri="{FF2B5EF4-FFF2-40B4-BE49-F238E27FC236}">
                  <a16:creationId xmlns:a16="http://schemas.microsoft.com/office/drawing/2014/main" id="{DA538F29-78DC-E329-9C98-1C107373DCAA}"/>
                </a:ext>
              </a:extLst>
            </p:cNvPr>
            <p:cNvSpPr/>
            <p:nvPr/>
          </p:nvSpPr>
          <p:spPr>
            <a:xfrm>
              <a:off x="0" y="0"/>
              <a:ext cx="1350247" cy="647731"/>
            </a:xfrm>
            <a:custGeom>
              <a:avLst/>
              <a:gdLst/>
              <a:ahLst/>
              <a:cxnLst/>
              <a:rect l="l" t="t" r="r" b="b"/>
              <a:pathLst>
                <a:path w="1350247" h="647731">
                  <a:moveTo>
                    <a:pt x="1350247" y="30202"/>
                  </a:moveTo>
                  <a:lnTo>
                    <a:pt x="1350247" y="617529"/>
                  </a:lnTo>
                  <a:cubicBezTo>
                    <a:pt x="1350247" y="625539"/>
                    <a:pt x="1347065" y="633221"/>
                    <a:pt x="1341401" y="638885"/>
                  </a:cubicBezTo>
                  <a:cubicBezTo>
                    <a:pt x="1335737" y="644549"/>
                    <a:pt x="1328055" y="647731"/>
                    <a:pt x="1320045" y="647731"/>
                  </a:cubicBezTo>
                  <a:lnTo>
                    <a:pt x="30202" y="647731"/>
                  </a:lnTo>
                  <a:cubicBezTo>
                    <a:pt x="22192" y="647731"/>
                    <a:pt x="14510" y="644549"/>
                    <a:pt x="8846" y="638885"/>
                  </a:cubicBezTo>
                  <a:cubicBezTo>
                    <a:pt x="3182" y="633221"/>
                    <a:pt x="0" y="625539"/>
                    <a:pt x="0" y="617529"/>
                  </a:cubicBezTo>
                  <a:lnTo>
                    <a:pt x="0" y="30202"/>
                  </a:lnTo>
                  <a:cubicBezTo>
                    <a:pt x="0" y="22192"/>
                    <a:pt x="3182" y="14510"/>
                    <a:pt x="8846" y="8846"/>
                  </a:cubicBezTo>
                  <a:cubicBezTo>
                    <a:pt x="14510" y="3182"/>
                    <a:pt x="22192" y="0"/>
                    <a:pt x="30202" y="0"/>
                  </a:cubicBezTo>
                  <a:lnTo>
                    <a:pt x="1320045" y="0"/>
                  </a:lnTo>
                  <a:cubicBezTo>
                    <a:pt x="1328055" y="0"/>
                    <a:pt x="1335737" y="3182"/>
                    <a:pt x="1341401" y="8846"/>
                  </a:cubicBezTo>
                  <a:cubicBezTo>
                    <a:pt x="1347065" y="14510"/>
                    <a:pt x="1350247" y="22192"/>
                    <a:pt x="1350247" y="30202"/>
                  </a:cubicBezTo>
                  <a:close/>
                </a:path>
              </a:pathLst>
            </a:custGeom>
            <a:solidFill>
              <a:srgbClr val="CCF1F0"/>
            </a:solidFill>
          </p:spPr>
          <p:txBody>
            <a:bodyPr/>
            <a:lstStyle/>
            <a:p>
              <a:endParaRPr lang="en-US"/>
            </a:p>
          </p:txBody>
        </p:sp>
        <p:sp>
          <p:nvSpPr>
            <p:cNvPr id="5" name="TextBox 5">
              <a:extLst>
                <a:ext uri="{FF2B5EF4-FFF2-40B4-BE49-F238E27FC236}">
                  <a16:creationId xmlns:a16="http://schemas.microsoft.com/office/drawing/2014/main" id="{74EC89B5-59E8-8DE5-C522-C08A8DF423F9}"/>
                </a:ext>
              </a:extLst>
            </p:cNvPr>
            <p:cNvSpPr txBox="1"/>
            <p:nvPr/>
          </p:nvSpPr>
          <p:spPr>
            <a:xfrm>
              <a:off x="0" y="-38100"/>
              <a:ext cx="1350247" cy="685831"/>
            </a:xfrm>
            <a:prstGeom prst="rect">
              <a:avLst/>
            </a:prstGeom>
          </p:spPr>
          <p:txBody>
            <a:bodyPr lIns="50800" tIns="50800" rIns="50800" bIns="50800" rtlCol="0" anchor="ctr"/>
            <a:lstStyle/>
            <a:p>
              <a:pPr marL="0" lvl="0" indent="0" algn="ctr">
                <a:lnSpc>
                  <a:spcPts val="2659"/>
                </a:lnSpc>
              </a:pPr>
              <a:endParaRPr/>
            </a:p>
          </p:txBody>
        </p:sp>
      </p:grpSp>
      <p:grpSp>
        <p:nvGrpSpPr>
          <p:cNvPr id="9" name="Group 9">
            <a:extLst>
              <a:ext uri="{FF2B5EF4-FFF2-40B4-BE49-F238E27FC236}">
                <a16:creationId xmlns:a16="http://schemas.microsoft.com/office/drawing/2014/main" id="{43C836A0-536E-A325-647D-7C90B67E7A61}"/>
              </a:ext>
            </a:extLst>
          </p:cNvPr>
          <p:cNvGrpSpPr/>
          <p:nvPr/>
        </p:nvGrpSpPr>
        <p:grpSpPr>
          <a:xfrm>
            <a:off x="12783320" y="4832825"/>
            <a:ext cx="5126720" cy="2459355"/>
            <a:chOff x="0" y="0"/>
            <a:chExt cx="1350247" cy="647731"/>
          </a:xfrm>
        </p:grpSpPr>
        <p:sp>
          <p:nvSpPr>
            <p:cNvPr id="10" name="Freeform 10">
              <a:extLst>
                <a:ext uri="{FF2B5EF4-FFF2-40B4-BE49-F238E27FC236}">
                  <a16:creationId xmlns:a16="http://schemas.microsoft.com/office/drawing/2014/main" id="{34BEF656-739F-9DAE-FD52-43A8E2004048}"/>
                </a:ext>
              </a:extLst>
            </p:cNvPr>
            <p:cNvSpPr/>
            <p:nvPr/>
          </p:nvSpPr>
          <p:spPr>
            <a:xfrm>
              <a:off x="0" y="0"/>
              <a:ext cx="1350247" cy="647731"/>
            </a:xfrm>
            <a:custGeom>
              <a:avLst/>
              <a:gdLst/>
              <a:ahLst/>
              <a:cxnLst/>
              <a:rect l="l" t="t" r="r" b="b"/>
              <a:pathLst>
                <a:path w="1350247" h="647731">
                  <a:moveTo>
                    <a:pt x="1350247" y="30202"/>
                  </a:moveTo>
                  <a:lnTo>
                    <a:pt x="1350247" y="617529"/>
                  </a:lnTo>
                  <a:cubicBezTo>
                    <a:pt x="1350247" y="625539"/>
                    <a:pt x="1347065" y="633221"/>
                    <a:pt x="1341401" y="638885"/>
                  </a:cubicBezTo>
                  <a:cubicBezTo>
                    <a:pt x="1335737" y="644549"/>
                    <a:pt x="1328055" y="647731"/>
                    <a:pt x="1320045" y="647731"/>
                  </a:cubicBezTo>
                  <a:lnTo>
                    <a:pt x="30202" y="647731"/>
                  </a:lnTo>
                  <a:cubicBezTo>
                    <a:pt x="22192" y="647731"/>
                    <a:pt x="14510" y="644549"/>
                    <a:pt x="8846" y="638885"/>
                  </a:cubicBezTo>
                  <a:cubicBezTo>
                    <a:pt x="3182" y="633221"/>
                    <a:pt x="0" y="625539"/>
                    <a:pt x="0" y="617529"/>
                  </a:cubicBezTo>
                  <a:lnTo>
                    <a:pt x="0" y="30202"/>
                  </a:lnTo>
                  <a:cubicBezTo>
                    <a:pt x="0" y="22192"/>
                    <a:pt x="3182" y="14510"/>
                    <a:pt x="8846" y="8846"/>
                  </a:cubicBezTo>
                  <a:cubicBezTo>
                    <a:pt x="14510" y="3182"/>
                    <a:pt x="22192" y="0"/>
                    <a:pt x="30202" y="0"/>
                  </a:cubicBezTo>
                  <a:lnTo>
                    <a:pt x="1320045" y="0"/>
                  </a:lnTo>
                  <a:cubicBezTo>
                    <a:pt x="1328055" y="0"/>
                    <a:pt x="1335737" y="3182"/>
                    <a:pt x="1341401" y="8846"/>
                  </a:cubicBezTo>
                  <a:cubicBezTo>
                    <a:pt x="1347065" y="14510"/>
                    <a:pt x="1350247" y="22192"/>
                    <a:pt x="1350247" y="30202"/>
                  </a:cubicBezTo>
                  <a:close/>
                </a:path>
              </a:pathLst>
            </a:custGeom>
            <a:solidFill>
              <a:srgbClr val="CCF1F0"/>
            </a:solidFill>
          </p:spPr>
          <p:txBody>
            <a:bodyPr/>
            <a:lstStyle/>
            <a:p>
              <a:endParaRPr lang="en-US"/>
            </a:p>
          </p:txBody>
        </p:sp>
        <p:sp>
          <p:nvSpPr>
            <p:cNvPr id="11" name="TextBox 11">
              <a:extLst>
                <a:ext uri="{FF2B5EF4-FFF2-40B4-BE49-F238E27FC236}">
                  <a16:creationId xmlns:a16="http://schemas.microsoft.com/office/drawing/2014/main" id="{A176A495-A55F-3786-7A49-EAA46E8A8916}"/>
                </a:ext>
              </a:extLst>
            </p:cNvPr>
            <p:cNvSpPr txBox="1"/>
            <p:nvPr/>
          </p:nvSpPr>
          <p:spPr>
            <a:xfrm>
              <a:off x="0" y="-38100"/>
              <a:ext cx="1350247" cy="685831"/>
            </a:xfrm>
            <a:prstGeom prst="rect">
              <a:avLst/>
            </a:prstGeom>
          </p:spPr>
          <p:txBody>
            <a:bodyPr lIns="50800" tIns="50800" rIns="50800" bIns="50800" rtlCol="0" anchor="ctr"/>
            <a:lstStyle/>
            <a:p>
              <a:pPr marL="0" lvl="0" indent="0" algn="ctr">
                <a:lnSpc>
                  <a:spcPts val="2659"/>
                </a:lnSpc>
              </a:pPr>
              <a:endParaRPr/>
            </a:p>
          </p:txBody>
        </p:sp>
      </p:grpSp>
      <p:sp>
        <p:nvSpPr>
          <p:cNvPr id="12" name="TextBox 12">
            <a:extLst>
              <a:ext uri="{FF2B5EF4-FFF2-40B4-BE49-F238E27FC236}">
                <a16:creationId xmlns:a16="http://schemas.microsoft.com/office/drawing/2014/main" id="{1811713F-1452-3047-10E9-04C3C5741007}"/>
              </a:ext>
            </a:extLst>
          </p:cNvPr>
          <p:cNvSpPr txBox="1"/>
          <p:nvPr/>
        </p:nvSpPr>
        <p:spPr>
          <a:xfrm>
            <a:off x="3374697" y="1372763"/>
            <a:ext cx="10746421" cy="2586926"/>
          </a:xfrm>
          <a:prstGeom prst="rect">
            <a:avLst/>
          </a:prstGeom>
        </p:spPr>
        <p:txBody>
          <a:bodyPr lIns="0" tIns="0" rIns="0" bIns="0" rtlCol="0" anchor="t">
            <a:spAutoFit/>
          </a:bodyPr>
          <a:lstStyle/>
          <a:p>
            <a:pPr marL="0" lvl="0" indent="0" algn="ctr">
              <a:lnSpc>
                <a:spcPts val="10072"/>
              </a:lnSpc>
            </a:pPr>
            <a:r>
              <a:rPr lang="en-US" sz="8993" b="1" dirty="0">
                <a:solidFill>
                  <a:srgbClr val="388D89"/>
                </a:solidFill>
                <a:latin typeface="Roboto Bold"/>
                <a:ea typeface="Roboto Bold"/>
                <a:cs typeface="Roboto Bold"/>
                <a:sym typeface="Roboto Bold"/>
              </a:rPr>
              <a:t>PYTHON TOOLS &amp; LIBRARIES</a:t>
            </a:r>
          </a:p>
        </p:txBody>
      </p:sp>
      <p:sp>
        <p:nvSpPr>
          <p:cNvPr id="13" name="TextBox 13">
            <a:extLst>
              <a:ext uri="{FF2B5EF4-FFF2-40B4-BE49-F238E27FC236}">
                <a16:creationId xmlns:a16="http://schemas.microsoft.com/office/drawing/2014/main" id="{C0D62C15-3E1B-8FEE-6078-B13EF8A822AD}"/>
              </a:ext>
            </a:extLst>
          </p:cNvPr>
          <p:cNvSpPr txBox="1"/>
          <p:nvPr/>
        </p:nvSpPr>
        <p:spPr>
          <a:xfrm>
            <a:off x="893159" y="6037188"/>
            <a:ext cx="4471730" cy="848887"/>
          </a:xfrm>
          <a:prstGeom prst="rect">
            <a:avLst/>
          </a:prstGeom>
        </p:spPr>
        <p:txBody>
          <a:bodyPr lIns="0" tIns="0" rIns="0" bIns="0" rtlCol="0" anchor="t">
            <a:spAutoFit/>
          </a:bodyPr>
          <a:lstStyle/>
          <a:p>
            <a:pPr marL="0" lvl="0" indent="0" algn="just">
              <a:lnSpc>
                <a:spcPts val="3480"/>
              </a:lnSpc>
            </a:pPr>
            <a:r>
              <a:rPr lang="en-US" sz="1977" dirty="0">
                <a:solidFill>
                  <a:srgbClr val="388D89"/>
                </a:solidFill>
                <a:latin typeface="Roboto"/>
                <a:ea typeface="Roboto"/>
                <a:cs typeface="Roboto"/>
                <a:sym typeface="Roboto"/>
              </a:rPr>
              <a:t>Linear regression is a basic machine learning algorithm used for </a:t>
            </a:r>
            <a:r>
              <a:rPr lang="en-US" sz="1977" dirty="0" err="1">
                <a:solidFill>
                  <a:srgbClr val="388D89"/>
                </a:solidFill>
                <a:latin typeface="Roboto"/>
                <a:ea typeface="Roboto"/>
                <a:cs typeface="Roboto"/>
                <a:sym typeface="Roboto"/>
              </a:rPr>
              <a:t>predicsion</a:t>
            </a:r>
            <a:r>
              <a:rPr lang="en-US" sz="1977" dirty="0">
                <a:solidFill>
                  <a:srgbClr val="388D89"/>
                </a:solidFill>
                <a:latin typeface="Roboto"/>
                <a:ea typeface="Roboto"/>
                <a:cs typeface="Roboto"/>
                <a:sym typeface="Roboto"/>
              </a:rPr>
              <a:t>.</a:t>
            </a:r>
          </a:p>
        </p:txBody>
      </p:sp>
      <p:sp>
        <p:nvSpPr>
          <p:cNvPr id="14" name="TextBox 14">
            <a:extLst>
              <a:ext uri="{FF2B5EF4-FFF2-40B4-BE49-F238E27FC236}">
                <a16:creationId xmlns:a16="http://schemas.microsoft.com/office/drawing/2014/main" id="{C8E1637E-B2C9-7F12-3131-199A63578261}"/>
              </a:ext>
            </a:extLst>
          </p:cNvPr>
          <p:cNvSpPr txBox="1"/>
          <p:nvPr/>
        </p:nvSpPr>
        <p:spPr>
          <a:xfrm>
            <a:off x="893159" y="5401825"/>
            <a:ext cx="4471730" cy="384721"/>
          </a:xfrm>
          <a:prstGeom prst="rect">
            <a:avLst/>
          </a:prstGeom>
        </p:spPr>
        <p:txBody>
          <a:bodyPr lIns="0" tIns="0" rIns="0" bIns="0" rtlCol="0" anchor="t">
            <a:spAutoFit/>
          </a:bodyPr>
          <a:lstStyle/>
          <a:p>
            <a:pPr marL="0" lvl="0" indent="0" algn="l">
              <a:lnSpc>
                <a:spcPts val="3027"/>
              </a:lnSpc>
            </a:pPr>
            <a:r>
              <a:rPr lang="en-US" sz="2997" b="1" dirty="0">
                <a:solidFill>
                  <a:srgbClr val="388D89"/>
                </a:solidFill>
                <a:latin typeface="Roboto Bold"/>
                <a:ea typeface="Roboto Bold"/>
                <a:cs typeface="Roboto Bold"/>
                <a:sym typeface="Roboto Bold"/>
              </a:rPr>
              <a:t>Linear Regression</a:t>
            </a:r>
          </a:p>
        </p:txBody>
      </p:sp>
      <p:grpSp>
        <p:nvGrpSpPr>
          <p:cNvPr id="15" name="Group 15">
            <a:extLst>
              <a:ext uri="{FF2B5EF4-FFF2-40B4-BE49-F238E27FC236}">
                <a16:creationId xmlns:a16="http://schemas.microsoft.com/office/drawing/2014/main" id="{30554416-4B70-6F12-0A18-6A80A12E0B58}"/>
              </a:ext>
            </a:extLst>
          </p:cNvPr>
          <p:cNvGrpSpPr/>
          <p:nvPr/>
        </p:nvGrpSpPr>
        <p:grpSpPr>
          <a:xfrm>
            <a:off x="6674492" y="4879841"/>
            <a:ext cx="5126720" cy="2459355"/>
            <a:chOff x="0" y="0"/>
            <a:chExt cx="1350247" cy="647731"/>
          </a:xfrm>
        </p:grpSpPr>
        <p:sp>
          <p:nvSpPr>
            <p:cNvPr id="16" name="Freeform 16">
              <a:extLst>
                <a:ext uri="{FF2B5EF4-FFF2-40B4-BE49-F238E27FC236}">
                  <a16:creationId xmlns:a16="http://schemas.microsoft.com/office/drawing/2014/main" id="{01F1F6F4-29CF-CFBD-553E-B71D3BE3934F}"/>
                </a:ext>
              </a:extLst>
            </p:cNvPr>
            <p:cNvSpPr/>
            <p:nvPr/>
          </p:nvSpPr>
          <p:spPr>
            <a:xfrm>
              <a:off x="0" y="0"/>
              <a:ext cx="1350247" cy="647731"/>
            </a:xfrm>
            <a:custGeom>
              <a:avLst/>
              <a:gdLst/>
              <a:ahLst/>
              <a:cxnLst/>
              <a:rect l="l" t="t" r="r" b="b"/>
              <a:pathLst>
                <a:path w="1350247" h="647731">
                  <a:moveTo>
                    <a:pt x="1350247" y="30202"/>
                  </a:moveTo>
                  <a:lnTo>
                    <a:pt x="1350247" y="617529"/>
                  </a:lnTo>
                  <a:cubicBezTo>
                    <a:pt x="1350247" y="625539"/>
                    <a:pt x="1347065" y="633221"/>
                    <a:pt x="1341401" y="638885"/>
                  </a:cubicBezTo>
                  <a:cubicBezTo>
                    <a:pt x="1335737" y="644549"/>
                    <a:pt x="1328055" y="647731"/>
                    <a:pt x="1320045" y="647731"/>
                  </a:cubicBezTo>
                  <a:lnTo>
                    <a:pt x="30202" y="647731"/>
                  </a:lnTo>
                  <a:cubicBezTo>
                    <a:pt x="22192" y="647731"/>
                    <a:pt x="14510" y="644549"/>
                    <a:pt x="8846" y="638885"/>
                  </a:cubicBezTo>
                  <a:cubicBezTo>
                    <a:pt x="3182" y="633221"/>
                    <a:pt x="0" y="625539"/>
                    <a:pt x="0" y="617529"/>
                  </a:cubicBezTo>
                  <a:lnTo>
                    <a:pt x="0" y="30202"/>
                  </a:lnTo>
                  <a:cubicBezTo>
                    <a:pt x="0" y="22192"/>
                    <a:pt x="3182" y="14510"/>
                    <a:pt x="8846" y="8846"/>
                  </a:cubicBezTo>
                  <a:cubicBezTo>
                    <a:pt x="14510" y="3182"/>
                    <a:pt x="22192" y="0"/>
                    <a:pt x="30202" y="0"/>
                  </a:cubicBezTo>
                  <a:lnTo>
                    <a:pt x="1320045" y="0"/>
                  </a:lnTo>
                  <a:cubicBezTo>
                    <a:pt x="1328055" y="0"/>
                    <a:pt x="1335737" y="3182"/>
                    <a:pt x="1341401" y="8846"/>
                  </a:cubicBezTo>
                  <a:cubicBezTo>
                    <a:pt x="1347065" y="14510"/>
                    <a:pt x="1350247" y="22192"/>
                    <a:pt x="1350247" y="30202"/>
                  </a:cubicBezTo>
                  <a:close/>
                </a:path>
              </a:pathLst>
            </a:custGeom>
            <a:solidFill>
              <a:srgbClr val="388D89"/>
            </a:solidFill>
          </p:spPr>
          <p:txBody>
            <a:bodyPr/>
            <a:lstStyle/>
            <a:p>
              <a:endParaRPr lang="en-US"/>
            </a:p>
          </p:txBody>
        </p:sp>
        <p:sp>
          <p:nvSpPr>
            <p:cNvPr id="17" name="TextBox 17">
              <a:extLst>
                <a:ext uri="{FF2B5EF4-FFF2-40B4-BE49-F238E27FC236}">
                  <a16:creationId xmlns:a16="http://schemas.microsoft.com/office/drawing/2014/main" id="{5D6C6D6F-6021-C86E-BA55-F6C493AECE1C}"/>
                </a:ext>
              </a:extLst>
            </p:cNvPr>
            <p:cNvSpPr txBox="1"/>
            <p:nvPr/>
          </p:nvSpPr>
          <p:spPr>
            <a:xfrm>
              <a:off x="0" y="-38100"/>
              <a:ext cx="1350247" cy="685831"/>
            </a:xfrm>
            <a:prstGeom prst="rect">
              <a:avLst/>
            </a:prstGeom>
          </p:spPr>
          <p:txBody>
            <a:bodyPr lIns="50800" tIns="50800" rIns="50800" bIns="50800" rtlCol="0" anchor="ctr"/>
            <a:lstStyle/>
            <a:p>
              <a:pPr marL="0" lvl="0" indent="0" algn="ctr">
                <a:lnSpc>
                  <a:spcPts val="2659"/>
                </a:lnSpc>
              </a:pPr>
              <a:endParaRPr/>
            </a:p>
          </p:txBody>
        </p:sp>
      </p:grpSp>
      <p:sp>
        <p:nvSpPr>
          <p:cNvPr id="18" name="TextBox 18">
            <a:extLst>
              <a:ext uri="{FF2B5EF4-FFF2-40B4-BE49-F238E27FC236}">
                <a16:creationId xmlns:a16="http://schemas.microsoft.com/office/drawing/2014/main" id="{FAB44431-4CDA-08FD-604B-D485C60A4C83}"/>
              </a:ext>
            </a:extLst>
          </p:cNvPr>
          <p:cNvSpPr txBox="1"/>
          <p:nvPr/>
        </p:nvSpPr>
        <p:spPr>
          <a:xfrm>
            <a:off x="6908135" y="5961725"/>
            <a:ext cx="4471730" cy="848887"/>
          </a:xfrm>
          <a:prstGeom prst="rect">
            <a:avLst/>
          </a:prstGeom>
        </p:spPr>
        <p:txBody>
          <a:bodyPr lIns="0" tIns="0" rIns="0" bIns="0" rtlCol="0" anchor="t">
            <a:spAutoFit/>
          </a:bodyPr>
          <a:lstStyle/>
          <a:p>
            <a:pPr marL="0" lvl="0" indent="0" algn="just">
              <a:lnSpc>
                <a:spcPts val="3480"/>
              </a:lnSpc>
            </a:pPr>
            <a:r>
              <a:rPr lang="en-US" sz="1977" dirty="0">
                <a:solidFill>
                  <a:srgbClr val="F8FFFF"/>
                </a:solidFill>
                <a:latin typeface="Roboto"/>
                <a:ea typeface="Roboto"/>
                <a:cs typeface="Roboto"/>
                <a:sym typeface="Roboto"/>
              </a:rPr>
              <a:t>Multiple Linear Regression is an advanced version of Linear Regression.</a:t>
            </a:r>
          </a:p>
        </p:txBody>
      </p:sp>
      <p:sp>
        <p:nvSpPr>
          <p:cNvPr id="19" name="TextBox 19">
            <a:extLst>
              <a:ext uri="{FF2B5EF4-FFF2-40B4-BE49-F238E27FC236}">
                <a16:creationId xmlns:a16="http://schemas.microsoft.com/office/drawing/2014/main" id="{95630A6F-EAD0-AED4-36BE-A229641DBB35}"/>
              </a:ext>
            </a:extLst>
          </p:cNvPr>
          <p:cNvSpPr txBox="1"/>
          <p:nvPr/>
        </p:nvSpPr>
        <p:spPr>
          <a:xfrm>
            <a:off x="7001986" y="5401825"/>
            <a:ext cx="4611521" cy="384721"/>
          </a:xfrm>
          <a:prstGeom prst="rect">
            <a:avLst/>
          </a:prstGeom>
        </p:spPr>
        <p:txBody>
          <a:bodyPr wrap="square" lIns="0" tIns="0" rIns="0" bIns="0" rtlCol="0" anchor="t">
            <a:spAutoFit/>
          </a:bodyPr>
          <a:lstStyle/>
          <a:p>
            <a:pPr marL="0" lvl="0" indent="0" algn="l">
              <a:lnSpc>
                <a:spcPts val="3027"/>
              </a:lnSpc>
            </a:pPr>
            <a:r>
              <a:rPr lang="en-US" sz="2997" b="1" dirty="0">
                <a:solidFill>
                  <a:srgbClr val="F8FFFF"/>
                </a:solidFill>
                <a:latin typeface="Roboto Bold"/>
                <a:ea typeface="Roboto Bold"/>
                <a:cs typeface="Roboto Bold"/>
                <a:sym typeface="Roboto Bold"/>
              </a:rPr>
              <a:t>Multiple Linear Regression</a:t>
            </a:r>
          </a:p>
        </p:txBody>
      </p:sp>
      <p:sp>
        <p:nvSpPr>
          <p:cNvPr id="20" name="TextBox 20">
            <a:extLst>
              <a:ext uri="{FF2B5EF4-FFF2-40B4-BE49-F238E27FC236}">
                <a16:creationId xmlns:a16="http://schemas.microsoft.com/office/drawing/2014/main" id="{C5B756C7-D1C9-375B-8ECC-F2EE66D7DFC6}"/>
              </a:ext>
            </a:extLst>
          </p:cNvPr>
          <p:cNvSpPr txBox="1"/>
          <p:nvPr/>
        </p:nvSpPr>
        <p:spPr>
          <a:xfrm>
            <a:off x="13110815" y="5866225"/>
            <a:ext cx="4471730" cy="848887"/>
          </a:xfrm>
          <a:prstGeom prst="rect">
            <a:avLst/>
          </a:prstGeom>
        </p:spPr>
        <p:txBody>
          <a:bodyPr lIns="0" tIns="0" rIns="0" bIns="0" rtlCol="0" anchor="t">
            <a:spAutoFit/>
          </a:bodyPr>
          <a:lstStyle/>
          <a:p>
            <a:pPr marL="0" lvl="0" indent="0" algn="just">
              <a:lnSpc>
                <a:spcPts val="3480"/>
              </a:lnSpc>
            </a:pPr>
            <a:r>
              <a:rPr lang="en-US" sz="1977" dirty="0">
                <a:solidFill>
                  <a:srgbClr val="388D89"/>
                </a:solidFill>
                <a:latin typeface="Roboto"/>
                <a:ea typeface="Roboto"/>
                <a:cs typeface="Roboto"/>
                <a:sym typeface="Roboto"/>
              </a:rPr>
              <a:t>Logistic Regression is used for classification problems.</a:t>
            </a:r>
          </a:p>
        </p:txBody>
      </p:sp>
      <p:sp>
        <p:nvSpPr>
          <p:cNvPr id="21" name="TextBox 21">
            <a:extLst>
              <a:ext uri="{FF2B5EF4-FFF2-40B4-BE49-F238E27FC236}">
                <a16:creationId xmlns:a16="http://schemas.microsoft.com/office/drawing/2014/main" id="{3A7C6B4D-A0DB-73AA-9063-2F0BD99F5691}"/>
              </a:ext>
            </a:extLst>
          </p:cNvPr>
          <p:cNvSpPr txBox="1"/>
          <p:nvPr/>
        </p:nvSpPr>
        <p:spPr>
          <a:xfrm>
            <a:off x="13110815" y="5417802"/>
            <a:ext cx="4471730" cy="384721"/>
          </a:xfrm>
          <a:prstGeom prst="rect">
            <a:avLst/>
          </a:prstGeom>
        </p:spPr>
        <p:txBody>
          <a:bodyPr lIns="0" tIns="0" rIns="0" bIns="0" rtlCol="0" anchor="t">
            <a:spAutoFit/>
          </a:bodyPr>
          <a:lstStyle/>
          <a:p>
            <a:pPr marL="0" lvl="0" indent="0" algn="l">
              <a:lnSpc>
                <a:spcPts val="3027"/>
              </a:lnSpc>
            </a:pPr>
            <a:r>
              <a:rPr lang="en-US" sz="2997" b="1" dirty="0">
                <a:solidFill>
                  <a:srgbClr val="388D89"/>
                </a:solidFill>
                <a:latin typeface="Roboto Bold"/>
                <a:ea typeface="Roboto Bold"/>
                <a:cs typeface="Roboto Bold"/>
                <a:sym typeface="Roboto Bold"/>
              </a:rPr>
              <a:t>Logistic Regression</a:t>
            </a:r>
          </a:p>
        </p:txBody>
      </p:sp>
      <p:sp>
        <p:nvSpPr>
          <p:cNvPr id="34" name="Freeform 34">
            <a:extLst>
              <a:ext uri="{FF2B5EF4-FFF2-40B4-BE49-F238E27FC236}">
                <a16:creationId xmlns:a16="http://schemas.microsoft.com/office/drawing/2014/main" id="{D17F9DAE-24A8-5EFA-A01E-C499221B0D22}"/>
              </a:ext>
            </a:extLst>
          </p:cNvPr>
          <p:cNvSpPr/>
          <p:nvPr/>
        </p:nvSpPr>
        <p:spPr>
          <a:xfrm>
            <a:off x="14020800" y="941878"/>
            <a:ext cx="3158890" cy="2845190"/>
          </a:xfrm>
          <a:custGeom>
            <a:avLst/>
            <a:gdLst/>
            <a:ahLst/>
            <a:cxnLst/>
            <a:rect l="l" t="t" r="r" b="b"/>
            <a:pathLst>
              <a:path w="3158890" h="2845190">
                <a:moveTo>
                  <a:pt x="0" y="0"/>
                </a:moveTo>
                <a:lnTo>
                  <a:pt x="3158890" y="0"/>
                </a:lnTo>
                <a:lnTo>
                  <a:pt x="3158890" y="2845190"/>
                </a:lnTo>
                <a:lnTo>
                  <a:pt x="0" y="2845190"/>
                </a:lnTo>
                <a:lnTo>
                  <a:pt x="0" y="0"/>
                </a:lnTo>
                <a:close/>
              </a:path>
            </a:pathLst>
          </a:custGeom>
          <a:blipFill>
            <a:blip r:embed="rId3"/>
            <a:stretch>
              <a:fillRect/>
            </a:stretch>
          </a:blipFill>
        </p:spPr>
        <p:txBody>
          <a:bodyPr/>
          <a:lstStyle/>
          <a:p>
            <a:endParaRPr lang="en-US"/>
          </a:p>
        </p:txBody>
      </p:sp>
      <p:sp>
        <p:nvSpPr>
          <p:cNvPr id="35" name="Freeform 35">
            <a:extLst>
              <a:ext uri="{FF2B5EF4-FFF2-40B4-BE49-F238E27FC236}">
                <a16:creationId xmlns:a16="http://schemas.microsoft.com/office/drawing/2014/main" id="{6455DC92-5298-8491-8757-EBF98168DB2A}"/>
              </a:ext>
            </a:extLst>
          </p:cNvPr>
          <p:cNvSpPr/>
          <p:nvPr/>
        </p:nvSpPr>
        <p:spPr>
          <a:xfrm rot="4686329">
            <a:off x="1028719" y="959884"/>
            <a:ext cx="2405101" cy="2897712"/>
          </a:xfrm>
          <a:custGeom>
            <a:avLst/>
            <a:gdLst/>
            <a:ahLst/>
            <a:cxnLst/>
            <a:rect l="l" t="t" r="r" b="b"/>
            <a:pathLst>
              <a:path w="2405101" h="2897712">
                <a:moveTo>
                  <a:pt x="0" y="0"/>
                </a:moveTo>
                <a:lnTo>
                  <a:pt x="2405101" y="0"/>
                </a:lnTo>
                <a:lnTo>
                  <a:pt x="2405101" y="2897711"/>
                </a:lnTo>
                <a:lnTo>
                  <a:pt x="0" y="2897711"/>
                </a:lnTo>
                <a:lnTo>
                  <a:pt x="0" y="0"/>
                </a:lnTo>
                <a:close/>
              </a:path>
            </a:pathLst>
          </a:custGeom>
          <a:blipFill>
            <a:blip r:embed="rId4"/>
            <a:stretch>
              <a:fillRect/>
            </a:stretch>
          </a:blipFill>
        </p:spPr>
        <p:txBody>
          <a:bodyPr/>
          <a:lstStyle/>
          <a:p>
            <a:endParaRPr lang="en-US"/>
          </a:p>
        </p:txBody>
      </p:sp>
      <p:sp>
        <p:nvSpPr>
          <p:cNvPr id="36" name="Freeform 19">
            <a:extLst>
              <a:ext uri="{FF2B5EF4-FFF2-40B4-BE49-F238E27FC236}">
                <a16:creationId xmlns:a16="http://schemas.microsoft.com/office/drawing/2014/main" id="{F91F86FF-EA9B-CB14-4FE7-E30073347B05}"/>
              </a:ext>
            </a:extLst>
          </p:cNvPr>
          <p:cNvSpPr/>
          <p:nvPr/>
        </p:nvSpPr>
        <p:spPr>
          <a:xfrm>
            <a:off x="-594005" y="8431556"/>
            <a:ext cx="2578968" cy="2514494"/>
          </a:xfrm>
          <a:custGeom>
            <a:avLst/>
            <a:gdLst/>
            <a:ahLst/>
            <a:cxnLst/>
            <a:rect l="l" t="t" r="r" b="b"/>
            <a:pathLst>
              <a:path w="2578968" h="2514494">
                <a:moveTo>
                  <a:pt x="0" y="0"/>
                </a:moveTo>
                <a:lnTo>
                  <a:pt x="2578969" y="0"/>
                </a:lnTo>
                <a:lnTo>
                  <a:pt x="2578969" y="2514495"/>
                </a:lnTo>
                <a:lnTo>
                  <a:pt x="0" y="2514495"/>
                </a:lnTo>
                <a:lnTo>
                  <a:pt x="0" y="0"/>
                </a:lnTo>
                <a:close/>
              </a:path>
            </a:pathLst>
          </a:custGeom>
          <a:blipFill>
            <a:blip r:embed="rId5"/>
            <a:stretch>
              <a:fillRect/>
            </a:stretch>
          </a:blipFill>
        </p:spPr>
        <p:txBody>
          <a:bodyPr/>
          <a:lstStyle/>
          <a:p>
            <a:endParaRPr lang="en-US"/>
          </a:p>
        </p:txBody>
      </p:sp>
      <p:sp>
        <p:nvSpPr>
          <p:cNvPr id="37" name="Freeform 21">
            <a:extLst>
              <a:ext uri="{FF2B5EF4-FFF2-40B4-BE49-F238E27FC236}">
                <a16:creationId xmlns:a16="http://schemas.microsoft.com/office/drawing/2014/main" id="{182D6AA4-8BAF-A0B6-CABF-50A6AF479936}"/>
              </a:ext>
            </a:extLst>
          </p:cNvPr>
          <p:cNvSpPr/>
          <p:nvPr/>
        </p:nvSpPr>
        <p:spPr>
          <a:xfrm>
            <a:off x="2359493" y="8675159"/>
            <a:ext cx="2669832" cy="2335530"/>
          </a:xfrm>
          <a:custGeom>
            <a:avLst/>
            <a:gdLst/>
            <a:ahLst/>
            <a:cxnLst/>
            <a:rect l="l" t="t" r="r" b="b"/>
            <a:pathLst>
              <a:path w="2669832" h="2335530">
                <a:moveTo>
                  <a:pt x="0" y="0"/>
                </a:moveTo>
                <a:lnTo>
                  <a:pt x="2669832" y="0"/>
                </a:lnTo>
                <a:lnTo>
                  <a:pt x="2669832" y="2335531"/>
                </a:lnTo>
                <a:lnTo>
                  <a:pt x="0" y="2335531"/>
                </a:lnTo>
                <a:lnTo>
                  <a:pt x="0" y="0"/>
                </a:lnTo>
                <a:close/>
              </a:path>
            </a:pathLst>
          </a:custGeom>
          <a:blipFill>
            <a:blip r:embed="rId6"/>
            <a:stretch>
              <a:fillRect/>
            </a:stretch>
          </a:blipFill>
        </p:spPr>
        <p:txBody>
          <a:bodyPr/>
          <a:lstStyle/>
          <a:p>
            <a:endParaRPr lang="en-US"/>
          </a:p>
        </p:txBody>
      </p:sp>
      <p:sp>
        <p:nvSpPr>
          <p:cNvPr id="38" name="Freeform 22">
            <a:extLst>
              <a:ext uri="{FF2B5EF4-FFF2-40B4-BE49-F238E27FC236}">
                <a16:creationId xmlns:a16="http://schemas.microsoft.com/office/drawing/2014/main" id="{05D51958-D2A3-FB05-CB88-8CE7BE0451BE}"/>
              </a:ext>
            </a:extLst>
          </p:cNvPr>
          <p:cNvSpPr/>
          <p:nvPr/>
        </p:nvSpPr>
        <p:spPr>
          <a:xfrm>
            <a:off x="5199838" y="8720109"/>
            <a:ext cx="2485894" cy="2123021"/>
          </a:xfrm>
          <a:custGeom>
            <a:avLst/>
            <a:gdLst/>
            <a:ahLst/>
            <a:cxnLst/>
            <a:rect l="l" t="t" r="r" b="b"/>
            <a:pathLst>
              <a:path w="2485894" h="2123021">
                <a:moveTo>
                  <a:pt x="0" y="0"/>
                </a:moveTo>
                <a:lnTo>
                  <a:pt x="2485895" y="0"/>
                </a:lnTo>
                <a:lnTo>
                  <a:pt x="2485895" y="2123021"/>
                </a:lnTo>
                <a:lnTo>
                  <a:pt x="0" y="2123021"/>
                </a:lnTo>
                <a:lnTo>
                  <a:pt x="0" y="0"/>
                </a:lnTo>
                <a:close/>
              </a:path>
            </a:pathLst>
          </a:custGeom>
          <a:blipFill>
            <a:blip r:embed="rId7"/>
            <a:stretch>
              <a:fillRect/>
            </a:stretch>
          </a:blipFill>
        </p:spPr>
        <p:txBody>
          <a:bodyPr/>
          <a:lstStyle/>
          <a:p>
            <a:endParaRPr lang="en-US"/>
          </a:p>
        </p:txBody>
      </p:sp>
      <p:sp>
        <p:nvSpPr>
          <p:cNvPr id="39" name="Freeform 23">
            <a:extLst>
              <a:ext uri="{FF2B5EF4-FFF2-40B4-BE49-F238E27FC236}">
                <a16:creationId xmlns:a16="http://schemas.microsoft.com/office/drawing/2014/main" id="{93654AF7-72CC-7A86-55BA-7FB6F2AE5344}"/>
              </a:ext>
            </a:extLst>
          </p:cNvPr>
          <p:cNvSpPr/>
          <p:nvPr/>
        </p:nvSpPr>
        <p:spPr>
          <a:xfrm>
            <a:off x="8673888" y="8522443"/>
            <a:ext cx="2158348" cy="2541034"/>
          </a:xfrm>
          <a:custGeom>
            <a:avLst/>
            <a:gdLst/>
            <a:ahLst/>
            <a:cxnLst/>
            <a:rect l="l" t="t" r="r" b="b"/>
            <a:pathLst>
              <a:path w="2158348" h="2541034">
                <a:moveTo>
                  <a:pt x="0" y="0"/>
                </a:moveTo>
                <a:lnTo>
                  <a:pt x="2158348" y="0"/>
                </a:lnTo>
                <a:lnTo>
                  <a:pt x="2158348" y="2541035"/>
                </a:lnTo>
                <a:lnTo>
                  <a:pt x="0" y="2541035"/>
                </a:lnTo>
                <a:lnTo>
                  <a:pt x="0" y="0"/>
                </a:lnTo>
                <a:close/>
              </a:path>
            </a:pathLst>
          </a:custGeom>
          <a:blipFill>
            <a:blip r:embed="rId8"/>
            <a:stretch>
              <a:fillRect/>
            </a:stretch>
          </a:blipFill>
        </p:spPr>
        <p:txBody>
          <a:bodyPr/>
          <a:lstStyle/>
          <a:p>
            <a:endParaRPr lang="en-US"/>
          </a:p>
        </p:txBody>
      </p:sp>
      <p:sp>
        <p:nvSpPr>
          <p:cNvPr id="40" name="Freeform 24">
            <a:extLst>
              <a:ext uri="{FF2B5EF4-FFF2-40B4-BE49-F238E27FC236}">
                <a16:creationId xmlns:a16="http://schemas.microsoft.com/office/drawing/2014/main" id="{2AEBD39D-48EF-6362-FD76-BE18AC688945}"/>
              </a:ext>
            </a:extLst>
          </p:cNvPr>
          <p:cNvSpPr/>
          <p:nvPr/>
        </p:nvSpPr>
        <p:spPr>
          <a:xfrm>
            <a:off x="11549866" y="8001543"/>
            <a:ext cx="3320988" cy="3878128"/>
          </a:xfrm>
          <a:custGeom>
            <a:avLst/>
            <a:gdLst/>
            <a:ahLst/>
            <a:cxnLst/>
            <a:rect l="l" t="t" r="r" b="b"/>
            <a:pathLst>
              <a:path w="3320988" h="3878128">
                <a:moveTo>
                  <a:pt x="0" y="0"/>
                </a:moveTo>
                <a:lnTo>
                  <a:pt x="3320988" y="0"/>
                </a:lnTo>
                <a:lnTo>
                  <a:pt x="3320988" y="3878128"/>
                </a:lnTo>
                <a:lnTo>
                  <a:pt x="0" y="3878128"/>
                </a:lnTo>
                <a:lnTo>
                  <a:pt x="0" y="0"/>
                </a:lnTo>
                <a:close/>
              </a:path>
            </a:pathLst>
          </a:custGeom>
          <a:blipFill>
            <a:blip r:embed="rId9"/>
            <a:stretch>
              <a:fillRect/>
            </a:stretch>
          </a:blipFill>
        </p:spPr>
        <p:txBody>
          <a:bodyPr/>
          <a:lstStyle/>
          <a:p>
            <a:endParaRPr lang="en-US"/>
          </a:p>
        </p:txBody>
      </p:sp>
      <p:sp>
        <p:nvSpPr>
          <p:cNvPr id="41" name="Freeform 20">
            <a:extLst>
              <a:ext uri="{FF2B5EF4-FFF2-40B4-BE49-F238E27FC236}">
                <a16:creationId xmlns:a16="http://schemas.microsoft.com/office/drawing/2014/main" id="{F7BF4AD9-A7EC-D4DD-BC8F-A257293A6A9D}"/>
              </a:ext>
            </a:extLst>
          </p:cNvPr>
          <p:cNvSpPr/>
          <p:nvPr/>
        </p:nvSpPr>
        <p:spPr>
          <a:xfrm rot="20619300">
            <a:off x="15362397" y="8080015"/>
            <a:ext cx="3658156" cy="3948132"/>
          </a:xfrm>
          <a:custGeom>
            <a:avLst/>
            <a:gdLst/>
            <a:ahLst/>
            <a:cxnLst/>
            <a:rect l="l" t="t" r="r" b="b"/>
            <a:pathLst>
              <a:path w="3658156" h="3948132">
                <a:moveTo>
                  <a:pt x="0" y="0"/>
                </a:moveTo>
                <a:lnTo>
                  <a:pt x="3658157" y="0"/>
                </a:lnTo>
                <a:lnTo>
                  <a:pt x="3658157" y="3948132"/>
                </a:lnTo>
                <a:lnTo>
                  <a:pt x="0" y="3948132"/>
                </a:lnTo>
                <a:lnTo>
                  <a:pt x="0" y="0"/>
                </a:lnTo>
                <a:close/>
              </a:path>
            </a:pathLst>
          </a:custGeom>
          <a:blipFill>
            <a:blip r:embed="rId10"/>
            <a:stretch>
              <a:fillRect/>
            </a:stretch>
          </a:blipFill>
        </p:spPr>
        <p:txBody>
          <a:bodyPr/>
          <a:lstStyle/>
          <a:p>
            <a:endParaRPr lang="en-US"/>
          </a:p>
        </p:txBody>
      </p:sp>
    </p:spTree>
    <p:extLst>
      <p:ext uri="{BB962C8B-B14F-4D97-AF65-F5344CB8AC3E}">
        <p14:creationId xmlns:p14="http://schemas.microsoft.com/office/powerpoint/2010/main" val="2015231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TextBox 3"/>
          <p:cNvSpPr txBox="1"/>
          <p:nvPr/>
        </p:nvSpPr>
        <p:spPr>
          <a:xfrm>
            <a:off x="2043802" y="1085850"/>
            <a:ext cx="14200396" cy="2586926"/>
          </a:xfrm>
          <a:prstGeom prst="rect">
            <a:avLst/>
          </a:prstGeom>
        </p:spPr>
        <p:txBody>
          <a:bodyPr lIns="0" tIns="0" rIns="0" bIns="0" rtlCol="0" anchor="t">
            <a:spAutoFit/>
          </a:bodyPr>
          <a:lstStyle/>
          <a:p>
            <a:pPr marL="0" lvl="0" indent="0" algn="ctr">
              <a:lnSpc>
                <a:spcPts val="10072"/>
              </a:lnSpc>
            </a:pPr>
            <a:r>
              <a:rPr lang="en-US" sz="8993" b="1">
                <a:solidFill>
                  <a:srgbClr val="388D89"/>
                </a:solidFill>
                <a:latin typeface="Roboto Bold"/>
                <a:ea typeface="Roboto Bold"/>
                <a:cs typeface="Roboto Bold"/>
                <a:sym typeface="Roboto Bold"/>
              </a:rPr>
              <a:t>PROJECT TASKS OVERVIEW</a:t>
            </a:r>
          </a:p>
        </p:txBody>
      </p:sp>
      <p:grpSp>
        <p:nvGrpSpPr>
          <p:cNvPr id="4" name="Group 4"/>
          <p:cNvGrpSpPr/>
          <p:nvPr/>
        </p:nvGrpSpPr>
        <p:grpSpPr>
          <a:xfrm>
            <a:off x="1028700" y="4145148"/>
            <a:ext cx="5094071" cy="3541441"/>
            <a:chOff x="0" y="0"/>
            <a:chExt cx="1341648" cy="932725"/>
          </a:xfrm>
        </p:grpSpPr>
        <p:sp>
          <p:nvSpPr>
            <p:cNvPr id="5" name="Freeform 5"/>
            <p:cNvSpPr/>
            <p:nvPr/>
          </p:nvSpPr>
          <p:spPr>
            <a:xfrm>
              <a:off x="0" y="0"/>
              <a:ext cx="1341648" cy="932725"/>
            </a:xfrm>
            <a:custGeom>
              <a:avLst/>
              <a:gdLst/>
              <a:ahLst/>
              <a:cxnLst/>
              <a:rect l="l" t="t" r="r" b="b"/>
              <a:pathLst>
                <a:path w="1341648" h="932725">
                  <a:moveTo>
                    <a:pt x="1341648" y="45594"/>
                  </a:moveTo>
                  <a:lnTo>
                    <a:pt x="1341648" y="887132"/>
                  </a:lnTo>
                  <a:cubicBezTo>
                    <a:pt x="1341648" y="912312"/>
                    <a:pt x="1321235" y="932725"/>
                    <a:pt x="1296055" y="932725"/>
                  </a:cubicBezTo>
                  <a:lnTo>
                    <a:pt x="45594" y="932725"/>
                  </a:lnTo>
                  <a:cubicBezTo>
                    <a:pt x="20413" y="932725"/>
                    <a:pt x="0" y="912312"/>
                    <a:pt x="0" y="887132"/>
                  </a:cubicBezTo>
                  <a:lnTo>
                    <a:pt x="0" y="45594"/>
                  </a:lnTo>
                  <a:cubicBezTo>
                    <a:pt x="0" y="20413"/>
                    <a:pt x="20413" y="0"/>
                    <a:pt x="45594" y="0"/>
                  </a:cubicBezTo>
                  <a:lnTo>
                    <a:pt x="1296055" y="0"/>
                  </a:lnTo>
                  <a:cubicBezTo>
                    <a:pt x="1321235" y="0"/>
                    <a:pt x="1341648" y="20413"/>
                    <a:pt x="1341648" y="45594"/>
                  </a:cubicBezTo>
                  <a:close/>
                </a:path>
              </a:pathLst>
            </a:custGeom>
            <a:solidFill>
              <a:srgbClr val="388D89"/>
            </a:solidFill>
          </p:spPr>
          <p:txBody>
            <a:bodyPr/>
            <a:lstStyle/>
            <a:p>
              <a:endParaRPr lang="en-US"/>
            </a:p>
          </p:txBody>
        </p:sp>
        <p:sp>
          <p:nvSpPr>
            <p:cNvPr id="6" name="TextBox 6"/>
            <p:cNvSpPr txBox="1"/>
            <p:nvPr/>
          </p:nvSpPr>
          <p:spPr>
            <a:xfrm>
              <a:off x="0" y="-38100"/>
              <a:ext cx="1341648" cy="970825"/>
            </a:xfrm>
            <a:prstGeom prst="rect">
              <a:avLst/>
            </a:prstGeom>
          </p:spPr>
          <p:txBody>
            <a:bodyPr lIns="50800" tIns="50800" rIns="50800" bIns="50800" rtlCol="0" anchor="ctr"/>
            <a:lstStyle/>
            <a:p>
              <a:pPr marL="0" lvl="0" indent="0" algn="ctr">
                <a:lnSpc>
                  <a:spcPts val="2659"/>
                </a:lnSpc>
              </a:pPr>
              <a:endParaRPr/>
            </a:p>
          </p:txBody>
        </p:sp>
      </p:grpSp>
      <p:grpSp>
        <p:nvGrpSpPr>
          <p:cNvPr id="7" name="Group 7"/>
          <p:cNvGrpSpPr/>
          <p:nvPr/>
        </p:nvGrpSpPr>
        <p:grpSpPr>
          <a:xfrm>
            <a:off x="6596965" y="4145148"/>
            <a:ext cx="5094071" cy="3541441"/>
            <a:chOff x="0" y="0"/>
            <a:chExt cx="1341648" cy="932725"/>
          </a:xfrm>
        </p:grpSpPr>
        <p:sp>
          <p:nvSpPr>
            <p:cNvPr id="8" name="Freeform 8"/>
            <p:cNvSpPr/>
            <p:nvPr/>
          </p:nvSpPr>
          <p:spPr>
            <a:xfrm>
              <a:off x="0" y="0"/>
              <a:ext cx="1341648" cy="932725"/>
            </a:xfrm>
            <a:custGeom>
              <a:avLst/>
              <a:gdLst/>
              <a:ahLst/>
              <a:cxnLst/>
              <a:rect l="l" t="t" r="r" b="b"/>
              <a:pathLst>
                <a:path w="1341648" h="932725">
                  <a:moveTo>
                    <a:pt x="1341648" y="45594"/>
                  </a:moveTo>
                  <a:lnTo>
                    <a:pt x="1341648" y="887132"/>
                  </a:lnTo>
                  <a:cubicBezTo>
                    <a:pt x="1341648" y="912312"/>
                    <a:pt x="1321235" y="932725"/>
                    <a:pt x="1296055" y="932725"/>
                  </a:cubicBezTo>
                  <a:lnTo>
                    <a:pt x="45594" y="932725"/>
                  </a:lnTo>
                  <a:cubicBezTo>
                    <a:pt x="20413" y="932725"/>
                    <a:pt x="0" y="912312"/>
                    <a:pt x="0" y="887132"/>
                  </a:cubicBezTo>
                  <a:lnTo>
                    <a:pt x="0" y="45594"/>
                  </a:lnTo>
                  <a:cubicBezTo>
                    <a:pt x="0" y="20413"/>
                    <a:pt x="20413" y="0"/>
                    <a:pt x="45594" y="0"/>
                  </a:cubicBezTo>
                  <a:lnTo>
                    <a:pt x="1296055" y="0"/>
                  </a:lnTo>
                  <a:cubicBezTo>
                    <a:pt x="1321235" y="0"/>
                    <a:pt x="1341648" y="20413"/>
                    <a:pt x="1341648" y="45594"/>
                  </a:cubicBezTo>
                  <a:close/>
                </a:path>
              </a:pathLst>
            </a:custGeom>
            <a:solidFill>
              <a:srgbClr val="CCF1F0"/>
            </a:solidFill>
          </p:spPr>
          <p:txBody>
            <a:bodyPr/>
            <a:lstStyle/>
            <a:p>
              <a:endParaRPr lang="en-US"/>
            </a:p>
          </p:txBody>
        </p:sp>
        <p:sp>
          <p:nvSpPr>
            <p:cNvPr id="9" name="TextBox 9"/>
            <p:cNvSpPr txBox="1"/>
            <p:nvPr/>
          </p:nvSpPr>
          <p:spPr>
            <a:xfrm>
              <a:off x="0" y="-38100"/>
              <a:ext cx="1341648" cy="970825"/>
            </a:xfrm>
            <a:prstGeom prst="rect">
              <a:avLst/>
            </a:prstGeom>
          </p:spPr>
          <p:txBody>
            <a:bodyPr lIns="50800" tIns="50800" rIns="50800" bIns="50800" rtlCol="0" anchor="ctr"/>
            <a:lstStyle/>
            <a:p>
              <a:pPr marL="0" lvl="0" indent="0" algn="ctr">
                <a:lnSpc>
                  <a:spcPts val="2659"/>
                </a:lnSpc>
              </a:pPr>
              <a:endParaRPr/>
            </a:p>
          </p:txBody>
        </p:sp>
      </p:grpSp>
      <p:grpSp>
        <p:nvGrpSpPr>
          <p:cNvPr id="10" name="Group 10"/>
          <p:cNvGrpSpPr/>
          <p:nvPr/>
        </p:nvGrpSpPr>
        <p:grpSpPr>
          <a:xfrm>
            <a:off x="12165229" y="4145148"/>
            <a:ext cx="5094071" cy="3541441"/>
            <a:chOff x="0" y="0"/>
            <a:chExt cx="1341648" cy="932725"/>
          </a:xfrm>
        </p:grpSpPr>
        <p:sp>
          <p:nvSpPr>
            <p:cNvPr id="11" name="Freeform 11"/>
            <p:cNvSpPr/>
            <p:nvPr/>
          </p:nvSpPr>
          <p:spPr>
            <a:xfrm>
              <a:off x="0" y="0"/>
              <a:ext cx="1341648" cy="932725"/>
            </a:xfrm>
            <a:custGeom>
              <a:avLst/>
              <a:gdLst/>
              <a:ahLst/>
              <a:cxnLst/>
              <a:rect l="l" t="t" r="r" b="b"/>
              <a:pathLst>
                <a:path w="1341648" h="932725">
                  <a:moveTo>
                    <a:pt x="1341648" y="45594"/>
                  </a:moveTo>
                  <a:lnTo>
                    <a:pt x="1341648" y="887132"/>
                  </a:lnTo>
                  <a:cubicBezTo>
                    <a:pt x="1341648" y="912312"/>
                    <a:pt x="1321235" y="932725"/>
                    <a:pt x="1296055" y="932725"/>
                  </a:cubicBezTo>
                  <a:lnTo>
                    <a:pt x="45594" y="932725"/>
                  </a:lnTo>
                  <a:cubicBezTo>
                    <a:pt x="20413" y="932725"/>
                    <a:pt x="0" y="912312"/>
                    <a:pt x="0" y="887132"/>
                  </a:cubicBezTo>
                  <a:lnTo>
                    <a:pt x="0" y="45594"/>
                  </a:lnTo>
                  <a:cubicBezTo>
                    <a:pt x="0" y="20413"/>
                    <a:pt x="20413" y="0"/>
                    <a:pt x="45594" y="0"/>
                  </a:cubicBezTo>
                  <a:lnTo>
                    <a:pt x="1296055" y="0"/>
                  </a:lnTo>
                  <a:cubicBezTo>
                    <a:pt x="1321235" y="0"/>
                    <a:pt x="1341648" y="20413"/>
                    <a:pt x="1341648" y="45594"/>
                  </a:cubicBezTo>
                  <a:close/>
                </a:path>
              </a:pathLst>
            </a:custGeom>
            <a:solidFill>
              <a:srgbClr val="388D89"/>
            </a:solidFill>
          </p:spPr>
          <p:txBody>
            <a:bodyPr/>
            <a:lstStyle/>
            <a:p>
              <a:endParaRPr lang="en-US"/>
            </a:p>
          </p:txBody>
        </p:sp>
        <p:sp>
          <p:nvSpPr>
            <p:cNvPr id="12" name="TextBox 12"/>
            <p:cNvSpPr txBox="1"/>
            <p:nvPr/>
          </p:nvSpPr>
          <p:spPr>
            <a:xfrm>
              <a:off x="0" y="-38100"/>
              <a:ext cx="1341648" cy="970825"/>
            </a:xfrm>
            <a:prstGeom prst="rect">
              <a:avLst/>
            </a:prstGeom>
          </p:spPr>
          <p:txBody>
            <a:bodyPr lIns="50800" tIns="50800" rIns="50800" bIns="50800" rtlCol="0" anchor="ctr"/>
            <a:lstStyle/>
            <a:p>
              <a:pPr marL="0" lvl="0" indent="0" algn="ctr">
                <a:lnSpc>
                  <a:spcPts val="2659"/>
                </a:lnSpc>
              </a:pPr>
              <a:endParaRPr/>
            </a:p>
          </p:txBody>
        </p:sp>
      </p:grpSp>
      <p:sp>
        <p:nvSpPr>
          <p:cNvPr id="13" name="TextBox 13"/>
          <p:cNvSpPr txBox="1"/>
          <p:nvPr/>
        </p:nvSpPr>
        <p:spPr>
          <a:xfrm>
            <a:off x="1348907" y="5532015"/>
            <a:ext cx="4453657" cy="1114020"/>
          </a:xfrm>
          <a:prstGeom prst="rect">
            <a:avLst/>
          </a:prstGeom>
        </p:spPr>
        <p:txBody>
          <a:bodyPr lIns="0" tIns="0" rIns="0" bIns="0" rtlCol="0" anchor="t">
            <a:spAutoFit/>
          </a:bodyPr>
          <a:lstStyle/>
          <a:p>
            <a:pPr marL="0" lvl="0" indent="0" algn="just">
              <a:lnSpc>
                <a:spcPts val="3074"/>
              </a:lnSpc>
            </a:pPr>
            <a:r>
              <a:rPr lang="en-US" sz="1746">
                <a:solidFill>
                  <a:srgbClr val="F8FFFF"/>
                </a:solidFill>
                <a:latin typeface="Roboto"/>
                <a:ea typeface="Roboto"/>
                <a:cs typeface="Roboto"/>
                <a:sym typeface="Roboto"/>
              </a:rPr>
              <a:t>Begin with exploratory data analysis using EDA.ipynb to understand data patterns, distributions, and relationships.</a:t>
            </a:r>
          </a:p>
        </p:txBody>
      </p:sp>
      <p:sp>
        <p:nvSpPr>
          <p:cNvPr id="14" name="TextBox 14"/>
          <p:cNvSpPr txBox="1"/>
          <p:nvPr/>
        </p:nvSpPr>
        <p:spPr>
          <a:xfrm>
            <a:off x="1348907" y="4153548"/>
            <a:ext cx="4453657" cy="1240455"/>
          </a:xfrm>
          <a:prstGeom prst="rect">
            <a:avLst/>
          </a:prstGeom>
        </p:spPr>
        <p:txBody>
          <a:bodyPr lIns="0" tIns="0" rIns="0" bIns="0" rtlCol="0" anchor="t">
            <a:spAutoFit/>
          </a:bodyPr>
          <a:lstStyle/>
          <a:p>
            <a:pPr marL="0" lvl="0" indent="0" algn="just">
              <a:lnSpc>
                <a:spcPts val="10552"/>
              </a:lnSpc>
            </a:pPr>
            <a:r>
              <a:rPr lang="en-US" sz="5995" b="1">
                <a:solidFill>
                  <a:srgbClr val="F8FFFF"/>
                </a:solidFill>
                <a:latin typeface="Roboto Bold"/>
                <a:ea typeface="Roboto Bold"/>
                <a:cs typeface="Roboto Bold"/>
                <a:sym typeface="Roboto Bold"/>
              </a:rPr>
              <a:t>01</a:t>
            </a:r>
          </a:p>
        </p:txBody>
      </p:sp>
      <p:sp>
        <p:nvSpPr>
          <p:cNvPr id="15" name="TextBox 15"/>
          <p:cNvSpPr txBox="1"/>
          <p:nvPr/>
        </p:nvSpPr>
        <p:spPr>
          <a:xfrm>
            <a:off x="6917172" y="5537707"/>
            <a:ext cx="4453657" cy="1114020"/>
          </a:xfrm>
          <a:prstGeom prst="rect">
            <a:avLst/>
          </a:prstGeom>
        </p:spPr>
        <p:txBody>
          <a:bodyPr lIns="0" tIns="0" rIns="0" bIns="0" rtlCol="0" anchor="t">
            <a:spAutoFit/>
          </a:bodyPr>
          <a:lstStyle/>
          <a:p>
            <a:pPr marL="0" lvl="0" indent="0" algn="just">
              <a:lnSpc>
                <a:spcPts val="3074"/>
              </a:lnSpc>
            </a:pPr>
            <a:r>
              <a:rPr lang="en-US" sz="1746">
                <a:solidFill>
                  <a:srgbClr val="388D89"/>
                </a:solidFill>
                <a:latin typeface="Roboto"/>
                <a:ea typeface="Roboto"/>
                <a:cs typeface="Roboto"/>
                <a:sym typeface="Roboto"/>
              </a:rPr>
              <a:t>Apply simple and multiple linear regression models to analyze relationships between lifestyle factors and mental health indicators.</a:t>
            </a:r>
          </a:p>
        </p:txBody>
      </p:sp>
      <p:sp>
        <p:nvSpPr>
          <p:cNvPr id="16" name="TextBox 16"/>
          <p:cNvSpPr txBox="1"/>
          <p:nvPr/>
        </p:nvSpPr>
        <p:spPr>
          <a:xfrm>
            <a:off x="6917172" y="4159240"/>
            <a:ext cx="4453657" cy="1240455"/>
          </a:xfrm>
          <a:prstGeom prst="rect">
            <a:avLst/>
          </a:prstGeom>
        </p:spPr>
        <p:txBody>
          <a:bodyPr lIns="0" tIns="0" rIns="0" bIns="0" rtlCol="0" anchor="t">
            <a:spAutoFit/>
          </a:bodyPr>
          <a:lstStyle/>
          <a:p>
            <a:pPr marL="0" lvl="0" indent="0" algn="just">
              <a:lnSpc>
                <a:spcPts val="10552"/>
              </a:lnSpc>
            </a:pPr>
            <a:r>
              <a:rPr lang="en-US" sz="5995" b="1">
                <a:solidFill>
                  <a:srgbClr val="388D89"/>
                </a:solidFill>
                <a:latin typeface="Roboto Bold"/>
                <a:ea typeface="Roboto Bold"/>
                <a:cs typeface="Roboto Bold"/>
                <a:sym typeface="Roboto Bold"/>
              </a:rPr>
              <a:t>02</a:t>
            </a:r>
          </a:p>
        </p:txBody>
      </p:sp>
      <p:sp>
        <p:nvSpPr>
          <p:cNvPr id="17" name="TextBox 17"/>
          <p:cNvSpPr txBox="1"/>
          <p:nvPr/>
        </p:nvSpPr>
        <p:spPr>
          <a:xfrm>
            <a:off x="12491135" y="5537707"/>
            <a:ext cx="4447046" cy="1114020"/>
          </a:xfrm>
          <a:prstGeom prst="rect">
            <a:avLst/>
          </a:prstGeom>
        </p:spPr>
        <p:txBody>
          <a:bodyPr lIns="0" tIns="0" rIns="0" bIns="0" rtlCol="0" anchor="t">
            <a:spAutoFit/>
          </a:bodyPr>
          <a:lstStyle/>
          <a:p>
            <a:pPr marL="0" lvl="0" indent="0" algn="just">
              <a:lnSpc>
                <a:spcPts val="3074"/>
              </a:lnSpc>
            </a:pPr>
            <a:r>
              <a:rPr lang="en-US" sz="1746">
                <a:solidFill>
                  <a:srgbClr val="F8FFFF"/>
                </a:solidFill>
                <a:latin typeface="Roboto"/>
                <a:ea typeface="Roboto"/>
                <a:cs typeface="Roboto"/>
                <a:sym typeface="Roboto"/>
              </a:rPr>
              <a:t>Implement logistic regression for classification tasks to predict mental health outcomes based on lifestyle variables.</a:t>
            </a:r>
          </a:p>
        </p:txBody>
      </p:sp>
      <p:sp>
        <p:nvSpPr>
          <p:cNvPr id="18" name="TextBox 18"/>
          <p:cNvSpPr txBox="1"/>
          <p:nvPr/>
        </p:nvSpPr>
        <p:spPr>
          <a:xfrm>
            <a:off x="12491135" y="4159240"/>
            <a:ext cx="4447046" cy="1240455"/>
          </a:xfrm>
          <a:prstGeom prst="rect">
            <a:avLst/>
          </a:prstGeom>
        </p:spPr>
        <p:txBody>
          <a:bodyPr lIns="0" tIns="0" rIns="0" bIns="0" rtlCol="0" anchor="t">
            <a:spAutoFit/>
          </a:bodyPr>
          <a:lstStyle/>
          <a:p>
            <a:pPr marL="0" lvl="0" indent="0" algn="just">
              <a:lnSpc>
                <a:spcPts val="10552"/>
              </a:lnSpc>
            </a:pPr>
            <a:r>
              <a:rPr lang="en-US" sz="5995" b="1">
                <a:solidFill>
                  <a:srgbClr val="F8FFFF"/>
                </a:solidFill>
                <a:latin typeface="Roboto Bold"/>
                <a:ea typeface="Roboto Bold"/>
                <a:cs typeface="Roboto Bold"/>
                <a:sym typeface="Roboto Bold"/>
              </a:rPr>
              <a:t>03</a:t>
            </a:r>
          </a:p>
        </p:txBody>
      </p:sp>
      <p:sp>
        <p:nvSpPr>
          <p:cNvPr id="19" name="Freeform 19"/>
          <p:cNvSpPr/>
          <p:nvPr/>
        </p:nvSpPr>
        <p:spPr>
          <a:xfrm>
            <a:off x="-594005" y="8431556"/>
            <a:ext cx="2578968" cy="2514494"/>
          </a:xfrm>
          <a:custGeom>
            <a:avLst/>
            <a:gdLst/>
            <a:ahLst/>
            <a:cxnLst/>
            <a:rect l="l" t="t" r="r" b="b"/>
            <a:pathLst>
              <a:path w="2578968" h="2514494">
                <a:moveTo>
                  <a:pt x="0" y="0"/>
                </a:moveTo>
                <a:lnTo>
                  <a:pt x="2578969" y="0"/>
                </a:lnTo>
                <a:lnTo>
                  <a:pt x="2578969" y="2514495"/>
                </a:lnTo>
                <a:lnTo>
                  <a:pt x="0" y="2514495"/>
                </a:lnTo>
                <a:lnTo>
                  <a:pt x="0" y="0"/>
                </a:lnTo>
                <a:close/>
              </a:path>
            </a:pathLst>
          </a:custGeom>
          <a:blipFill>
            <a:blip r:embed="rId3"/>
            <a:stretch>
              <a:fillRect/>
            </a:stretch>
          </a:blipFill>
        </p:spPr>
        <p:txBody>
          <a:bodyPr/>
          <a:lstStyle/>
          <a:p>
            <a:endParaRPr lang="en-US"/>
          </a:p>
        </p:txBody>
      </p:sp>
      <p:sp>
        <p:nvSpPr>
          <p:cNvPr id="20" name="Freeform 20"/>
          <p:cNvSpPr/>
          <p:nvPr/>
        </p:nvSpPr>
        <p:spPr>
          <a:xfrm rot="-980700">
            <a:off x="15362397" y="8080015"/>
            <a:ext cx="3658156" cy="3948132"/>
          </a:xfrm>
          <a:custGeom>
            <a:avLst/>
            <a:gdLst/>
            <a:ahLst/>
            <a:cxnLst/>
            <a:rect l="l" t="t" r="r" b="b"/>
            <a:pathLst>
              <a:path w="3658156" h="3948132">
                <a:moveTo>
                  <a:pt x="0" y="0"/>
                </a:moveTo>
                <a:lnTo>
                  <a:pt x="3658157" y="0"/>
                </a:lnTo>
                <a:lnTo>
                  <a:pt x="3658157" y="3948132"/>
                </a:lnTo>
                <a:lnTo>
                  <a:pt x="0" y="3948132"/>
                </a:lnTo>
                <a:lnTo>
                  <a:pt x="0" y="0"/>
                </a:lnTo>
                <a:close/>
              </a:path>
            </a:pathLst>
          </a:custGeom>
          <a:blipFill>
            <a:blip r:embed="rId4"/>
            <a:stretch>
              <a:fillRect/>
            </a:stretch>
          </a:blipFill>
        </p:spPr>
        <p:txBody>
          <a:bodyPr/>
          <a:lstStyle/>
          <a:p>
            <a:endParaRPr lang="en-US"/>
          </a:p>
        </p:txBody>
      </p:sp>
      <p:sp>
        <p:nvSpPr>
          <p:cNvPr id="21" name="Freeform 21"/>
          <p:cNvSpPr/>
          <p:nvPr/>
        </p:nvSpPr>
        <p:spPr>
          <a:xfrm>
            <a:off x="2359493" y="8675159"/>
            <a:ext cx="2669832" cy="2335530"/>
          </a:xfrm>
          <a:custGeom>
            <a:avLst/>
            <a:gdLst/>
            <a:ahLst/>
            <a:cxnLst/>
            <a:rect l="l" t="t" r="r" b="b"/>
            <a:pathLst>
              <a:path w="2669832" h="2335530">
                <a:moveTo>
                  <a:pt x="0" y="0"/>
                </a:moveTo>
                <a:lnTo>
                  <a:pt x="2669832" y="0"/>
                </a:lnTo>
                <a:lnTo>
                  <a:pt x="2669832" y="2335531"/>
                </a:lnTo>
                <a:lnTo>
                  <a:pt x="0" y="2335531"/>
                </a:lnTo>
                <a:lnTo>
                  <a:pt x="0" y="0"/>
                </a:lnTo>
                <a:close/>
              </a:path>
            </a:pathLst>
          </a:custGeom>
          <a:blipFill>
            <a:blip r:embed="rId5"/>
            <a:stretch>
              <a:fillRect/>
            </a:stretch>
          </a:blipFill>
        </p:spPr>
        <p:txBody>
          <a:bodyPr/>
          <a:lstStyle/>
          <a:p>
            <a:endParaRPr lang="en-US"/>
          </a:p>
        </p:txBody>
      </p:sp>
      <p:sp>
        <p:nvSpPr>
          <p:cNvPr id="22" name="Freeform 22"/>
          <p:cNvSpPr/>
          <p:nvPr/>
        </p:nvSpPr>
        <p:spPr>
          <a:xfrm>
            <a:off x="5199838" y="8720109"/>
            <a:ext cx="2485894" cy="2123021"/>
          </a:xfrm>
          <a:custGeom>
            <a:avLst/>
            <a:gdLst/>
            <a:ahLst/>
            <a:cxnLst/>
            <a:rect l="l" t="t" r="r" b="b"/>
            <a:pathLst>
              <a:path w="2485894" h="2123021">
                <a:moveTo>
                  <a:pt x="0" y="0"/>
                </a:moveTo>
                <a:lnTo>
                  <a:pt x="2485895" y="0"/>
                </a:lnTo>
                <a:lnTo>
                  <a:pt x="2485895" y="2123021"/>
                </a:lnTo>
                <a:lnTo>
                  <a:pt x="0" y="2123021"/>
                </a:lnTo>
                <a:lnTo>
                  <a:pt x="0" y="0"/>
                </a:lnTo>
                <a:close/>
              </a:path>
            </a:pathLst>
          </a:custGeom>
          <a:blipFill>
            <a:blip r:embed="rId6"/>
            <a:stretch>
              <a:fillRect/>
            </a:stretch>
          </a:blipFill>
        </p:spPr>
        <p:txBody>
          <a:bodyPr/>
          <a:lstStyle/>
          <a:p>
            <a:endParaRPr lang="en-US"/>
          </a:p>
        </p:txBody>
      </p:sp>
      <p:sp>
        <p:nvSpPr>
          <p:cNvPr id="23" name="Freeform 23"/>
          <p:cNvSpPr/>
          <p:nvPr/>
        </p:nvSpPr>
        <p:spPr>
          <a:xfrm>
            <a:off x="8673888" y="8522443"/>
            <a:ext cx="2158348" cy="2541034"/>
          </a:xfrm>
          <a:custGeom>
            <a:avLst/>
            <a:gdLst/>
            <a:ahLst/>
            <a:cxnLst/>
            <a:rect l="l" t="t" r="r" b="b"/>
            <a:pathLst>
              <a:path w="2158348" h="2541034">
                <a:moveTo>
                  <a:pt x="0" y="0"/>
                </a:moveTo>
                <a:lnTo>
                  <a:pt x="2158348" y="0"/>
                </a:lnTo>
                <a:lnTo>
                  <a:pt x="2158348" y="2541035"/>
                </a:lnTo>
                <a:lnTo>
                  <a:pt x="0" y="2541035"/>
                </a:lnTo>
                <a:lnTo>
                  <a:pt x="0" y="0"/>
                </a:lnTo>
                <a:close/>
              </a:path>
            </a:pathLst>
          </a:custGeom>
          <a:blipFill>
            <a:blip r:embed="rId7"/>
            <a:stretch>
              <a:fillRect/>
            </a:stretch>
          </a:blipFill>
        </p:spPr>
        <p:txBody>
          <a:bodyPr/>
          <a:lstStyle/>
          <a:p>
            <a:endParaRPr lang="en-US"/>
          </a:p>
        </p:txBody>
      </p:sp>
      <p:sp>
        <p:nvSpPr>
          <p:cNvPr id="24" name="Freeform 24"/>
          <p:cNvSpPr/>
          <p:nvPr/>
        </p:nvSpPr>
        <p:spPr>
          <a:xfrm>
            <a:off x="11549866" y="8001543"/>
            <a:ext cx="3320988" cy="3878128"/>
          </a:xfrm>
          <a:custGeom>
            <a:avLst/>
            <a:gdLst/>
            <a:ahLst/>
            <a:cxnLst/>
            <a:rect l="l" t="t" r="r" b="b"/>
            <a:pathLst>
              <a:path w="3320988" h="3878128">
                <a:moveTo>
                  <a:pt x="0" y="0"/>
                </a:moveTo>
                <a:lnTo>
                  <a:pt x="3320988" y="0"/>
                </a:lnTo>
                <a:lnTo>
                  <a:pt x="3320988" y="3878128"/>
                </a:lnTo>
                <a:lnTo>
                  <a:pt x="0" y="3878128"/>
                </a:lnTo>
                <a:lnTo>
                  <a:pt x="0" y="0"/>
                </a:lnTo>
                <a:close/>
              </a:path>
            </a:pathLst>
          </a:custGeom>
          <a:blipFill>
            <a:blip r:embed="rId8"/>
            <a:stretch>
              <a:fillRect/>
            </a:stretch>
          </a:blipFill>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TextBox 3"/>
          <p:cNvSpPr txBox="1"/>
          <p:nvPr/>
        </p:nvSpPr>
        <p:spPr>
          <a:xfrm>
            <a:off x="838200" y="1333500"/>
            <a:ext cx="7573842" cy="2011000"/>
          </a:xfrm>
          <a:prstGeom prst="rect">
            <a:avLst/>
          </a:prstGeom>
        </p:spPr>
        <p:txBody>
          <a:bodyPr lIns="0" tIns="0" rIns="0" bIns="0" rtlCol="0" anchor="t">
            <a:spAutoFit/>
          </a:bodyPr>
          <a:lstStyle/>
          <a:p>
            <a:pPr marL="0" lvl="0" indent="0" algn="l">
              <a:lnSpc>
                <a:spcPct val="150000"/>
              </a:lnSpc>
            </a:pPr>
            <a:r>
              <a:rPr lang="en-US" sz="4612" b="1" dirty="0">
                <a:solidFill>
                  <a:srgbClr val="388D89"/>
                </a:solidFill>
                <a:latin typeface="Roboto Bold"/>
                <a:ea typeface="Roboto Bold"/>
                <a:cs typeface="Roboto Bold"/>
                <a:sym typeface="Roboto Bold"/>
              </a:rPr>
              <a:t>EXPLORATORY DATA ANALYSIS PROCESS</a:t>
            </a:r>
          </a:p>
        </p:txBody>
      </p:sp>
      <p:sp>
        <p:nvSpPr>
          <p:cNvPr id="4" name="Freeform 4"/>
          <p:cNvSpPr/>
          <p:nvPr/>
        </p:nvSpPr>
        <p:spPr>
          <a:xfrm>
            <a:off x="10317270" y="884450"/>
            <a:ext cx="7559531" cy="7864271"/>
          </a:xfrm>
          <a:custGeom>
            <a:avLst/>
            <a:gdLst/>
            <a:ahLst/>
            <a:cxnLst/>
            <a:rect l="l" t="t" r="r" b="b"/>
            <a:pathLst>
              <a:path w="7559531" h="7864271">
                <a:moveTo>
                  <a:pt x="0" y="0"/>
                </a:moveTo>
                <a:lnTo>
                  <a:pt x="7559530" y="0"/>
                </a:lnTo>
                <a:lnTo>
                  <a:pt x="7559530" y="7864271"/>
                </a:lnTo>
                <a:lnTo>
                  <a:pt x="0" y="7864271"/>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1028700" y="4453720"/>
            <a:ext cx="7573842" cy="1756891"/>
          </a:xfrm>
          <a:prstGeom prst="rect">
            <a:avLst/>
          </a:prstGeom>
        </p:spPr>
        <p:txBody>
          <a:bodyPr lIns="0" tIns="0" rIns="0" bIns="0" rtlCol="0" anchor="t">
            <a:spAutoFit/>
          </a:bodyPr>
          <a:lstStyle/>
          <a:p>
            <a:pPr marL="0" lvl="0" indent="0" algn="just">
              <a:lnSpc>
                <a:spcPct val="200000"/>
              </a:lnSpc>
            </a:pPr>
            <a:r>
              <a:rPr lang="en-US" sz="2000" b="1" spc="300" dirty="0">
                <a:solidFill>
                  <a:srgbClr val="388D89"/>
                </a:solidFill>
                <a:latin typeface="Roboto"/>
                <a:ea typeface="Roboto"/>
                <a:cs typeface="Roboto"/>
                <a:sym typeface="Roboto"/>
              </a:rPr>
              <a:t>Data Loading &amp; Inspection</a:t>
            </a:r>
            <a:r>
              <a:rPr lang="en-US" sz="2000" dirty="0">
                <a:solidFill>
                  <a:srgbClr val="388D89"/>
                </a:solidFill>
                <a:latin typeface="Roboto"/>
                <a:ea typeface="Roboto"/>
                <a:cs typeface="Roboto"/>
                <a:sym typeface="Roboto"/>
              </a:rPr>
              <a:t>: Import the dataset using Pandas, examine structure with .head(), .info(), and .shape() to understand data types and dimensions.</a:t>
            </a:r>
          </a:p>
        </p:txBody>
      </p:sp>
      <p:sp>
        <p:nvSpPr>
          <p:cNvPr id="6" name="TextBox 6"/>
          <p:cNvSpPr txBox="1"/>
          <p:nvPr/>
        </p:nvSpPr>
        <p:spPr>
          <a:xfrm>
            <a:off x="1028700" y="3792939"/>
            <a:ext cx="7573842" cy="648081"/>
          </a:xfrm>
          <a:prstGeom prst="rect">
            <a:avLst/>
          </a:prstGeom>
        </p:spPr>
        <p:txBody>
          <a:bodyPr lIns="0" tIns="0" rIns="0" bIns="0" rtlCol="0" anchor="t">
            <a:spAutoFit/>
          </a:bodyPr>
          <a:lstStyle/>
          <a:p>
            <a:pPr marL="0" lvl="0" indent="0" algn="just">
              <a:lnSpc>
                <a:spcPts val="5412"/>
              </a:lnSpc>
            </a:pPr>
            <a:r>
              <a:rPr lang="en-US" sz="3075" b="1">
                <a:solidFill>
                  <a:srgbClr val="388D89"/>
                </a:solidFill>
                <a:latin typeface="Roboto Bold"/>
                <a:ea typeface="Roboto Bold"/>
                <a:cs typeface="Roboto Bold"/>
                <a:sym typeface="Roboto Bold"/>
              </a:rPr>
              <a:t>01</a:t>
            </a:r>
          </a:p>
        </p:txBody>
      </p:sp>
      <p:sp>
        <p:nvSpPr>
          <p:cNvPr id="7" name="TextBox 7"/>
          <p:cNvSpPr txBox="1"/>
          <p:nvPr/>
        </p:nvSpPr>
        <p:spPr>
          <a:xfrm>
            <a:off x="1028700" y="7295872"/>
            <a:ext cx="7573842" cy="1756891"/>
          </a:xfrm>
          <a:prstGeom prst="rect">
            <a:avLst/>
          </a:prstGeom>
        </p:spPr>
        <p:txBody>
          <a:bodyPr lIns="0" tIns="0" rIns="0" bIns="0" rtlCol="0" anchor="t">
            <a:spAutoFit/>
          </a:bodyPr>
          <a:lstStyle/>
          <a:p>
            <a:pPr marL="0" lvl="0" indent="0" algn="just">
              <a:lnSpc>
                <a:spcPct val="200000"/>
              </a:lnSpc>
            </a:pPr>
            <a:r>
              <a:rPr lang="en-US" sz="2000" b="1" spc="300" dirty="0">
                <a:solidFill>
                  <a:srgbClr val="388D89"/>
                </a:solidFill>
                <a:latin typeface="Roboto"/>
                <a:ea typeface="Roboto"/>
                <a:cs typeface="Roboto"/>
                <a:sym typeface="Roboto"/>
              </a:rPr>
              <a:t>Summary Statistics</a:t>
            </a:r>
            <a:r>
              <a:rPr lang="en-US" sz="2000" dirty="0">
                <a:solidFill>
                  <a:srgbClr val="388D89"/>
                </a:solidFill>
                <a:latin typeface="Roboto"/>
                <a:ea typeface="Roboto"/>
                <a:cs typeface="Roboto"/>
                <a:sym typeface="Roboto"/>
              </a:rPr>
              <a:t>: Generate descriptive statistics using .describe() to analyze mean, median, standard deviation, and distribution of numerical features.</a:t>
            </a:r>
          </a:p>
        </p:txBody>
      </p:sp>
      <p:sp>
        <p:nvSpPr>
          <p:cNvPr id="8" name="TextBox 8"/>
          <p:cNvSpPr txBox="1"/>
          <p:nvPr/>
        </p:nvSpPr>
        <p:spPr>
          <a:xfrm>
            <a:off x="1028700" y="6504409"/>
            <a:ext cx="7573842" cy="648081"/>
          </a:xfrm>
          <a:prstGeom prst="rect">
            <a:avLst/>
          </a:prstGeom>
        </p:spPr>
        <p:txBody>
          <a:bodyPr lIns="0" tIns="0" rIns="0" bIns="0" rtlCol="0" anchor="t">
            <a:spAutoFit/>
          </a:bodyPr>
          <a:lstStyle/>
          <a:p>
            <a:pPr marL="0" lvl="0" indent="0" algn="just">
              <a:lnSpc>
                <a:spcPts val="5412"/>
              </a:lnSpc>
            </a:pPr>
            <a:r>
              <a:rPr lang="en-US" sz="3075" b="1" dirty="0">
                <a:solidFill>
                  <a:srgbClr val="388D89"/>
                </a:solidFill>
                <a:latin typeface="Roboto Bold"/>
                <a:ea typeface="Roboto Bold"/>
                <a:cs typeface="Roboto Bold"/>
                <a:sym typeface="Roboto Bold"/>
              </a:rPr>
              <a:t>02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TextBox 3"/>
          <p:cNvSpPr txBox="1"/>
          <p:nvPr/>
        </p:nvSpPr>
        <p:spPr>
          <a:xfrm>
            <a:off x="914400" y="1062074"/>
            <a:ext cx="7573842" cy="1929054"/>
          </a:xfrm>
          <a:prstGeom prst="rect">
            <a:avLst/>
          </a:prstGeom>
        </p:spPr>
        <p:txBody>
          <a:bodyPr lIns="0" tIns="0" rIns="0" bIns="0" rtlCol="0" anchor="t">
            <a:spAutoFit/>
          </a:bodyPr>
          <a:lstStyle/>
          <a:p>
            <a:pPr marL="0" lvl="0" indent="0" algn="l">
              <a:lnSpc>
                <a:spcPct val="150000"/>
              </a:lnSpc>
            </a:pPr>
            <a:r>
              <a:rPr lang="en-US" sz="4424" b="1" dirty="0">
                <a:solidFill>
                  <a:srgbClr val="388D89"/>
                </a:solidFill>
                <a:latin typeface="Roboto Bold"/>
                <a:ea typeface="Roboto Bold"/>
                <a:cs typeface="Roboto Bold"/>
                <a:sym typeface="Roboto Bold"/>
              </a:rPr>
              <a:t>EXPLORATORY DATA ANALYSIS PROCESS </a:t>
            </a:r>
          </a:p>
        </p:txBody>
      </p:sp>
      <p:sp>
        <p:nvSpPr>
          <p:cNvPr id="4" name="Freeform 4"/>
          <p:cNvSpPr/>
          <p:nvPr/>
        </p:nvSpPr>
        <p:spPr>
          <a:xfrm>
            <a:off x="11008801" y="1366603"/>
            <a:ext cx="6038157" cy="8104909"/>
          </a:xfrm>
          <a:custGeom>
            <a:avLst/>
            <a:gdLst/>
            <a:ahLst/>
            <a:cxnLst/>
            <a:rect l="l" t="t" r="r" b="b"/>
            <a:pathLst>
              <a:path w="6038157" h="8104909">
                <a:moveTo>
                  <a:pt x="0" y="0"/>
                </a:moveTo>
                <a:lnTo>
                  <a:pt x="6038157" y="0"/>
                </a:lnTo>
                <a:lnTo>
                  <a:pt x="6038157" y="8104909"/>
                </a:lnTo>
                <a:lnTo>
                  <a:pt x="0" y="8104909"/>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1028700" y="4303154"/>
            <a:ext cx="7573842" cy="1756891"/>
          </a:xfrm>
          <a:prstGeom prst="rect">
            <a:avLst/>
          </a:prstGeom>
        </p:spPr>
        <p:txBody>
          <a:bodyPr lIns="0" tIns="0" rIns="0" bIns="0" rtlCol="0" anchor="t">
            <a:spAutoFit/>
          </a:bodyPr>
          <a:lstStyle/>
          <a:p>
            <a:pPr marL="0" lvl="0" indent="0" algn="just">
              <a:lnSpc>
                <a:spcPct val="200000"/>
              </a:lnSpc>
            </a:pPr>
            <a:r>
              <a:rPr lang="en-US" sz="2000" b="1" spc="300" dirty="0">
                <a:solidFill>
                  <a:srgbClr val="388D89"/>
                </a:solidFill>
                <a:latin typeface="Roboto"/>
                <a:ea typeface="Roboto"/>
                <a:cs typeface="Roboto"/>
                <a:sym typeface="Roboto"/>
              </a:rPr>
              <a:t>Missing Value Detection</a:t>
            </a:r>
            <a:r>
              <a:rPr lang="en-US" sz="2000" dirty="0">
                <a:solidFill>
                  <a:srgbClr val="388D89"/>
                </a:solidFill>
                <a:latin typeface="Roboto"/>
                <a:ea typeface="Roboto"/>
                <a:cs typeface="Roboto"/>
                <a:sym typeface="Roboto"/>
              </a:rPr>
              <a:t>: Identify and handle null or incomplete data entries using pandas </a:t>
            </a:r>
            <a:r>
              <a:rPr lang="en-US" sz="2000" dirty="0" err="1">
                <a:solidFill>
                  <a:srgbClr val="388D89"/>
                </a:solidFill>
                <a:latin typeface="Roboto"/>
                <a:ea typeface="Roboto"/>
                <a:cs typeface="Roboto"/>
                <a:sym typeface="Roboto"/>
              </a:rPr>
              <a:t>isnull</a:t>
            </a:r>
            <a:r>
              <a:rPr lang="en-US" sz="2000" dirty="0">
                <a:solidFill>
                  <a:srgbClr val="388D89"/>
                </a:solidFill>
                <a:latin typeface="Roboto"/>
                <a:ea typeface="Roboto"/>
                <a:cs typeface="Roboto"/>
                <a:sym typeface="Roboto"/>
              </a:rPr>
              <a:t>() and </a:t>
            </a:r>
            <a:r>
              <a:rPr lang="en-US" sz="2000" dirty="0" err="1">
                <a:solidFill>
                  <a:srgbClr val="388D89"/>
                </a:solidFill>
                <a:latin typeface="Roboto"/>
                <a:ea typeface="Roboto"/>
                <a:cs typeface="Roboto"/>
                <a:sym typeface="Roboto"/>
              </a:rPr>
              <a:t>dropna</a:t>
            </a:r>
            <a:r>
              <a:rPr lang="en-US" sz="2000" dirty="0">
                <a:solidFill>
                  <a:srgbClr val="388D89"/>
                </a:solidFill>
                <a:latin typeface="Roboto"/>
                <a:ea typeface="Roboto"/>
                <a:cs typeface="Roboto"/>
                <a:sym typeface="Roboto"/>
              </a:rPr>
              <a:t>() functions to ensure data integrity.</a:t>
            </a:r>
          </a:p>
        </p:txBody>
      </p:sp>
      <p:sp>
        <p:nvSpPr>
          <p:cNvPr id="6" name="TextBox 6"/>
          <p:cNvSpPr txBox="1"/>
          <p:nvPr/>
        </p:nvSpPr>
        <p:spPr>
          <a:xfrm>
            <a:off x="1028700" y="3607806"/>
            <a:ext cx="7573842" cy="609390"/>
          </a:xfrm>
          <a:prstGeom prst="rect">
            <a:avLst/>
          </a:prstGeom>
        </p:spPr>
        <p:txBody>
          <a:bodyPr lIns="0" tIns="0" rIns="0" bIns="0" rtlCol="0" anchor="t">
            <a:spAutoFit/>
          </a:bodyPr>
          <a:lstStyle/>
          <a:p>
            <a:pPr marL="0" lvl="0" indent="0" algn="just">
              <a:lnSpc>
                <a:spcPts val="5190"/>
              </a:lnSpc>
            </a:pPr>
            <a:r>
              <a:rPr lang="en-US" sz="2949" b="1" dirty="0">
                <a:solidFill>
                  <a:srgbClr val="388D89"/>
                </a:solidFill>
                <a:latin typeface="Roboto Bold"/>
                <a:ea typeface="Roboto Bold"/>
                <a:cs typeface="Roboto Bold"/>
                <a:sym typeface="Roboto Bold"/>
              </a:rPr>
              <a:t>03</a:t>
            </a:r>
          </a:p>
        </p:txBody>
      </p:sp>
      <p:sp>
        <p:nvSpPr>
          <p:cNvPr id="7" name="TextBox 7"/>
          <p:cNvSpPr txBox="1"/>
          <p:nvPr/>
        </p:nvSpPr>
        <p:spPr>
          <a:xfrm>
            <a:off x="1028700" y="7295872"/>
            <a:ext cx="7573842" cy="1756891"/>
          </a:xfrm>
          <a:prstGeom prst="rect">
            <a:avLst/>
          </a:prstGeom>
        </p:spPr>
        <p:txBody>
          <a:bodyPr lIns="0" tIns="0" rIns="0" bIns="0" rtlCol="0" anchor="t">
            <a:spAutoFit/>
          </a:bodyPr>
          <a:lstStyle/>
          <a:p>
            <a:pPr marL="0" lvl="0" indent="0" algn="just">
              <a:lnSpc>
                <a:spcPct val="200000"/>
              </a:lnSpc>
            </a:pPr>
            <a:r>
              <a:rPr lang="en-US" sz="2000" b="1" spc="300" dirty="0">
                <a:solidFill>
                  <a:srgbClr val="388D89"/>
                </a:solidFill>
                <a:latin typeface="Roboto"/>
                <a:ea typeface="Roboto"/>
                <a:cs typeface="Roboto"/>
                <a:sym typeface="Roboto"/>
              </a:rPr>
              <a:t>Correlation Analysis</a:t>
            </a:r>
            <a:r>
              <a:rPr lang="en-US" sz="2000" dirty="0">
                <a:solidFill>
                  <a:srgbClr val="388D89"/>
                </a:solidFill>
                <a:latin typeface="Roboto"/>
                <a:ea typeface="Roboto"/>
                <a:cs typeface="Roboto"/>
                <a:sym typeface="Roboto"/>
              </a:rPr>
              <a:t>: Calculate relationships between lifestyle factors and mental health indicators using correlation matrices and heatmaps.</a:t>
            </a:r>
          </a:p>
        </p:txBody>
      </p:sp>
      <p:sp>
        <p:nvSpPr>
          <p:cNvPr id="8" name="TextBox 8"/>
          <p:cNvSpPr txBox="1"/>
          <p:nvPr/>
        </p:nvSpPr>
        <p:spPr>
          <a:xfrm>
            <a:off x="1028700" y="6385963"/>
            <a:ext cx="7573842" cy="609390"/>
          </a:xfrm>
          <a:prstGeom prst="rect">
            <a:avLst/>
          </a:prstGeom>
        </p:spPr>
        <p:txBody>
          <a:bodyPr lIns="0" tIns="0" rIns="0" bIns="0" rtlCol="0" anchor="t">
            <a:spAutoFit/>
          </a:bodyPr>
          <a:lstStyle/>
          <a:p>
            <a:pPr marL="0" lvl="0" indent="0" algn="just">
              <a:lnSpc>
                <a:spcPts val="5190"/>
              </a:lnSpc>
            </a:pPr>
            <a:r>
              <a:rPr lang="en-US" sz="2949" b="1" dirty="0">
                <a:solidFill>
                  <a:srgbClr val="388D89"/>
                </a:solidFill>
                <a:latin typeface="Roboto Bold"/>
                <a:ea typeface="Roboto Bold"/>
                <a:cs typeface="Roboto Bold"/>
                <a:sym typeface="Roboto Bold"/>
              </a:rPr>
              <a:t>04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grpSp>
        <p:nvGrpSpPr>
          <p:cNvPr id="3" name="Group 3"/>
          <p:cNvGrpSpPr/>
          <p:nvPr/>
        </p:nvGrpSpPr>
        <p:grpSpPr>
          <a:xfrm>
            <a:off x="10205411" y="1028700"/>
            <a:ext cx="7050238" cy="2456780"/>
            <a:chOff x="0" y="0"/>
            <a:chExt cx="1856853" cy="647053"/>
          </a:xfrm>
        </p:grpSpPr>
        <p:sp>
          <p:nvSpPr>
            <p:cNvPr id="4" name="Freeform 4"/>
            <p:cNvSpPr/>
            <p:nvPr/>
          </p:nvSpPr>
          <p:spPr>
            <a:xfrm>
              <a:off x="0" y="0"/>
              <a:ext cx="1856853" cy="647053"/>
            </a:xfrm>
            <a:custGeom>
              <a:avLst/>
              <a:gdLst/>
              <a:ahLst/>
              <a:cxnLst/>
              <a:rect l="l" t="t" r="r" b="b"/>
              <a:pathLst>
                <a:path w="1856853" h="647053">
                  <a:moveTo>
                    <a:pt x="1856853" y="32943"/>
                  </a:moveTo>
                  <a:lnTo>
                    <a:pt x="1856853" y="614110"/>
                  </a:lnTo>
                  <a:cubicBezTo>
                    <a:pt x="1856853" y="632304"/>
                    <a:pt x="1842104" y="647053"/>
                    <a:pt x="1823910" y="647053"/>
                  </a:cubicBezTo>
                  <a:lnTo>
                    <a:pt x="32943" y="647053"/>
                  </a:lnTo>
                  <a:cubicBezTo>
                    <a:pt x="14749" y="647053"/>
                    <a:pt x="0" y="632304"/>
                    <a:pt x="0" y="614110"/>
                  </a:cubicBezTo>
                  <a:lnTo>
                    <a:pt x="0" y="32943"/>
                  </a:lnTo>
                  <a:cubicBezTo>
                    <a:pt x="0" y="14749"/>
                    <a:pt x="14749" y="0"/>
                    <a:pt x="32943" y="0"/>
                  </a:cubicBezTo>
                  <a:lnTo>
                    <a:pt x="1823910" y="0"/>
                  </a:lnTo>
                  <a:cubicBezTo>
                    <a:pt x="1842104" y="0"/>
                    <a:pt x="1856853" y="14749"/>
                    <a:pt x="1856853" y="32943"/>
                  </a:cubicBezTo>
                  <a:close/>
                </a:path>
              </a:pathLst>
            </a:custGeom>
            <a:solidFill>
              <a:srgbClr val="388D89"/>
            </a:solidFill>
          </p:spPr>
          <p:txBody>
            <a:bodyPr/>
            <a:lstStyle/>
            <a:p>
              <a:endParaRPr lang="en-US"/>
            </a:p>
          </p:txBody>
        </p:sp>
        <p:sp>
          <p:nvSpPr>
            <p:cNvPr id="5" name="TextBox 5"/>
            <p:cNvSpPr txBox="1"/>
            <p:nvPr/>
          </p:nvSpPr>
          <p:spPr>
            <a:xfrm>
              <a:off x="0" y="-38100"/>
              <a:ext cx="1856853" cy="685153"/>
            </a:xfrm>
            <a:prstGeom prst="rect">
              <a:avLst/>
            </a:prstGeom>
          </p:spPr>
          <p:txBody>
            <a:bodyPr lIns="50800" tIns="50800" rIns="50800" bIns="50800" rtlCol="0" anchor="ctr"/>
            <a:lstStyle/>
            <a:p>
              <a:pPr marL="0" lvl="0" indent="0" algn="ctr">
                <a:lnSpc>
                  <a:spcPts val="2659"/>
                </a:lnSpc>
              </a:pPr>
              <a:endParaRPr/>
            </a:p>
          </p:txBody>
        </p:sp>
      </p:grpSp>
      <p:grpSp>
        <p:nvGrpSpPr>
          <p:cNvPr id="6" name="Group 6"/>
          <p:cNvGrpSpPr/>
          <p:nvPr/>
        </p:nvGrpSpPr>
        <p:grpSpPr>
          <a:xfrm>
            <a:off x="10209062" y="3908330"/>
            <a:ext cx="7050238" cy="2456780"/>
            <a:chOff x="0" y="0"/>
            <a:chExt cx="1856853" cy="647053"/>
          </a:xfrm>
        </p:grpSpPr>
        <p:sp>
          <p:nvSpPr>
            <p:cNvPr id="7" name="Freeform 7"/>
            <p:cNvSpPr/>
            <p:nvPr/>
          </p:nvSpPr>
          <p:spPr>
            <a:xfrm>
              <a:off x="0" y="0"/>
              <a:ext cx="1856853" cy="647053"/>
            </a:xfrm>
            <a:custGeom>
              <a:avLst/>
              <a:gdLst/>
              <a:ahLst/>
              <a:cxnLst/>
              <a:rect l="l" t="t" r="r" b="b"/>
              <a:pathLst>
                <a:path w="1856853" h="647053">
                  <a:moveTo>
                    <a:pt x="1856853" y="32943"/>
                  </a:moveTo>
                  <a:lnTo>
                    <a:pt x="1856853" y="614110"/>
                  </a:lnTo>
                  <a:cubicBezTo>
                    <a:pt x="1856853" y="632304"/>
                    <a:pt x="1842104" y="647053"/>
                    <a:pt x="1823910" y="647053"/>
                  </a:cubicBezTo>
                  <a:lnTo>
                    <a:pt x="32943" y="647053"/>
                  </a:lnTo>
                  <a:cubicBezTo>
                    <a:pt x="14749" y="647053"/>
                    <a:pt x="0" y="632304"/>
                    <a:pt x="0" y="614110"/>
                  </a:cubicBezTo>
                  <a:lnTo>
                    <a:pt x="0" y="32943"/>
                  </a:lnTo>
                  <a:cubicBezTo>
                    <a:pt x="0" y="14749"/>
                    <a:pt x="14749" y="0"/>
                    <a:pt x="32943" y="0"/>
                  </a:cubicBezTo>
                  <a:lnTo>
                    <a:pt x="1823910" y="0"/>
                  </a:lnTo>
                  <a:cubicBezTo>
                    <a:pt x="1842104" y="0"/>
                    <a:pt x="1856853" y="14749"/>
                    <a:pt x="1856853" y="32943"/>
                  </a:cubicBezTo>
                  <a:close/>
                </a:path>
              </a:pathLst>
            </a:custGeom>
            <a:solidFill>
              <a:srgbClr val="CCF1F0"/>
            </a:solidFill>
          </p:spPr>
          <p:txBody>
            <a:bodyPr/>
            <a:lstStyle/>
            <a:p>
              <a:endParaRPr lang="en-US"/>
            </a:p>
          </p:txBody>
        </p:sp>
        <p:sp>
          <p:nvSpPr>
            <p:cNvPr id="8" name="TextBox 8"/>
            <p:cNvSpPr txBox="1"/>
            <p:nvPr/>
          </p:nvSpPr>
          <p:spPr>
            <a:xfrm>
              <a:off x="0" y="-38100"/>
              <a:ext cx="1856853" cy="685153"/>
            </a:xfrm>
            <a:prstGeom prst="rect">
              <a:avLst/>
            </a:prstGeom>
          </p:spPr>
          <p:txBody>
            <a:bodyPr lIns="50800" tIns="50800" rIns="50800" bIns="50800" rtlCol="0" anchor="ctr"/>
            <a:lstStyle/>
            <a:p>
              <a:pPr marL="0" lvl="0" indent="0" algn="ctr">
                <a:lnSpc>
                  <a:spcPts val="2659"/>
                </a:lnSpc>
              </a:pPr>
              <a:endParaRPr/>
            </a:p>
          </p:txBody>
        </p:sp>
      </p:grpSp>
      <p:sp>
        <p:nvSpPr>
          <p:cNvPr id="9" name="Freeform 9"/>
          <p:cNvSpPr/>
          <p:nvPr/>
        </p:nvSpPr>
        <p:spPr>
          <a:xfrm rot="-321536">
            <a:off x="16710533" y="8840995"/>
            <a:ext cx="2315275" cy="2315275"/>
          </a:xfrm>
          <a:custGeom>
            <a:avLst/>
            <a:gdLst/>
            <a:ahLst/>
            <a:cxnLst/>
            <a:rect l="l" t="t" r="r" b="b"/>
            <a:pathLst>
              <a:path w="2315275" h="2315275">
                <a:moveTo>
                  <a:pt x="0" y="0"/>
                </a:moveTo>
                <a:lnTo>
                  <a:pt x="2315275" y="0"/>
                </a:lnTo>
                <a:lnTo>
                  <a:pt x="2315275" y="2315275"/>
                </a:lnTo>
                <a:lnTo>
                  <a:pt x="0" y="2315275"/>
                </a:lnTo>
                <a:lnTo>
                  <a:pt x="0" y="0"/>
                </a:lnTo>
                <a:close/>
              </a:path>
            </a:pathLst>
          </a:custGeom>
          <a:blipFill>
            <a:blip r:embed="rId3"/>
            <a:stretch>
              <a:fillRect/>
            </a:stretch>
          </a:blipFill>
        </p:spPr>
        <p:txBody>
          <a:bodyPr/>
          <a:lstStyle/>
          <a:p>
            <a:endParaRPr lang="en-US"/>
          </a:p>
        </p:txBody>
      </p:sp>
      <p:grpSp>
        <p:nvGrpSpPr>
          <p:cNvPr id="10" name="Group 10"/>
          <p:cNvGrpSpPr/>
          <p:nvPr/>
        </p:nvGrpSpPr>
        <p:grpSpPr>
          <a:xfrm>
            <a:off x="10203464" y="6797733"/>
            <a:ext cx="7050238" cy="2456780"/>
            <a:chOff x="0" y="0"/>
            <a:chExt cx="1856853" cy="647053"/>
          </a:xfrm>
        </p:grpSpPr>
        <p:sp>
          <p:nvSpPr>
            <p:cNvPr id="11" name="Freeform 11"/>
            <p:cNvSpPr/>
            <p:nvPr/>
          </p:nvSpPr>
          <p:spPr>
            <a:xfrm>
              <a:off x="0" y="0"/>
              <a:ext cx="1856853" cy="647053"/>
            </a:xfrm>
            <a:custGeom>
              <a:avLst/>
              <a:gdLst/>
              <a:ahLst/>
              <a:cxnLst/>
              <a:rect l="l" t="t" r="r" b="b"/>
              <a:pathLst>
                <a:path w="1856853" h="647053">
                  <a:moveTo>
                    <a:pt x="1856853" y="32943"/>
                  </a:moveTo>
                  <a:lnTo>
                    <a:pt x="1856853" y="614110"/>
                  </a:lnTo>
                  <a:cubicBezTo>
                    <a:pt x="1856853" y="632304"/>
                    <a:pt x="1842104" y="647053"/>
                    <a:pt x="1823910" y="647053"/>
                  </a:cubicBezTo>
                  <a:lnTo>
                    <a:pt x="32943" y="647053"/>
                  </a:lnTo>
                  <a:cubicBezTo>
                    <a:pt x="14749" y="647053"/>
                    <a:pt x="0" y="632304"/>
                    <a:pt x="0" y="614110"/>
                  </a:cubicBezTo>
                  <a:lnTo>
                    <a:pt x="0" y="32943"/>
                  </a:lnTo>
                  <a:cubicBezTo>
                    <a:pt x="0" y="14749"/>
                    <a:pt x="14749" y="0"/>
                    <a:pt x="32943" y="0"/>
                  </a:cubicBezTo>
                  <a:lnTo>
                    <a:pt x="1823910" y="0"/>
                  </a:lnTo>
                  <a:cubicBezTo>
                    <a:pt x="1842104" y="0"/>
                    <a:pt x="1856853" y="14749"/>
                    <a:pt x="1856853" y="32943"/>
                  </a:cubicBezTo>
                  <a:close/>
                </a:path>
              </a:pathLst>
            </a:custGeom>
            <a:solidFill>
              <a:srgbClr val="388D89"/>
            </a:solidFill>
          </p:spPr>
          <p:txBody>
            <a:bodyPr/>
            <a:lstStyle/>
            <a:p>
              <a:endParaRPr lang="en-US"/>
            </a:p>
          </p:txBody>
        </p:sp>
        <p:sp>
          <p:nvSpPr>
            <p:cNvPr id="12" name="TextBox 12"/>
            <p:cNvSpPr txBox="1"/>
            <p:nvPr/>
          </p:nvSpPr>
          <p:spPr>
            <a:xfrm>
              <a:off x="0" y="-38100"/>
              <a:ext cx="1856853" cy="685153"/>
            </a:xfrm>
            <a:prstGeom prst="rect">
              <a:avLst/>
            </a:prstGeom>
          </p:spPr>
          <p:txBody>
            <a:bodyPr lIns="50800" tIns="50800" rIns="50800" bIns="50800" rtlCol="0" anchor="ctr"/>
            <a:lstStyle/>
            <a:p>
              <a:pPr marL="0" lvl="0" indent="0" algn="ctr">
                <a:lnSpc>
                  <a:spcPts val="2659"/>
                </a:lnSpc>
              </a:pPr>
              <a:endParaRPr/>
            </a:p>
          </p:txBody>
        </p:sp>
      </p:grpSp>
      <p:sp>
        <p:nvSpPr>
          <p:cNvPr id="13" name="Freeform 13"/>
          <p:cNvSpPr/>
          <p:nvPr/>
        </p:nvSpPr>
        <p:spPr>
          <a:xfrm>
            <a:off x="459672" y="4535841"/>
            <a:ext cx="6188575" cy="5105575"/>
          </a:xfrm>
          <a:custGeom>
            <a:avLst/>
            <a:gdLst/>
            <a:ahLst/>
            <a:cxnLst/>
            <a:rect l="l" t="t" r="r" b="b"/>
            <a:pathLst>
              <a:path w="6188575" h="5105575">
                <a:moveTo>
                  <a:pt x="0" y="0"/>
                </a:moveTo>
                <a:lnTo>
                  <a:pt x="6188575" y="0"/>
                </a:lnTo>
                <a:lnTo>
                  <a:pt x="6188575" y="5105575"/>
                </a:lnTo>
                <a:lnTo>
                  <a:pt x="0" y="5105575"/>
                </a:lnTo>
                <a:lnTo>
                  <a:pt x="0" y="0"/>
                </a:lnTo>
                <a:close/>
              </a:path>
            </a:pathLst>
          </a:custGeom>
          <a:blipFill>
            <a:blip r:embed="rId4"/>
            <a:stretch>
              <a:fillRect/>
            </a:stretch>
          </a:blipFill>
        </p:spPr>
        <p:txBody>
          <a:bodyPr/>
          <a:lstStyle/>
          <a:p>
            <a:endParaRPr lang="en-US"/>
          </a:p>
        </p:txBody>
      </p:sp>
      <p:sp>
        <p:nvSpPr>
          <p:cNvPr id="14" name="TextBox 14"/>
          <p:cNvSpPr txBox="1"/>
          <p:nvPr/>
        </p:nvSpPr>
        <p:spPr>
          <a:xfrm>
            <a:off x="609600" y="1088154"/>
            <a:ext cx="8335845" cy="2359533"/>
          </a:xfrm>
          <a:prstGeom prst="rect">
            <a:avLst/>
          </a:prstGeom>
        </p:spPr>
        <p:txBody>
          <a:bodyPr wrap="square" lIns="0" tIns="0" rIns="0" bIns="0" rtlCol="0" anchor="t">
            <a:spAutoFit/>
          </a:bodyPr>
          <a:lstStyle/>
          <a:p>
            <a:pPr marL="0" lvl="0" indent="0" algn="l">
              <a:lnSpc>
                <a:spcPts val="9156"/>
              </a:lnSpc>
            </a:pPr>
            <a:r>
              <a:rPr lang="en-US" sz="8175" b="1" dirty="0">
                <a:solidFill>
                  <a:srgbClr val="388D89"/>
                </a:solidFill>
                <a:latin typeface="Roboto Bold"/>
                <a:ea typeface="Roboto Bold"/>
                <a:cs typeface="Roboto Bold"/>
                <a:sym typeface="Roboto Bold"/>
              </a:rPr>
              <a:t>EDA VISUALIZATIONS</a:t>
            </a:r>
          </a:p>
        </p:txBody>
      </p:sp>
      <p:sp>
        <p:nvSpPr>
          <p:cNvPr id="15" name="TextBox 15"/>
          <p:cNvSpPr txBox="1"/>
          <p:nvPr/>
        </p:nvSpPr>
        <p:spPr>
          <a:xfrm>
            <a:off x="10768704" y="2113705"/>
            <a:ext cx="5930954" cy="703519"/>
          </a:xfrm>
          <a:prstGeom prst="rect">
            <a:avLst/>
          </a:prstGeom>
        </p:spPr>
        <p:txBody>
          <a:bodyPr lIns="0" tIns="0" rIns="0" bIns="0" rtlCol="0" anchor="t">
            <a:spAutoFit/>
          </a:bodyPr>
          <a:lstStyle/>
          <a:p>
            <a:pPr marL="0" lvl="0" indent="0" algn="just">
              <a:lnSpc>
                <a:spcPts val="2861"/>
              </a:lnSpc>
            </a:pPr>
            <a:r>
              <a:rPr lang="en-US" sz="1625">
                <a:solidFill>
                  <a:srgbClr val="F8FFFF"/>
                </a:solidFill>
                <a:latin typeface="Roboto"/>
                <a:ea typeface="Roboto"/>
                <a:cs typeface="Roboto"/>
                <a:sym typeface="Roboto"/>
              </a:rPr>
              <a:t>Compare categorical variables like gender distribution, employment status, and mental health conditions across groups.</a:t>
            </a:r>
          </a:p>
        </p:txBody>
      </p:sp>
      <p:sp>
        <p:nvSpPr>
          <p:cNvPr id="16" name="TextBox 16"/>
          <p:cNvSpPr txBox="1"/>
          <p:nvPr/>
        </p:nvSpPr>
        <p:spPr>
          <a:xfrm>
            <a:off x="10797259" y="1559227"/>
            <a:ext cx="5862648" cy="415239"/>
          </a:xfrm>
          <a:prstGeom prst="rect">
            <a:avLst/>
          </a:prstGeom>
        </p:spPr>
        <p:txBody>
          <a:bodyPr lIns="0" tIns="0" rIns="0" bIns="0" rtlCol="0" anchor="t">
            <a:spAutoFit/>
          </a:bodyPr>
          <a:lstStyle/>
          <a:p>
            <a:pPr marL="0" lvl="0" indent="0" algn="l">
              <a:lnSpc>
                <a:spcPts val="3027"/>
              </a:lnSpc>
            </a:pPr>
            <a:r>
              <a:rPr lang="en-US" sz="2997" b="1">
                <a:solidFill>
                  <a:srgbClr val="F8FFFF"/>
                </a:solidFill>
                <a:latin typeface="Roboto Bold"/>
                <a:ea typeface="Roboto Bold"/>
                <a:cs typeface="Roboto Bold"/>
                <a:sym typeface="Roboto Bold"/>
              </a:rPr>
              <a:t>Bar Charts</a:t>
            </a:r>
          </a:p>
        </p:txBody>
      </p:sp>
      <p:sp>
        <p:nvSpPr>
          <p:cNvPr id="17" name="TextBox 17"/>
          <p:cNvSpPr txBox="1"/>
          <p:nvPr/>
        </p:nvSpPr>
        <p:spPr>
          <a:xfrm>
            <a:off x="10768704" y="4993336"/>
            <a:ext cx="5930954" cy="703519"/>
          </a:xfrm>
          <a:prstGeom prst="rect">
            <a:avLst/>
          </a:prstGeom>
        </p:spPr>
        <p:txBody>
          <a:bodyPr lIns="0" tIns="0" rIns="0" bIns="0" rtlCol="0" anchor="t">
            <a:spAutoFit/>
          </a:bodyPr>
          <a:lstStyle/>
          <a:p>
            <a:pPr marL="0" lvl="0" indent="0" algn="just">
              <a:lnSpc>
                <a:spcPts val="2861"/>
              </a:lnSpc>
            </a:pPr>
            <a:r>
              <a:rPr lang="en-US" sz="1625">
                <a:solidFill>
                  <a:srgbClr val="388D89"/>
                </a:solidFill>
                <a:latin typeface="Roboto"/>
                <a:ea typeface="Roboto"/>
                <a:cs typeface="Roboto"/>
                <a:sym typeface="Roboto"/>
              </a:rPr>
              <a:t>Visualize continuous data distributions such as age spread, sleep hours, and stress levels among participants.</a:t>
            </a:r>
          </a:p>
        </p:txBody>
      </p:sp>
      <p:sp>
        <p:nvSpPr>
          <p:cNvPr id="18" name="TextBox 18"/>
          <p:cNvSpPr txBox="1"/>
          <p:nvPr/>
        </p:nvSpPr>
        <p:spPr>
          <a:xfrm>
            <a:off x="10768704" y="4438857"/>
            <a:ext cx="5930954" cy="415239"/>
          </a:xfrm>
          <a:prstGeom prst="rect">
            <a:avLst/>
          </a:prstGeom>
        </p:spPr>
        <p:txBody>
          <a:bodyPr lIns="0" tIns="0" rIns="0" bIns="0" rtlCol="0" anchor="t">
            <a:spAutoFit/>
          </a:bodyPr>
          <a:lstStyle/>
          <a:p>
            <a:pPr marL="0" lvl="0" indent="0" algn="l">
              <a:lnSpc>
                <a:spcPts val="3027"/>
              </a:lnSpc>
            </a:pPr>
            <a:r>
              <a:rPr lang="en-US" sz="2997" b="1">
                <a:solidFill>
                  <a:srgbClr val="388D89"/>
                </a:solidFill>
                <a:latin typeface="Roboto Bold"/>
                <a:ea typeface="Roboto Bold"/>
                <a:cs typeface="Roboto Bold"/>
                <a:sym typeface="Roboto Bold"/>
              </a:rPr>
              <a:t>Histograms</a:t>
            </a:r>
          </a:p>
        </p:txBody>
      </p:sp>
      <p:sp>
        <p:nvSpPr>
          <p:cNvPr id="19" name="TextBox 19"/>
          <p:cNvSpPr txBox="1"/>
          <p:nvPr/>
        </p:nvSpPr>
        <p:spPr>
          <a:xfrm>
            <a:off x="10763106" y="7882738"/>
            <a:ext cx="5930954" cy="703519"/>
          </a:xfrm>
          <a:prstGeom prst="rect">
            <a:avLst/>
          </a:prstGeom>
        </p:spPr>
        <p:txBody>
          <a:bodyPr lIns="0" tIns="0" rIns="0" bIns="0" rtlCol="0" anchor="t">
            <a:spAutoFit/>
          </a:bodyPr>
          <a:lstStyle/>
          <a:p>
            <a:pPr marL="0" lvl="0" indent="0" algn="just">
              <a:lnSpc>
                <a:spcPts val="2861"/>
              </a:lnSpc>
            </a:pPr>
            <a:r>
              <a:rPr lang="en-US" sz="1625">
                <a:solidFill>
                  <a:srgbClr val="F8FFFF"/>
                </a:solidFill>
                <a:latin typeface="Roboto"/>
                <a:ea typeface="Roboto"/>
                <a:cs typeface="Roboto"/>
                <a:sym typeface="Roboto"/>
              </a:rPr>
              <a:t>Explore relationships between variables like sleep hours vs. work stress to identify potential correlations.</a:t>
            </a:r>
          </a:p>
        </p:txBody>
      </p:sp>
      <p:sp>
        <p:nvSpPr>
          <p:cNvPr id="20" name="TextBox 20"/>
          <p:cNvSpPr txBox="1"/>
          <p:nvPr/>
        </p:nvSpPr>
        <p:spPr>
          <a:xfrm>
            <a:off x="10763106" y="7328260"/>
            <a:ext cx="5930954" cy="415239"/>
          </a:xfrm>
          <a:prstGeom prst="rect">
            <a:avLst/>
          </a:prstGeom>
        </p:spPr>
        <p:txBody>
          <a:bodyPr lIns="0" tIns="0" rIns="0" bIns="0" rtlCol="0" anchor="t">
            <a:spAutoFit/>
          </a:bodyPr>
          <a:lstStyle/>
          <a:p>
            <a:pPr marL="0" lvl="0" indent="0" algn="l">
              <a:lnSpc>
                <a:spcPts val="3027"/>
              </a:lnSpc>
            </a:pPr>
            <a:r>
              <a:rPr lang="en-US" sz="2997" b="1">
                <a:solidFill>
                  <a:srgbClr val="F8FFFF"/>
                </a:solidFill>
                <a:latin typeface="Roboto Bold"/>
                <a:ea typeface="Roboto Bold"/>
                <a:cs typeface="Roboto Bold"/>
                <a:sym typeface="Roboto Bold"/>
              </a:rPr>
              <a:t>Scatter Plots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Freeform 3"/>
          <p:cNvSpPr/>
          <p:nvPr/>
        </p:nvSpPr>
        <p:spPr>
          <a:xfrm>
            <a:off x="13434719" y="1849053"/>
            <a:ext cx="4343531" cy="8234182"/>
          </a:xfrm>
          <a:custGeom>
            <a:avLst/>
            <a:gdLst/>
            <a:ahLst/>
            <a:cxnLst/>
            <a:rect l="l" t="t" r="r" b="b"/>
            <a:pathLst>
              <a:path w="4343531" h="8234182">
                <a:moveTo>
                  <a:pt x="0" y="0"/>
                </a:moveTo>
                <a:lnTo>
                  <a:pt x="4343532" y="0"/>
                </a:lnTo>
                <a:lnTo>
                  <a:pt x="4343532" y="8234182"/>
                </a:lnTo>
                <a:lnTo>
                  <a:pt x="0" y="8234182"/>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710220" y="190500"/>
            <a:ext cx="11551881" cy="1125308"/>
          </a:xfrm>
          <a:prstGeom prst="rect">
            <a:avLst/>
          </a:prstGeom>
        </p:spPr>
        <p:txBody>
          <a:bodyPr lIns="0" tIns="0" rIns="0" bIns="0" rtlCol="0" anchor="t">
            <a:spAutoFit/>
          </a:bodyPr>
          <a:lstStyle/>
          <a:p>
            <a:pPr marL="0" lvl="0" indent="0" algn="l">
              <a:lnSpc>
                <a:spcPts val="10080"/>
              </a:lnSpc>
            </a:pPr>
            <a:r>
              <a:rPr lang="en-US" sz="4800" b="1" dirty="0">
                <a:solidFill>
                  <a:srgbClr val="388D89"/>
                </a:solidFill>
                <a:latin typeface="Roboto Bold"/>
                <a:ea typeface="Roboto Bold"/>
                <a:cs typeface="Roboto Bold"/>
                <a:sym typeface="Roboto Bold"/>
              </a:rPr>
              <a:t>SIMPLE LINEAR REGRESSION MODEL</a:t>
            </a:r>
          </a:p>
        </p:txBody>
      </p:sp>
      <p:sp>
        <p:nvSpPr>
          <p:cNvPr id="5" name="TextBox 5"/>
          <p:cNvSpPr txBox="1"/>
          <p:nvPr/>
        </p:nvSpPr>
        <p:spPr>
          <a:xfrm>
            <a:off x="705303" y="1466433"/>
            <a:ext cx="13163096" cy="2708434"/>
          </a:xfrm>
          <a:prstGeom prst="rect">
            <a:avLst/>
          </a:prstGeom>
        </p:spPr>
        <p:txBody>
          <a:bodyPr wrap="square" lIns="0" tIns="0" rIns="0" bIns="0" rtlCol="0" anchor="t">
            <a:spAutoFit/>
          </a:bodyPr>
          <a:lstStyle/>
          <a:p>
            <a:pPr>
              <a:lnSpc>
                <a:spcPct val="150000"/>
              </a:lnSpc>
            </a:pPr>
            <a:r>
              <a:rPr lang="en-US" sz="2400" dirty="0">
                <a:solidFill>
                  <a:srgbClr val="009999"/>
                </a:solidFill>
                <a:latin typeface="Roboto" panose="02000000000000000000" pitchFamily="2" charset="0"/>
                <a:ea typeface="Roboto" panose="02000000000000000000" pitchFamily="2" charset="0"/>
                <a:cs typeface="Roboto" panose="02000000000000000000" pitchFamily="2" charset="0"/>
              </a:rPr>
              <a:t>	For the </a:t>
            </a:r>
            <a:r>
              <a:rPr lang="en-US" sz="2400" b="1" dirty="0">
                <a:solidFill>
                  <a:srgbClr val="009999"/>
                </a:solidFill>
                <a:latin typeface="Roboto" panose="02000000000000000000" pitchFamily="2" charset="0"/>
                <a:ea typeface="Roboto" panose="02000000000000000000" pitchFamily="2" charset="0"/>
                <a:cs typeface="Roboto" panose="02000000000000000000" pitchFamily="2" charset="0"/>
              </a:rPr>
              <a:t>Simple Linear Regression model</a:t>
            </a:r>
            <a:r>
              <a:rPr lang="en-US" sz="2400" dirty="0">
                <a:solidFill>
                  <a:srgbClr val="009999"/>
                </a:solidFill>
                <a:latin typeface="Roboto" panose="02000000000000000000" pitchFamily="2" charset="0"/>
                <a:ea typeface="Roboto" panose="02000000000000000000" pitchFamily="2" charset="0"/>
                <a:cs typeface="Roboto" panose="02000000000000000000" pitchFamily="2" charset="0"/>
              </a:rPr>
              <a:t>, the relationship between </a:t>
            </a:r>
            <a:r>
              <a:rPr lang="en-US" sz="2400" i="1" dirty="0">
                <a:solidFill>
                  <a:srgbClr val="009999"/>
                </a:solidFill>
                <a:latin typeface="Roboto" panose="02000000000000000000" pitchFamily="2" charset="0"/>
                <a:ea typeface="Roboto" panose="02000000000000000000" pitchFamily="2" charset="0"/>
                <a:cs typeface="Roboto" panose="02000000000000000000" pitchFamily="2" charset="0"/>
              </a:rPr>
              <a:t>Sleep Hours</a:t>
            </a:r>
            <a:r>
              <a:rPr lang="en-US" sz="2400" dirty="0">
                <a:solidFill>
                  <a:srgbClr val="009999"/>
                </a:solidFill>
                <a:latin typeface="Roboto" panose="02000000000000000000" pitchFamily="2" charset="0"/>
                <a:ea typeface="Roboto" panose="02000000000000000000" pitchFamily="2" charset="0"/>
                <a:cs typeface="Roboto" panose="02000000000000000000" pitchFamily="2" charset="0"/>
              </a:rPr>
              <a:t> and </a:t>
            </a:r>
            <a:r>
              <a:rPr lang="en-US" sz="2400" i="1" dirty="0">
                <a:solidFill>
                  <a:srgbClr val="009999"/>
                </a:solidFill>
                <a:latin typeface="Roboto" panose="02000000000000000000" pitchFamily="2" charset="0"/>
                <a:ea typeface="Roboto" panose="02000000000000000000" pitchFamily="2" charset="0"/>
                <a:cs typeface="Roboto" panose="02000000000000000000" pitchFamily="2" charset="0"/>
              </a:rPr>
              <a:t>Work Stress Level</a:t>
            </a:r>
            <a:r>
              <a:rPr lang="en-US" sz="2400" dirty="0">
                <a:solidFill>
                  <a:srgbClr val="009999"/>
                </a:solidFill>
                <a:latin typeface="Roboto" panose="02000000000000000000" pitchFamily="2" charset="0"/>
                <a:ea typeface="Roboto" panose="02000000000000000000" pitchFamily="2" charset="0"/>
                <a:cs typeface="Roboto" panose="02000000000000000000" pitchFamily="2" charset="0"/>
              </a:rPr>
              <a:t> was analyzed. The model attempted to capture the relationship between these variables; however, the very low R² score indicates that there is no strong linear relationship between them. The predicted values were visualized using a regression line, which helps in understanding the trend, but the model does not provide accurate predictions due to weak correlation.</a:t>
            </a:r>
          </a:p>
        </p:txBody>
      </p:sp>
      <p:pic>
        <p:nvPicPr>
          <p:cNvPr id="6" name="Picture 5">
            <a:extLst>
              <a:ext uri="{FF2B5EF4-FFF2-40B4-BE49-F238E27FC236}">
                <a16:creationId xmlns:a16="http://schemas.microsoft.com/office/drawing/2014/main" id="{2202A710-16E7-EC56-1262-802971616E1A}"/>
              </a:ext>
            </a:extLst>
          </p:cNvPr>
          <p:cNvPicPr>
            <a:picLocks noChangeAspect="1"/>
          </p:cNvPicPr>
          <p:nvPr/>
        </p:nvPicPr>
        <p:blipFill>
          <a:blip r:embed="rId4"/>
          <a:stretch>
            <a:fillRect/>
          </a:stretch>
        </p:blipFill>
        <p:spPr>
          <a:xfrm>
            <a:off x="705303" y="4424516"/>
            <a:ext cx="9124497" cy="562553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Freeform 3"/>
          <p:cNvSpPr/>
          <p:nvPr/>
        </p:nvSpPr>
        <p:spPr>
          <a:xfrm>
            <a:off x="10326328" y="4384430"/>
            <a:ext cx="7224335" cy="5183460"/>
          </a:xfrm>
          <a:custGeom>
            <a:avLst/>
            <a:gdLst/>
            <a:ahLst/>
            <a:cxnLst/>
            <a:rect l="l" t="t" r="r" b="b"/>
            <a:pathLst>
              <a:path w="7224335" h="5183460">
                <a:moveTo>
                  <a:pt x="0" y="0"/>
                </a:moveTo>
                <a:lnTo>
                  <a:pt x="7224334" y="0"/>
                </a:lnTo>
                <a:lnTo>
                  <a:pt x="7224334" y="5183460"/>
                </a:lnTo>
                <a:lnTo>
                  <a:pt x="0" y="5183460"/>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625193" y="430578"/>
            <a:ext cx="12725400" cy="865622"/>
          </a:xfrm>
          <a:prstGeom prst="rect">
            <a:avLst/>
          </a:prstGeom>
        </p:spPr>
        <p:txBody>
          <a:bodyPr wrap="square" lIns="0" tIns="0" rIns="0" bIns="0" rtlCol="0" anchor="t">
            <a:spAutoFit/>
          </a:bodyPr>
          <a:lstStyle/>
          <a:p>
            <a:pPr marL="0" lvl="0" indent="0" algn="l">
              <a:lnSpc>
                <a:spcPts val="7170"/>
              </a:lnSpc>
            </a:pPr>
            <a:r>
              <a:rPr lang="en-US" sz="5400" b="1" dirty="0">
                <a:solidFill>
                  <a:srgbClr val="388D89"/>
                </a:solidFill>
                <a:latin typeface="Roboto Bold"/>
                <a:ea typeface="Roboto Bold"/>
                <a:cs typeface="Roboto Bold"/>
                <a:sym typeface="Roboto Bold"/>
              </a:rPr>
              <a:t>MULTIPLE LINEAR REGRESSION MODEL</a:t>
            </a:r>
          </a:p>
        </p:txBody>
      </p:sp>
      <p:sp>
        <p:nvSpPr>
          <p:cNvPr id="5" name="TextBox 5"/>
          <p:cNvSpPr txBox="1"/>
          <p:nvPr/>
        </p:nvSpPr>
        <p:spPr>
          <a:xfrm>
            <a:off x="625193" y="1582499"/>
            <a:ext cx="17037614" cy="2708434"/>
          </a:xfrm>
          <a:prstGeom prst="rect">
            <a:avLst/>
          </a:prstGeom>
        </p:spPr>
        <p:txBody>
          <a:bodyPr wrap="square" lIns="0" tIns="0" rIns="0" bIns="0" rtlCol="0" anchor="t">
            <a:spAutoFit/>
          </a:bodyPr>
          <a:lstStyle/>
          <a:p>
            <a:pPr>
              <a:lnSpc>
                <a:spcPct val="150000"/>
              </a:lnSpc>
            </a:pPr>
            <a:r>
              <a:rPr lang="en-US" sz="2400" dirty="0">
                <a:solidFill>
                  <a:srgbClr val="009999"/>
                </a:solidFill>
                <a:latin typeface="Roboto" panose="02000000000000000000" pitchFamily="2" charset="0"/>
                <a:ea typeface="Roboto" panose="02000000000000000000" pitchFamily="2" charset="0"/>
                <a:cs typeface="Roboto" panose="02000000000000000000" pitchFamily="2" charset="0"/>
              </a:rPr>
              <a:t>	For the </a:t>
            </a:r>
            <a:r>
              <a:rPr lang="en-US" sz="2400" b="1" dirty="0">
                <a:solidFill>
                  <a:srgbClr val="009999"/>
                </a:solidFill>
                <a:latin typeface="Roboto" panose="02000000000000000000" pitchFamily="2" charset="0"/>
                <a:ea typeface="Roboto" panose="02000000000000000000" pitchFamily="2" charset="0"/>
                <a:cs typeface="Roboto" panose="02000000000000000000" pitchFamily="2" charset="0"/>
              </a:rPr>
              <a:t>Multiple Linear Regression model</a:t>
            </a:r>
            <a:r>
              <a:rPr lang="en-US" sz="2400" dirty="0">
                <a:solidFill>
                  <a:srgbClr val="009999"/>
                </a:solidFill>
                <a:latin typeface="Roboto" panose="02000000000000000000" pitchFamily="2" charset="0"/>
                <a:ea typeface="Roboto" panose="02000000000000000000" pitchFamily="2" charset="0"/>
                <a:cs typeface="Roboto" panose="02000000000000000000" pitchFamily="2" charset="0"/>
              </a:rPr>
              <a:t>, performance was evaluated using the R² Score. This model used multiple input features such as sleep hours, work hours, screen time, and social media usage to predict stress levels. Although multiple factors were considered, the R² score remained very low, indicating that these variables are not sufficient to explain the variation in stress levels. An </a:t>
            </a:r>
            <a:r>
              <a:rPr lang="en-US" sz="2400" i="1" dirty="0">
                <a:solidFill>
                  <a:srgbClr val="009999"/>
                </a:solidFill>
                <a:latin typeface="Roboto" panose="02000000000000000000" pitchFamily="2" charset="0"/>
                <a:ea typeface="Roboto" panose="02000000000000000000" pitchFamily="2" charset="0"/>
                <a:cs typeface="Roboto" panose="02000000000000000000" pitchFamily="2" charset="0"/>
              </a:rPr>
              <a:t>Actual vs Predicted</a:t>
            </a:r>
            <a:r>
              <a:rPr lang="en-US" sz="2400" dirty="0">
                <a:solidFill>
                  <a:srgbClr val="009999"/>
                </a:solidFill>
                <a:latin typeface="Roboto" panose="02000000000000000000" pitchFamily="2" charset="0"/>
                <a:ea typeface="Roboto" panose="02000000000000000000" pitchFamily="2" charset="0"/>
                <a:cs typeface="Roboto" panose="02000000000000000000" pitchFamily="2" charset="0"/>
              </a:rPr>
              <a:t> scatter plot was also created to visually compare the model’s predictions with actual values.</a:t>
            </a:r>
          </a:p>
        </p:txBody>
      </p:sp>
      <p:pic>
        <p:nvPicPr>
          <p:cNvPr id="6" name="Picture 5">
            <a:extLst>
              <a:ext uri="{FF2B5EF4-FFF2-40B4-BE49-F238E27FC236}">
                <a16:creationId xmlns:a16="http://schemas.microsoft.com/office/drawing/2014/main" id="{8FCA09BE-7F1A-9528-9DE3-E5502DEEDC31}"/>
              </a:ext>
            </a:extLst>
          </p:cNvPr>
          <p:cNvPicPr>
            <a:picLocks noChangeAspect="1"/>
          </p:cNvPicPr>
          <p:nvPr/>
        </p:nvPicPr>
        <p:blipFill>
          <a:blip r:embed="rId4"/>
          <a:stretch>
            <a:fillRect/>
          </a:stretch>
        </p:blipFill>
        <p:spPr>
          <a:xfrm>
            <a:off x="533400" y="4762500"/>
            <a:ext cx="8077200" cy="527113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Freeform 3"/>
          <p:cNvSpPr/>
          <p:nvPr/>
        </p:nvSpPr>
        <p:spPr>
          <a:xfrm>
            <a:off x="13082873" y="684555"/>
            <a:ext cx="5065463" cy="8219818"/>
          </a:xfrm>
          <a:custGeom>
            <a:avLst/>
            <a:gdLst/>
            <a:ahLst/>
            <a:cxnLst/>
            <a:rect l="l" t="t" r="r" b="b"/>
            <a:pathLst>
              <a:path w="5065463" h="8219818">
                <a:moveTo>
                  <a:pt x="0" y="0"/>
                </a:moveTo>
                <a:lnTo>
                  <a:pt x="5065463" y="0"/>
                </a:lnTo>
                <a:lnTo>
                  <a:pt x="5065463" y="8219818"/>
                </a:lnTo>
                <a:lnTo>
                  <a:pt x="0" y="8219818"/>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765496" y="419100"/>
            <a:ext cx="11551881" cy="1163780"/>
          </a:xfrm>
          <a:prstGeom prst="rect">
            <a:avLst/>
          </a:prstGeom>
        </p:spPr>
        <p:txBody>
          <a:bodyPr lIns="0" tIns="0" rIns="0" bIns="0" rtlCol="0" anchor="t">
            <a:spAutoFit/>
          </a:bodyPr>
          <a:lstStyle/>
          <a:p>
            <a:pPr marL="0" lvl="0" indent="0" algn="l">
              <a:lnSpc>
                <a:spcPts val="10080"/>
              </a:lnSpc>
            </a:pPr>
            <a:r>
              <a:rPr lang="en-US" sz="5400" b="1" dirty="0">
                <a:solidFill>
                  <a:srgbClr val="388D89"/>
                </a:solidFill>
                <a:latin typeface="Roboto Bold"/>
                <a:ea typeface="Roboto Bold"/>
                <a:cs typeface="Roboto Bold"/>
                <a:sym typeface="Roboto Bold"/>
              </a:rPr>
              <a:t>LOGISTIC REGRESSION MODEL</a:t>
            </a:r>
          </a:p>
        </p:txBody>
      </p:sp>
      <p:sp>
        <p:nvSpPr>
          <p:cNvPr id="5" name="TextBox 5"/>
          <p:cNvSpPr txBox="1"/>
          <p:nvPr/>
        </p:nvSpPr>
        <p:spPr>
          <a:xfrm>
            <a:off x="765495" y="1866900"/>
            <a:ext cx="11551881" cy="2987997"/>
          </a:xfrm>
          <a:prstGeom prst="rect">
            <a:avLst/>
          </a:prstGeom>
        </p:spPr>
        <p:txBody>
          <a:bodyPr lIns="0" tIns="0" rIns="0" bIns="0" rtlCol="0" anchor="t">
            <a:spAutoFit/>
          </a:bodyPr>
          <a:lstStyle/>
          <a:p>
            <a:pPr>
              <a:lnSpc>
                <a:spcPct val="200000"/>
              </a:lnSpc>
            </a:pPr>
            <a:r>
              <a:rPr lang="en-US" sz="2000" dirty="0">
                <a:solidFill>
                  <a:srgbClr val="009999"/>
                </a:solidFill>
                <a:latin typeface="Roboto" panose="02000000000000000000" pitchFamily="2" charset="0"/>
                <a:ea typeface="Roboto" panose="02000000000000000000" pitchFamily="2" charset="0"/>
                <a:cs typeface="Roboto" panose="02000000000000000000" pitchFamily="2" charset="0"/>
              </a:rPr>
              <a:t>For the </a:t>
            </a:r>
            <a:r>
              <a:rPr lang="en-US" sz="2000" b="1" dirty="0">
                <a:solidFill>
                  <a:srgbClr val="009999"/>
                </a:solidFill>
                <a:latin typeface="Roboto" panose="02000000000000000000" pitchFamily="2" charset="0"/>
                <a:ea typeface="Roboto" panose="02000000000000000000" pitchFamily="2" charset="0"/>
                <a:cs typeface="Roboto" panose="02000000000000000000" pitchFamily="2" charset="0"/>
              </a:rPr>
              <a:t>Logistic Regression model</a:t>
            </a:r>
            <a:r>
              <a:rPr lang="en-US" sz="2000" dirty="0">
                <a:solidFill>
                  <a:srgbClr val="009999"/>
                </a:solidFill>
                <a:latin typeface="Roboto" panose="02000000000000000000" pitchFamily="2" charset="0"/>
                <a:ea typeface="Roboto" panose="02000000000000000000" pitchFamily="2" charset="0"/>
                <a:cs typeface="Roboto" panose="02000000000000000000" pitchFamily="2" charset="0"/>
              </a:rPr>
              <a:t>, evaluation was performed using accuracy score. The model was trained to classify whether a person has a mental health issue (0 or 1). After splitting the dataset into training and testing sets, predictions were made and compared with actual values. The model achieved high accuracy, indicating strong performance in classification tasks. This shows that logistic regression is more suitable for this dataset compared to regression models.</a:t>
            </a:r>
          </a:p>
        </p:txBody>
      </p:sp>
      <p:pic>
        <p:nvPicPr>
          <p:cNvPr id="6" name="Picture 5">
            <a:extLst>
              <a:ext uri="{FF2B5EF4-FFF2-40B4-BE49-F238E27FC236}">
                <a16:creationId xmlns:a16="http://schemas.microsoft.com/office/drawing/2014/main" id="{C6B400B5-CA14-6C64-C65C-4AF2DBEBBE1E}"/>
              </a:ext>
            </a:extLst>
          </p:cNvPr>
          <p:cNvPicPr>
            <a:picLocks noChangeAspect="1"/>
          </p:cNvPicPr>
          <p:nvPr/>
        </p:nvPicPr>
        <p:blipFill>
          <a:blip r:embed="rId4"/>
          <a:stretch>
            <a:fillRect/>
          </a:stretch>
        </p:blipFill>
        <p:spPr>
          <a:xfrm>
            <a:off x="714508" y="5359400"/>
            <a:ext cx="8981240" cy="304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Freeform 3"/>
          <p:cNvSpPr/>
          <p:nvPr/>
        </p:nvSpPr>
        <p:spPr>
          <a:xfrm>
            <a:off x="1456209" y="4472103"/>
            <a:ext cx="7241452" cy="4507804"/>
          </a:xfrm>
          <a:custGeom>
            <a:avLst/>
            <a:gdLst/>
            <a:ahLst/>
            <a:cxnLst/>
            <a:rect l="l" t="t" r="r" b="b"/>
            <a:pathLst>
              <a:path w="7241452" h="4507804">
                <a:moveTo>
                  <a:pt x="0" y="0"/>
                </a:moveTo>
                <a:lnTo>
                  <a:pt x="7241452" y="0"/>
                </a:lnTo>
                <a:lnTo>
                  <a:pt x="7241452" y="4507804"/>
                </a:lnTo>
                <a:lnTo>
                  <a:pt x="0" y="4507804"/>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1167464"/>
            <a:ext cx="8017661" cy="1886241"/>
          </a:xfrm>
          <a:prstGeom prst="rect">
            <a:avLst/>
          </a:prstGeom>
        </p:spPr>
        <p:txBody>
          <a:bodyPr lIns="0" tIns="0" rIns="0" bIns="0" rtlCol="0" anchor="t">
            <a:spAutoFit/>
          </a:bodyPr>
          <a:lstStyle/>
          <a:p>
            <a:pPr marL="0" lvl="0" indent="0" algn="l">
              <a:lnSpc>
                <a:spcPts val="7382"/>
              </a:lnSpc>
            </a:pPr>
            <a:r>
              <a:rPr lang="en-US" sz="6591" b="1">
                <a:solidFill>
                  <a:srgbClr val="388D89"/>
                </a:solidFill>
                <a:latin typeface="Roboto Bold"/>
                <a:ea typeface="Roboto Bold"/>
                <a:cs typeface="Roboto Bold"/>
                <a:sym typeface="Roboto Bold"/>
              </a:rPr>
              <a:t>MODEL EVALUATION SUMMARY</a:t>
            </a:r>
          </a:p>
        </p:txBody>
      </p:sp>
      <p:grpSp>
        <p:nvGrpSpPr>
          <p:cNvPr id="5" name="Group 5"/>
          <p:cNvGrpSpPr/>
          <p:nvPr/>
        </p:nvGrpSpPr>
        <p:grpSpPr>
          <a:xfrm>
            <a:off x="9997678" y="1195400"/>
            <a:ext cx="7261622" cy="1723940"/>
            <a:chOff x="0" y="0"/>
            <a:chExt cx="1912526" cy="454042"/>
          </a:xfrm>
        </p:grpSpPr>
        <p:sp>
          <p:nvSpPr>
            <p:cNvPr id="6" name="Freeform 6"/>
            <p:cNvSpPr/>
            <p:nvPr/>
          </p:nvSpPr>
          <p:spPr>
            <a:xfrm>
              <a:off x="0" y="0"/>
              <a:ext cx="1912526" cy="454042"/>
            </a:xfrm>
            <a:custGeom>
              <a:avLst/>
              <a:gdLst/>
              <a:ahLst/>
              <a:cxnLst/>
              <a:rect l="l" t="t" r="r" b="b"/>
              <a:pathLst>
                <a:path w="1912526" h="454042">
                  <a:moveTo>
                    <a:pt x="1912526" y="21323"/>
                  </a:moveTo>
                  <a:lnTo>
                    <a:pt x="1912526" y="432719"/>
                  </a:lnTo>
                  <a:cubicBezTo>
                    <a:pt x="1912526" y="438374"/>
                    <a:pt x="1910279" y="443798"/>
                    <a:pt x="1906281" y="447796"/>
                  </a:cubicBezTo>
                  <a:cubicBezTo>
                    <a:pt x="1902282" y="451795"/>
                    <a:pt x="1896858" y="454042"/>
                    <a:pt x="1891203" y="454042"/>
                  </a:cubicBezTo>
                  <a:lnTo>
                    <a:pt x="21323" y="454042"/>
                  </a:lnTo>
                  <a:cubicBezTo>
                    <a:pt x="9547" y="454042"/>
                    <a:pt x="0" y="444495"/>
                    <a:pt x="0" y="432719"/>
                  </a:cubicBezTo>
                  <a:lnTo>
                    <a:pt x="0" y="21323"/>
                  </a:lnTo>
                  <a:cubicBezTo>
                    <a:pt x="0" y="9547"/>
                    <a:pt x="9547" y="0"/>
                    <a:pt x="21323" y="0"/>
                  </a:cubicBezTo>
                  <a:lnTo>
                    <a:pt x="1891203" y="0"/>
                  </a:lnTo>
                  <a:cubicBezTo>
                    <a:pt x="1902979" y="0"/>
                    <a:pt x="1912526" y="9547"/>
                    <a:pt x="1912526" y="21323"/>
                  </a:cubicBezTo>
                  <a:close/>
                </a:path>
              </a:pathLst>
            </a:custGeom>
            <a:solidFill>
              <a:srgbClr val="388D89"/>
            </a:solidFill>
          </p:spPr>
          <p:txBody>
            <a:bodyPr/>
            <a:lstStyle/>
            <a:p>
              <a:endParaRPr lang="en-US"/>
            </a:p>
          </p:txBody>
        </p:sp>
        <p:sp>
          <p:nvSpPr>
            <p:cNvPr id="7" name="TextBox 7"/>
            <p:cNvSpPr txBox="1"/>
            <p:nvPr/>
          </p:nvSpPr>
          <p:spPr>
            <a:xfrm>
              <a:off x="0" y="-38100"/>
              <a:ext cx="1912526" cy="492142"/>
            </a:xfrm>
            <a:prstGeom prst="rect">
              <a:avLst/>
            </a:prstGeom>
          </p:spPr>
          <p:txBody>
            <a:bodyPr lIns="50800" tIns="50800" rIns="50800" bIns="50800" rtlCol="0" anchor="ctr"/>
            <a:lstStyle/>
            <a:p>
              <a:pPr marL="0" lvl="0" indent="0" algn="ctr">
                <a:lnSpc>
                  <a:spcPts val="2659"/>
                </a:lnSpc>
              </a:pPr>
              <a:endParaRPr/>
            </a:p>
          </p:txBody>
        </p:sp>
      </p:grpSp>
      <p:sp>
        <p:nvSpPr>
          <p:cNvPr id="8" name="TextBox 8"/>
          <p:cNvSpPr txBox="1"/>
          <p:nvPr/>
        </p:nvSpPr>
        <p:spPr>
          <a:xfrm>
            <a:off x="11351796" y="1570070"/>
            <a:ext cx="5648104" cy="703519"/>
          </a:xfrm>
          <a:prstGeom prst="rect">
            <a:avLst/>
          </a:prstGeom>
        </p:spPr>
        <p:txBody>
          <a:bodyPr lIns="0" tIns="0" rIns="0" bIns="0" rtlCol="0" anchor="t">
            <a:spAutoFit/>
          </a:bodyPr>
          <a:lstStyle/>
          <a:p>
            <a:pPr marL="0" lvl="0" indent="0" algn="just">
              <a:lnSpc>
                <a:spcPts val="2861"/>
              </a:lnSpc>
            </a:pPr>
            <a:r>
              <a:rPr lang="en-US" sz="1625">
                <a:solidFill>
                  <a:srgbClr val="DEF3FC"/>
                </a:solidFill>
                <a:latin typeface="Roboto"/>
                <a:ea typeface="Roboto"/>
                <a:cs typeface="Roboto"/>
                <a:sym typeface="Roboto"/>
              </a:rPr>
              <a:t>Simple Linear Regression: R² = 0.000587, indicating very weak linear relationship between sleep and stress.</a:t>
            </a:r>
          </a:p>
        </p:txBody>
      </p:sp>
      <p:sp>
        <p:nvSpPr>
          <p:cNvPr id="9" name="TextBox 9"/>
          <p:cNvSpPr txBox="1"/>
          <p:nvPr/>
        </p:nvSpPr>
        <p:spPr>
          <a:xfrm>
            <a:off x="10257079" y="1379570"/>
            <a:ext cx="858417" cy="1070107"/>
          </a:xfrm>
          <a:prstGeom prst="rect">
            <a:avLst/>
          </a:prstGeom>
        </p:spPr>
        <p:txBody>
          <a:bodyPr lIns="0" tIns="0" rIns="0" bIns="0" rtlCol="0" anchor="t">
            <a:spAutoFit/>
          </a:bodyPr>
          <a:lstStyle/>
          <a:p>
            <a:pPr marL="0" lvl="0" indent="0" algn="ctr">
              <a:lnSpc>
                <a:spcPts val="9124"/>
              </a:lnSpc>
            </a:pPr>
            <a:r>
              <a:rPr lang="en-US" sz="5184" b="1">
                <a:solidFill>
                  <a:srgbClr val="F8FFFF"/>
                </a:solidFill>
                <a:latin typeface="Roboto Bold"/>
                <a:ea typeface="Roboto Bold"/>
                <a:cs typeface="Roboto Bold"/>
                <a:sym typeface="Roboto Bold"/>
              </a:rPr>
              <a:t>01</a:t>
            </a:r>
          </a:p>
        </p:txBody>
      </p:sp>
      <p:grpSp>
        <p:nvGrpSpPr>
          <p:cNvPr id="10" name="Group 10"/>
          <p:cNvGrpSpPr/>
          <p:nvPr/>
        </p:nvGrpSpPr>
        <p:grpSpPr>
          <a:xfrm>
            <a:off x="9997678" y="3253032"/>
            <a:ext cx="7261622" cy="1723940"/>
            <a:chOff x="0" y="0"/>
            <a:chExt cx="1912526" cy="454042"/>
          </a:xfrm>
        </p:grpSpPr>
        <p:sp>
          <p:nvSpPr>
            <p:cNvPr id="11" name="Freeform 11"/>
            <p:cNvSpPr/>
            <p:nvPr/>
          </p:nvSpPr>
          <p:spPr>
            <a:xfrm>
              <a:off x="0" y="0"/>
              <a:ext cx="1912526" cy="454042"/>
            </a:xfrm>
            <a:custGeom>
              <a:avLst/>
              <a:gdLst/>
              <a:ahLst/>
              <a:cxnLst/>
              <a:rect l="l" t="t" r="r" b="b"/>
              <a:pathLst>
                <a:path w="1912526" h="454042">
                  <a:moveTo>
                    <a:pt x="1912526" y="21323"/>
                  </a:moveTo>
                  <a:lnTo>
                    <a:pt x="1912526" y="432719"/>
                  </a:lnTo>
                  <a:cubicBezTo>
                    <a:pt x="1912526" y="438374"/>
                    <a:pt x="1910279" y="443798"/>
                    <a:pt x="1906281" y="447796"/>
                  </a:cubicBezTo>
                  <a:cubicBezTo>
                    <a:pt x="1902282" y="451795"/>
                    <a:pt x="1896858" y="454042"/>
                    <a:pt x="1891203" y="454042"/>
                  </a:cubicBezTo>
                  <a:lnTo>
                    <a:pt x="21323" y="454042"/>
                  </a:lnTo>
                  <a:cubicBezTo>
                    <a:pt x="9547" y="454042"/>
                    <a:pt x="0" y="444495"/>
                    <a:pt x="0" y="432719"/>
                  </a:cubicBezTo>
                  <a:lnTo>
                    <a:pt x="0" y="21323"/>
                  </a:lnTo>
                  <a:cubicBezTo>
                    <a:pt x="0" y="9547"/>
                    <a:pt x="9547" y="0"/>
                    <a:pt x="21323" y="0"/>
                  </a:cubicBezTo>
                  <a:lnTo>
                    <a:pt x="1891203" y="0"/>
                  </a:lnTo>
                  <a:cubicBezTo>
                    <a:pt x="1902979" y="0"/>
                    <a:pt x="1912526" y="9547"/>
                    <a:pt x="1912526" y="21323"/>
                  </a:cubicBezTo>
                  <a:close/>
                </a:path>
              </a:pathLst>
            </a:custGeom>
            <a:solidFill>
              <a:srgbClr val="CCF1F0"/>
            </a:solidFill>
          </p:spPr>
          <p:txBody>
            <a:bodyPr/>
            <a:lstStyle/>
            <a:p>
              <a:endParaRPr lang="en-US"/>
            </a:p>
          </p:txBody>
        </p:sp>
        <p:sp>
          <p:nvSpPr>
            <p:cNvPr id="12" name="TextBox 12"/>
            <p:cNvSpPr txBox="1"/>
            <p:nvPr/>
          </p:nvSpPr>
          <p:spPr>
            <a:xfrm>
              <a:off x="0" y="-38100"/>
              <a:ext cx="1912526" cy="492142"/>
            </a:xfrm>
            <a:prstGeom prst="rect">
              <a:avLst/>
            </a:prstGeom>
          </p:spPr>
          <p:txBody>
            <a:bodyPr lIns="50800" tIns="50800" rIns="50800" bIns="50800" rtlCol="0" anchor="ctr"/>
            <a:lstStyle/>
            <a:p>
              <a:pPr marL="0" lvl="0" indent="0" algn="ctr">
                <a:lnSpc>
                  <a:spcPts val="2659"/>
                </a:lnSpc>
              </a:pPr>
              <a:endParaRPr/>
            </a:p>
          </p:txBody>
        </p:sp>
      </p:grpSp>
      <p:sp>
        <p:nvSpPr>
          <p:cNvPr id="13" name="TextBox 13"/>
          <p:cNvSpPr txBox="1"/>
          <p:nvPr/>
        </p:nvSpPr>
        <p:spPr>
          <a:xfrm>
            <a:off x="11351796" y="3627702"/>
            <a:ext cx="5648104" cy="703519"/>
          </a:xfrm>
          <a:prstGeom prst="rect">
            <a:avLst/>
          </a:prstGeom>
        </p:spPr>
        <p:txBody>
          <a:bodyPr lIns="0" tIns="0" rIns="0" bIns="0" rtlCol="0" anchor="t">
            <a:spAutoFit/>
          </a:bodyPr>
          <a:lstStyle/>
          <a:p>
            <a:pPr marL="0" lvl="0" indent="0" algn="just">
              <a:lnSpc>
                <a:spcPts val="2861"/>
              </a:lnSpc>
            </a:pPr>
            <a:r>
              <a:rPr lang="en-US" sz="1625">
                <a:solidFill>
                  <a:srgbClr val="388D89"/>
                </a:solidFill>
                <a:latin typeface="Roboto"/>
                <a:ea typeface="Roboto"/>
                <a:cs typeface="Roboto"/>
                <a:sym typeface="Roboto"/>
              </a:rPr>
              <a:t>Multiple Linear Regression: R² = 0.003624, slight improvement but still limited predictive power.</a:t>
            </a:r>
          </a:p>
        </p:txBody>
      </p:sp>
      <p:sp>
        <p:nvSpPr>
          <p:cNvPr id="14" name="TextBox 14"/>
          <p:cNvSpPr txBox="1"/>
          <p:nvPr/>
        </p:nvSpPr>
        <p:spPr>
          <a:xfrm>
            <a:off x="10257079" y="3437202"/>
            <a:ext cx="858417" cy="1070107"/>
          </a:xfrm>
          <a:prstGeom prst="rect">
            <a:avLst/>
          </a:prstGeom>
        </p:spPr>
        <p:txBody>
          <a:bodyPr lIns="0" tIns="0" rIns="0" bIns="0" rtlCol="0" anchor="t">
            <a:spAutoFit/>
          </a:bodyPr>
          <a:lstStyle/>
          <a:p>
            <a:pPr marL="0" lvl="0" indent="0" algn="ctr">
              <a:lnSpc>
                <a:spcPts val="9124"/>
              </a:lnSpc>
            </a:pPr>
            <a:r>
              <a:rPr lang="en-US" sz="5184" b="1">
                <a:solidFill>
                  <a:srgbClr val="388D89"/>
                </a:solidFill>
                <a:latin typeface="Roboto Bold"/>
                <a:ea typeface="Roboto Bold"/>
                <a:cs typeface="Roboto Bold"/>
                <a:sym typeface="Roboto Bold"/>
              </a:rPr>
              <a:t>02</a:t>
            </a:r>
          </a:p>
        </p:txBody>
      </p:sp>
      <p:grpSp>
        <p:nvGrpSpPr>
          <p:cNvPr id="15" name="Group 15"/>
          <p:cNvGrpSpPr/>
          <p:nvPr/>
        </p:nvGrpSpPr>
        <p:grpSpPr>
          <a:xfrm>
            <a:off x="9997678" y="5310346"/>
            <a:ext cx="7261622" cy="1723940"/>
            <a:chOff x="0" y="0"/>
            <a:chExt cx="1912526" cy="454042"/>
          </a:xfrm>
        </p:grpSpPr>
        <p:sp>
          <p:nvSpPr>
            <p:cNvPr id="16" name="Freeform 16"/>
            <p:cNvSpPr/>
            <p:nvPr/>
          </p:nvSpPr>
          <p:spPr>
            <a:xfrm>
              <a:off x="0" y="0"/>
              <a:ext cx="1912526" cy="454042"/>
            </a:xfrm>
            <a:custGeom>
              <a:avLst/>
              <a:gdLst/>
              <a:ahLst/>
              <a:cxnLst/>
              <a:rect l="l" t="t" r="r" b="b"/>
              <a:pathLst>
                <a:path w="1912526" h="454042">
                  <a:moveTo>
                    <a:pt x="1912526" y="21323"/>
                  </a:moveTo>
                  <a:lnTo>
                    <a:pt x="1912526" y="432719"/>
                  </a:lnTo>
                  <a:cubicBezTo>
                    <a:pt x="1912526" y="438374"/>
                    <a:pt x="1910279" y="443798"/>
                    <a:pt x="1906281" y="447796"/>
                  </a:cubicBezTo>
                  <a:cubicBezTo>
                    <a:pt x="1902282" y="451795"/>
                    <a:pt x="1896858" y="454042"/>
                    <a:pt x="1891203" y="454042"/>
                  </a:cubicBezTo>
                  <a:lnTo>
                    <a:pt x="21323" y="454042"/>
                  </a:lnTo>
                  <a:cubicBezTo>
                    <a:pt x="9547" y="454042"/>
                    <a:pt x="0" y="444495"/>
                    <a:pt x="0" y="432719"/>
                  </a:cubicBezTo>
                  <a:lnTo>
                    <a:pt x="0" y="21323"/>
                  </a:lnTo>
                  <a:cubicBezTo>
                    <a:pt x="0" y="9547"/>
                    <a:pt x="9547" y="0"/>
                    <a:pt x="21323" y="0"/>
                  </a:cubicBezTo>
                  <a:lnTo>
                    <a:pt x="1891203" y="0"/>
                  </a:lnTo>
                  <a:cubicBezTo>
                    <a:pt x="1902979" y="0"/>
                    <a:pt x="1912526" y="9547"/>
                    <a:pt x="1912526" y="21323"/>
                  </a:cubicBezTo>
                  <a:close/>
                </a:path>
              </a:pathLst>
            </a:custGeom>
            <a:solidFill>
              <a:srgbClr val="388D89"/>
            </a:solidFill>
          </p:spPr>
          <p:txBody>
            <a:bodyPr/>
            <a:lstStyle/>
            <a:p>
              <a:endParaRPr lang="en-US"/>
            </a:p>
          </p:txBody>
        </p:sp>
        <p:sp>
          <p:nvSpPr>
            <p:cNvPr id="17" name="TextBox 17"/>
            <p:cNvSpPr txBox="1"/>
            <p:nvPr/>
          </p:nvSpPr>
          <p:spPr>
            <a:xfrm>
              <a:off x="0" y="-38100"/>
              <a:ext cx="1912526" cy="492142"/>
            </a:xfrm>
            <a:prstGeom prst="rect">
              <a:avLst/>
            </a:prstGeom>
          </p:spPr>
          <p:txBody>
            <a:bodyPr lIns="50800" tIns="50800" rIns="50800" bIns="50800" rtlCol="0" anchor="ctr"/>
            <a:lstStyle/>
            <a:p>
              <a:pPr marL="0" lvl="0" indent="0" algn="ctr">
                <a:lnSpc>
                  <a:spcPts val="2659"/>
                </a:lnSpc>
              </a:pPr>
              <a:endParaRPr/>
            </a:p>
          </p:txBody>
        </p:sp>
      </p:grpSp>
      <p:sp>
        <p:nvSpPr>
          <p:cNvPr id="18" name="TextBox 18"/>
          <p:cNvSpPr txBox="1"/>
          <p:nvPr/>
        </p:nvSpPr>
        <p:spPr>
          <a:xfrm>
            <a:off x="11351796" y="5685017"/>
            <a:ext cx="5648104" cy="703519"/>
          </a:xfrm>
          <a:prstGeom prst="rect">
            <a:avLst/>
          </a:prstGeom>
        </p:spPr>
        <p:txBody>
          <a:bodyPr lIns="0" tIns="0" rIns="0" bIns="0" rtlCol="0" anchor="t">
            <a:spAutoFit/>
          </a:bodyPr>
          <a:lstStyle/>
          <a:p>
            <a:pPr marL="0" lvl="0" indent="0" algn="just">
              <a:lnSpc>
                <a:spcPts val="2861"/>
              </a:lnSpc>
            </a:pPr>
            <a:r>
              <a:rPr lang="en-US" sz="1625">
                <a:solidFill>
                  <a:srgbClr val="DEF3FC"/>
                </a:solidFill>
                <a:latin typeface="Roboto"/>
                <a:ea typeface="Roboto"/>
                <a:cs typeface="Roboto"/>
                <a:sym typeface="Roboto"/>
              </a:rPr>
              <a:t>Logistic Regression: 95.6% accuracy, highly effective for mental health classification tasks.</a:t>
            </a:r>
          </a:p>
        </p:txBody>
      </p:sp>
      <p:sp>
        <p:nvSpPr>
          <p:cNvPr id="19" name="TextBox 19"/>
          <p:cNvSpPr txBox="1"/>
          <p:nvPr/>
        </p:nvSpPr>
        <p:spPr>
          <a:xfrm>
            <a:off x="10257079" y="5494517"/>
            <a:ext cx="858417" cy="1070107"/>
          </a:xfrm>
          <a:prstGeom prst="rect">
            <a:avLst/>
          </a:prstGeom>
        </p:spPr>
        <p:txBody>
          <a:bodyPr lIns="0" tIns="0" rIns="0" bIns="0" rtlCol="0" anchor="t">
            <a:spAutoFit/>
          </a:bodyPr>
          <a:lstStyle/>
          <a:p>
            <a:pPr marL="0" lvl="0" indent="0" algn="ctr">
              <a:lnSpc>
                <a:spcPts val="9124"/>
              </a:lnSpc>
            </a:pPr>
            <a:r>
              <a:rPr lang="en-US" sz="5184" b="1">
                <a:solidFill>
                  <a:srgbClr val="F8FFFF"/>
                </a:solidFill>
                <a:latin typeface="Roboto Bold"/>
                <a:ea typeface="Roboto Bold"/>
                <a:cs typeface="Roboto Bold"/>
                <a:sym typeface="Roboto Bold"/>
              </a:rPr>
              <a:t>03</a:t>
            </a:r>
          </a:p>
        </p:txBody>
      </p:sp>
      <p:grpSp>
        <p:nvGrpSpPr>
          <p:cNvPr id="20" name="Group 20"/>
          <p:cNvGrpSpPr/>
          <p:nvPr/>
        </p:nvGrpSpPr>
        <p:grpSpPr>
          <a:xfrm>
            <a:off x="9997678" y="7367661"/>
            <a:ext cx="7261622" cy="1723940"/>
            <a:chOff x="0" y="0"/>
            <a:chExt cx="1912526" cy="454042"/>
          </a:xfrm>
        </p:grpSpPr>
        <p:sp>
          <p:nvSpPr>
            <p:cNvPr id="21" name="Freeform 21"/>
            <p:cNvSpPr/>
            <p:nvPr/>
          </p:nvSpPr>
          <p:spPr>
            <a:xfrm>
              <a:off x="0" y="0"/>
              <a:ext cx="1912526" cy="454042"/>
            </a:xfrm>
            <a:custGeom>
              <a:avLst/>
              <a:gdLst/>
              <a:ahLst/>
              <a:cxnLst/>
              <a:rect l="l" t="t" r="r" b="b"/>
              <a:pathLst>
                <a:path w="1912526" h="454042">
                  <a:moveTo>
                    <a:pt x="1912526" y="21323"/>
                  </a:moveTo>
                  <a:lnTo>
                    <a:pt x="1912526" y="432719"/>
                  </a:lnTo>
                  <a:cubicBezTo>
                    <a:pt x="1912526" y="438374"/>
                    <a:pt x="1910279" y="443798"/>
                    <a:pt x="1906281" y="447796"/>
                  </a:cubicBezTo>
                  <a:cubicBezTo>
                    <a:pt x="1902282" y="451795"/>
                    <a:pt x="1896858" y="454042"/>
                    <a:pt x="1891203" y="454042"/>
                  </a:cubicBezTo>
                  <a:lnTo>
                    <a:pt x="21323" y="454042"/>
                  </a:lnTo>
                  <a:cubicBezTo>
                    <a:pt x="9547" y="454042"/>
                    <a:pt x="0" y="444495"/>
                    <a:pt x="0" y="432719"/>
                  </a:cubicBezTo>
                  <a:lnTo>
                    <a:pt x="0" y="21323"/>
                  </a:lnTo>
                  <a:cubicBezTo>
                    <a:pt x="0" y="9547"/>
                    <a:pt x="9547" y="0"/>
                    <a:pt x="21323" y="0"/>
                  </a:cubicBezTo>
                  <a:lnTo>
                    <a:pt x="1891203" y="0"/>
                  </a:lnTo>
                  <a:cubicBezTo>
                    <a:pt x="1902979" y="0"/>
                    <a:pt x="1912526" y="9547"/>
                    <a:pt x="1912526" y="21323"/>
                  </a:cubicBezTo>
                  <a:close/>
                </a:path>
              </a:pathLst>
            </a:custGeom>
            <a:solidFill>
              <a:srgbClr val="CCF1F0"/>
            </a:solidFill>
          </p:spPr>
          <p:txBody>
            <a:bodyPr/>
            <a:lstStyle/>
            <a:p>
              <a:endParaRPr lang="en-US"/>
            </a:p>
          </p:txBody>
        </p:sp>
        <p:sp>
          <p:nvSpPr>
            <p:cNvPr id="22" name="TextBox 22"/>
            <p:cNvSpPr txBox="1"/>
            <p:nvPr/>
          </p:nvSpPr>
          <p:spPr>
            <a:xfrm>
              <a:off x="0" y="-38100"/>
              <a:ext cx="1912526" cy="492142"/>
            </a:xfrm>
            <a:prstGeom prst="rect">
              <a:avLst/>
            </a:prstGeom>
          </p:spPr>
          <p:txBody>
            <a:bodyPr lIns="50800" tIns="50800" rIns="50800" bIns="50800" rtlCol="0" anchor="ctr"/>
            <a:lstStyle/>
            <a:p>
              <a:pPr marL="0" lvl="0" indent="0" algn="ctr">
                <a:lnSpc>
                  <a:spcPts val="2659"/>
                </a:lnSpc>
              </a:pPr>
              <a:endParaRPr/>
            </a:p>
          </p:txBody>
        </p:sp>
      </p:grpSp>
      <p:sp>
        <p:nvSpPr>
          <p:cNvPr id="23" name="TextBox 23"/>
          <p:cNvSpPr txBox="1"/>
          <p:nvPr/>
        </p:nvSpPr>
        <p:spPr>
          <a:xfrm>
            <a:off x="11351796" y="7742332"/>
            <a:ext cx="5648104" cy="703519"/>
          </a:xfrm>
          <a:prstGeom prst="rect">
            <a:avLst/>
          </a:prstGeom>
        </p:spPr>
        <p:txBody>
          <a:bodyPr lIns="0" tIns="0" rIns="0" bIns="0" rtlCol="0" anchor="t">
            <a:spAutoFit/>
          </a:bodyPr>
          <a:lstStyle/>
          <a:p>
            <a:pPr marL="0" lvl="0" indent="0" algn="just">
              <a:lnSpc>
                <a:spcPts val="2861"/>
              </a:lnSpc>
            </a:pPr>
            <a:r>
              <a:rPr lang="en-US" sz="1625">
                <a:solidFill>
                  <a:srgbClr val="388D89"/>
                </a:solidFill>
                <a:latin typeface="Roboto"/>
                <a:ea typeface="Roboto"/>
                <a:cs typeface="Roboto"/>
                <a:sym typeface="Roboto"/>
              </a:rPr>
              <a:t>Key Conclusion: Classification outperforms regression for this dataset, suggesting categorical analysis is more suitable.</a:t>
            </a:r>
          </a:p>
        </p:txBody>
      </p:sp>
      <p:sp>
        <p:nvSpPr>
          <p:cNvPr id="24" name="TextBox 24"/>
          <p:cNvSpPr txBox="1"/>
          <p:nvPr/>
        </p:nvSpPr>
        <p:spPr>
          <a:xfrm>
            <a:off x="10257079" y="7551832"/>
            <a:ext cx="858417" cy="1070107"/>
          </a:xfrm>
          <a:prstGeom prst="rect">
            <a:avLst/>
          </a:prstGeom>
        </p:spPr>
        <p:txBody>
          <a:bodyPr lIns="0" tIns="0" rIns="0" bIns="0" rtlCol="0" anchor="t">
            <a:spAutoFit/>
          </a:bodyPr>
          <a:lstStyle/>
          <a:p>
            <a:pPr marL="0" lvl="0" indent="0" algn="ctr">
              <a:lnSpc>
                <a:spcPts val="9124"/>
              </a:lnSpc>
            </a:pPr>
            <a:r>
              <a:rPr lang="en-US" sz="5184" b="1">
                <a:solidFill>
                  <a:srgbClr val="388D89"/>
                </a:solidFill>
                <a:latin typeface="Roboto Bold"/>
                <a:ea typeface="Roboto Bold"/>
                <a:cs typeface="Roboto Bold"/>
                <a:sym typeface="Roboto Bold"/>
              </a:rPr>
              <a:t>04</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Freeform 3"/>
          <p:cNvSpPr/>
          <p:nvPr/>
        </p:nvSpPr>
        <p:spPr>
          <a:xfrm>
            <a:off x="9270995" y="2158893"/>
            <a:ext cx="8524026" cy="6435640"/>
          </a:xfrm>
          <a:custGeom>
            <a:avLst/>
            <a:gdLst/>
            <a:ahLst/>
            <a:cxnLst/>
            <a:rect l="l" t="t" r="r" b="b"/>
            <a:pathLst>
              <a:path w="8524026" h="6435640">
                <a:moveTo>
                  <a:pt x="0" y="0"/>
                </a:moveTo>
                <a:lnTo>
                  <a:pt x="8524026" y="0"/>
                </a:lnTo>
                <a:lnTo>
                  <a:pt x="8524026" y="6435640"/>
                </a:lnTo>
                <a:lnTo>
                  <a:pt x="0" y="6435640"/>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914400" y="144998"/>
            <a:ext cx="7863617" cy="2013895"/>
          </a:xfrm>
          <a:prstGeom prst="rect">
            <a:avLst/>
          </a:prstGeom>
        </p:spPr>
        <p:txBody>
          <a:bodyPr lIns="0" tIns="0" rIns="0" bIns="0" rtlCol="0" anchor="t">
            <a:spAutoFit/>
          </a:bodyPr>
          <a:lstStyle/>
          <a:p>
            <a:pPr marL="0" lvl="0" indent="0" algn="l">
              <a:lnSpc>
                <a:spcPts val="7804"/>
              </a:lnSpc>
            </a:pPr>
            <a:r>
              <a:rPr lang="en-US" sz="6967" b="1" dirty="0">
                <a:solidFill>
                  <a:srgbClr val="388D89"/>
                </a:solidFill>
                <a:latin typeface="Roboto Bold"/>
                <a:ea typeface="Roboto Bold"/>
                <a:cs typeface="Roboto Bold"/>
                <a:sym typeface="Roboto Bold"/>
              </a:rPr>
              <a:t>AGE DISTRIBUTION ANALYSIS</a:t>
            </a:r>
          </a:p>
        </p:txBody>
      </p:sp>
      <p:sp>
        <p:nvSpPr>
          <p:cNvPr id="5" name="TextBox 5"/>
          <p:cNvSpPr txBox="1"/>
          <p:nvPr/>
        </p:nvSpPr>
        <p:spPr>
          <a:xfrm>
            <a:off x="914400" y="2158893"/>
            <a:ext cx="8524026" cy="1698029"/>
          </a:xfrm>
          <a:prstGeom prst="rect">
            <a:avLst/>
          </a:prstGeom>
        </p:spPr>
        <p:txBody>
          <a:bodyPr wrap="square" lIns="0" tIns="0" rIns="0" bIns="0" rtlCol="0" anchor="t">
            <a:spAutoFit/>
          </a:bodyPr>
          <a:lstStyle/>
          <a:p>
            <a:pPr marL="0" lvl="0" indent="0" algn="just">
              <a:lnSpc>
                <a:spcPct val="200000"/>
              </a:lnSpc>
            </a:pPr>
            <a:r>
              <a:rPr lang="en-US" sz="1933" dirty="0">
                <a:solidFill>
                  <a:srgbClr val="388D89"/>
                </a:solidFill>
                <a:latin typeface="Roboto"/>
                <a:ea typeface="Roboto"/>
                <a:cs typeface="Roboto"/>
                <a:sym typeface="Roboto"/>
              </a:rPr>
              <a:t>The histogram reveals participant age spread across the dataset, showing concentration in the 25-45 age range. This demographic insight helps contextualize mental health patterns across different life stages.</a:t>
            </a:r>
          </a:p>
        </p:txBody>
      </p:sp>
      <p:pic>
        <p:nvPicPr>
          <p:cNvPr id="6" name="Picture 5">
            <a:extLst>
              <a:ext uri="{FF2B5EF4-FFF2-40B4-BE49-F238E27FC236}">
                <a16:creationId xmlns:a16="http://schemas.microsoft.com/office/drawing/2014/main" id="{30086ADC-02E8-03EA-EACC-401E00470A65}"/>
              </a:ext>
            </a:extLst>
          </p:cNvPr>
          <p:cNvPicPr>
            <a:picLocks noChangeAspect="1"/>
          </p:cNvPicPr>
          <p:nvPr/>
        </p:nvPicPr>
        <p:blipFill>
          <a:blip r:embed="rId4"/>
          <a:stretch>
            <a:fillRect/>
          </a:stretch>
        </p:blipFill>
        <p:spPr>
          <a:xfrm>
            <a:off x="796681" y="4178193"/>
            <a:ext cx="6670919" cy="538490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Freeform 3"/>
          <p:cNvSpPr/>
          <p:nvPr/>
        </p:nvSpPr>
        <p:spPr>
          <a:xfrm>
            <a:off x="9753600" y="234593"/>
            <a:ext cx="7191548" cy="9817813"/>
          </a:xfrm>
          <a:custGeom>
            <a:avLst/>
            <a:gdLst/>
            <a:ahLst/>
            <a:cxnLst/>
            <a:rect l="l" t="t" r="r" b="b"/>
            <a:pathLst>
              <a:path w="7191548" h="9817813">
                <a:moveTo>
                  <a:pt x="0" y="0"/>
                </a:moveTo>
                <a:lnTo>
                  <a:pt x="7191549" y="0"/>
                </a:lnTo>
                <a:lnTo>
                  <a:pt x="7191549" y="9817813"/>
                </a:lnTo>
                <a:lnTo>
                  <a:pt x="0" y="9817813"/>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944992" y="211241"/>
            <a:ext cx="7863617" cy="2586990"/>
          </a:xfrm>
          <a:prstGeom prst="rect">
            <a:avLst/>
          </a:prstGeom>
        </p:spPr>
        <p:txBody>
          <a:bodyPr lIns="0" tIns="0" rIns="0" bIns="0" rtlCol="0" anchor="t">
            <a:spAutoFit/>
          </a:bodyPr>
          <a:lstStyle/>
          <a:p>
            <a:pPr marL="0" lvl="0" indent="0" algn="l">
              <a:lnSpc>
                <a:spcPts val="10080"/>
              </a:lnSpc>
            </a:pPr>
            <a:r>
              <a:rPr lang="en-US" sz="9000" b="1" dirty="0">
                <a:solidFill>
                  <a:srgbClr val="388D89"/>
                </a:solidFill>
                <a:latin typeface="Roboto Bold"/>
                <a:ea typeface="Roboto Bold"/>
                <a:cs typeface="Roboto Bold"/>
                <a:sym typeface="Roboto Bold"/>
              </a:rPr>
              <a:t>GENDER DISTRIBUTION</a:t>
            </a:r>
          </a:p>
        </p:txBody>
      </p:sp>
      <p:sp>
        <p:nvSpPr>
          <p:cNvPr id="5" name="TextBox 5"/>
          <p:cNvSpPr txBox="1"/>
          <p:nvPr/>
        </p:nvSpPr>
        <p:spPr>
          <a:xfrm>
            <a:off x="1038562" y="2764772"/>
            <a:ext cx="7863617" cy="1831848"/>
          </a:xfrm>
          <a:prstGeom prst="rect">
            <a:avLst/>
          </a:prstGeom>
        </p:spPr>
        <p:txBody>
          <a:bodyPr lIns="0" tIns="0" rIns="0" bIns="0" rtlCol="0" anchor="t">
            <a:spAutoFit/>
          </a:bodyPr>
          <a:lstStyle/>
          <a:p>
            <a:pPr marL="0" lvl="0" indent="0" algn="just">
              <a:lnSpc>
                <a:spcPts val="3696"/>
              </a:lnSpc>
            </a:pPr>
            <a:r>
              <a:rPr lang="en-US" sz="2100" dirty="0">
                <a:solidFill>
                  <a:srgbClr val="388D89"/>
                </a:solidFill>
                <a:latin typeface="Roboto"/>
                <a:ea typeface="Roboto"/>
                <a:cs typeface="Roboto"/>
                <a:sym typeface="Roboto"/>
              </a:rPr>
              <a:t>The dataset reveals a balanced gender representation with 52% male and 48% female participants. This distribution ensures unbiased analysis across gender groups when examining mental health patterns and lifestyle factors.</a:t>
            </a:r>
          </a:p>
        </p:txBody>
      </p:sp>
      <p:pic>
        <p:nvPicPr>
          <p:cNvPr id="6" name="Picture 5">
            <a:extLst>
              <a:ext uri="{FF2B5EF4-FFF2-40B4-BE49-F238E27FC236}">
                <a16:creationId xmlns:a16="http://schemas.microsoft.com/office/drawing/2014/main" id="{0A30E650-F1D4-F92D-3387-A716999174CA}"/>
              </a:ext>
            </a:extLst>
          </p:cNvPr>
          <p:cNvPicPr>
            <a:picLocks noChangeAspect="1"/>
          </p:cNvPicPr>
          <p:nvPr/>
        </p:nvPicPr>
        <p:blipFill>
          <a:blip r:embed="rId4"/>
          <a:stretch>
            <a:fillRect/>
          </a:stretch>
        </p:blipFill>
        <p:spPr>
          <a:xfrm>
            <a:off x="944992" y="4900132"/>
            <a:ext cx="6177280" cy="492252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Freeform 3"/>
          <p:cNvSpPr/>
          <p:nvPr/>
        </p:nvSpPr>
        <p:spPr>
          <a:xfrm>
            <a:off x="13286045" y="448980"/>
            <a:ext cx="3368811" cy="9456311"/>
          </a:xfrm>
          <a:custGeom>
            <a:avLst/>
            <a:gdLst/>
            <a:ahLst/>
            <a:cxnLst/>
            <a:rect l="l" t="t" r="r" b="b"/>
            <a:pathLst>
              <a:path w="3368811" h="9456311">
                <a:moveTo>
                  <a:pt x="0" y="0"/>
                </a:moveTo>
                <a:lnTo>
                  <a:pt x="3368811" y="0"/>
                </a:lnTo>
                <a:lnTo>
                  <a:pt x="3368811" y="9456311"/>
                </a:lnTo>
                <a:lnTo>
                  <a:pt x="0" y="9456311"/>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867082" y="190500"/>
            <a:ext cx="11551881" cy="2586990"/>
          </a:xfrm>
          <a:prstGeom prst="rect">
            <a:avLst/>
          </a:prstGeom>
        </p:spPr>
        <p:txBody>
          <a:bodyPr lIns="0" tIns="0" rIns="0" bIns="0" rtlCol="0" anchor="t">
            <a:spAutoFit/>
          </a:bodyPr>
          <a:lstStyle/>
          <a:p>
            <a:pPr marL="0" lvl="0" indent="0" algn="l">
              <a:lnSpc>
                <a:spcPts val="10080"/>
              </a:lnSpc>
            </a:pPr>
            <a:r>
              <a:rPr lang="en-US" sz="9000" b="1" dirty="0">
                <a:solidFill>
                  <a:srgbClr val="388D89"/>
                </a:solidFill>
                <a:latin typeface="Roboto Bold"/>
                <a:ea typeface="Roboto Bold"/>
                <a:cs typeface="Roboto Bold"/>
                <a:sym typeface="Roboto Bold"/>
              </a:rPr>
              <a:t>MENTAL HEALTH ISSUE PREVALENCE</a:t>
            </a:r>
          </a:p>
        </p:txBody>
      </p:sp>
      <p:sp>
        <p:nvSpPr>
          <p:cNvPr id="5" name="TextBox 5"/>
          <p:cNvSpPr txBox="1"/>
          <p:nvPr/>
        </p:nvSpPr>
        <p:spPr>
          <a:xfrm>
            <a:off x="849876" y="2998716"/>
            <a:ext cx="11551881" cy="1365123"/>
          </a:xfrm>
          <a:prstGeom prst="rect">
            <a:avLst/>
          </a:prstGeom>
        </p:spPr>
        <p:txBody>
          <a:bodyPr lIns="0" tIns="0" rIns="0" bIns="0" rtlCol="0" anchor="t">
            <a:spAutoFit/>
          </a:bodyPr>
          <a:lstStyle/>
          <a:p>
            <a:pPr marL="0" lvl="0" indent="0" algn="just">
              <a:lnSpc>
                <a:spcPts val="3696"/>
              </a:lnSpc>
            </a:pPr>
            <a:r>
              <a:rPr lang="en-US" sz="2100" dirty="0">
                <a:solidFill>
                  <a:srgbClr val="388D89"/>
                </a:solidFill>
                <a:latin typeface="Roboto"/>
                <a:ea typeface="Roboto"/>
                <a:cs typeface="Roboto"/>
                <a:sym typeface="Roboto"/>
              </a:rPr>
              <a:t>Our bar chart analysis reveals a significant portion of survey participants report mental health concerns. The data shows a clear divide between affected and unaffected individuals, highlighting the widespread nature of mental health challenges across demographics.</a:t>
            </a:r>
          </a:p>
        </p:txBody>
      </p:sp>
      <p:pic>
        <p:nvPicPr>
          <p:cNvPr id="6" name="Picture 5">
            <a:extLst>
              <a:ext uri="{FF2B5EF4-FFF2-40B4-BE49-F238E27FC236}">
                <a16:creationId xmlns:a16="http://schemas.microsoft.com/office/drawing/2014/main" id="{44B06D2C-D2AC-D664-BF7C-46C4BAE07DE4}"/>
              </a:ext>
            </a:extLst>
          </p:cNvPr>
          <p:cNvPicPr>
            <a:picLocks noChangeAspect="1"/>
          </p:cNvPicPr>
          <p:nvPr/>
        </p:nvPicPr>
        <p:blipFill>
          <a:blip r:embed="rId4"/>
          <a:stretch>
            <a:fillRect/>
          </a:stretch>
        </p:blipFill>
        <p:spPr>
          <a:xfrm>
            <a:off x="867082" y="4762500"/>
            <a:ext cx="7455924" cy="48082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Freeform 3"/>
          <p:cNvSpPr/>
          <p:nvPr/>
        </p:nvSpPr>
        <p:spPr>
          <a:xfrm>
            <a:off x="10210800" y="75338"/>
            <a:ext cx="7234800" cy="10136323"/>
          </a:xfrm>
          <a:custGeom>
            <a:avLst/>
            <a:gdLst/>
            <a:ahLst/>
            <a:cxnLst/>
            <a:rect l="l" t="t" r="r" b="b"/>
            <a:pathLst>
              <a:path w="7234800" h="10136323">
                <a:moveTo>
                  <a:pt x="0" y="0"/>
                </a:moveTo>
                <a:lnTo>
                  <a:pt x="7234800" y="0"/>
                </a:lnTo>
                <a:lnTo>
                  <a:pt x="7234800" y="10136322"/>
                </a:lnTo>
                <a:lnTo>
                  <a:pt x="0" y="10136322"/>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842400" y="571500"/>
            <a:ext cx="8339700" cy="859210"/>
          </a:xfrm>
          <a:prstGeom prst="rect">
            <a:avLst/>
          </a:prstGeom>
        </p:spPr>
        <p:txBody>
          <a:bodyPr wrap="square" lIns="0" tIns="0" rIns="0" bIns="0" rtlCol="0" anchor="t">
            <a:spAutoFit/>
          </a:bodyPr>
          <a:lstStyle/>
          <a:p>
            <a:pPr marL="0" lvl="0" indent="0" algn="l">
              <a:lnSpc>
                <a:spcPts val="6748"/>
              </a:lnSpc>
            </a:pPr>
            <a:r>
              <a:rPr lang="en-US" sz="6025" b="1" dirty="0">
                <a:solidFill>
                  <a:srgbClr val="388D89"/>
                </a:solidFill>
                <a:latin typeface="Roboto Bold"/>
                <a:ea typeface="Roboto Bold"/>
                <a:cs typeface="Roboto Bold"/>
                <a:sym typeface="Roboto Bold"/>
              </a:rPr>
              <a:t>EMPLOYMENT STATUS</a:t>
            </a:r>
          </a:p>
        </p:txBody>
      </p:sp>
      <p:sp>
        <p:nvSpPr>
          <p:cNvPr id="5" name="TextBox 5"/>
          <p:cNvSpPr txBox="1"/>
          <p:nvPr/>
        </p:nvSpPr>
        <p:spPr>
          <a:xfrm>
            <a:off x="842400" y="1430710"/>
            <a:ext cx="7863617" cy="1831953"/>
          </a:xfrm>
          <a:prstGeom prst="rect">
            <a:avLst/>
          </a:prstGeom>
        </p:spPr>
        <p:txBody>
          <a:bodyPr lIns="0" tIns="0" rIns="0" bIns="0" rtlCol="0" anchor="t">
            <a:spAutoFit/>
          </a:bodyPr>
          <a:lstStyle/>
          <a:p>
            <a:pPr marL="0" lvl="0" indent="0" algn="just">
              <a:lnSpc>
                <a:spcPts val="3693"/>
              </a:lnSpc>
            </a:pPr>
            <a:r>
              <a:rPr lang="en-US" sz="2098" dirty="0">
                <a:solidFill>
                  <a:srgbClr val="388D89"/>
                </a:solidFill>
                <a:latin typeface="Roboto"/>
                <a:ea typeface="Roboto"/>
                <a:cs typeface="Roboto"/>
                <a:sym typeface="Roboto"/>
              </a:rPr>
              <a:t>Employment status significantly influences mental health outcomes. Our analysis reveals distinct patterns across employed, unemployed, student, and self-employed categories, highlighting the impact of work stability on psychological well-being.</a:t>
            </a:r>
          </a:p>
        </p:txBody>
      </p:sp>
      <p:pic>
        <p:nvPicPr>
          <p:cNvPr id="6" name="Picture 5">
            <a:extLst>
              <a:ext uri="{FF2B5EF4-FFF2-40B4-BE49-F238E27FC236}">
                <a16:creationId xmlns:a16="http://schemas.microsoft.com/office/drawing/2014/main" id="{76906C54-D1F0-367F-A90C-D8B0388230D2}"/>
              </a:ext>
            </a:extLst>
          </p:cNvPr>
          <p:cNvPicPr>
            <a:picLocks noChangeAspect="1"/>
          </p:cNvPicPr>
          <p:nvPr/>
        </p:nvPicPr>
        <p:blipFill>
          <a:blip r:embed="rId4"/>
          <a:stretch>
            <a:fillRect/>
          </a:stretch>
        </p:blipFill>
        <p:spPr>
          <a:xfrm>
            <a:off x="842400" y="4135392"/>
            <a:ext cx="6472800" cy="519910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Freeform 3"/>
          <p:cNvSpPr/>
          <p:nvPr/>
        </p:nvSpPr>
        <p:spPr>
          <a:xfrm>
            <a:off x="10744200" y="3238500"/>
            <a:ext cx="8765072" cy="8233122"/>
          </a:xfrm>
          <a:custGeom>
            <a:avLst/>
            <a:gdLst/>
            <a:ahLst/>
            <a:cxnLst/>
            <a:rect l="l" t="t" r="r" b="b"/>
            <a:pathLst>
              <a:path w="8765072" h="8233122">
                <a:moveTo>
                  <a:pt x="0" y="0"/>
                </a:moveTo>
                <a:lnTo>
                  <a:pt x="8765071" y="0"/>
                </a:lnTo>
                <a:lnTo>
                  <a:pt x="8765071" y="8233122"/>
                </a:lnTo>
                <a:lnTo>
                  <a:pt x="0" y="8233122"/>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609600" y="276507"/>
            <a:ext cx="11551881" cy="1885762"/>
          </a:xfrm>
          <a:prstGeom prst="rect">
            <a:avLst/>
          </a:prstGeom>
        </p:spPr>
        <p:txBody>
          <a:bodyPr lIns="0" tIns="0" rIns="0" bIns="0" rtlCol="0" anchor="t">
            <a:spAutoFit/>
          </a:bodyPr>
          <a:lstStyle/>
          <a:p>
            <a:pPr marL="0" lvl="0" indent="0" algn="l">
              <a:lnSpc>
                <a:spcPts val="7329"/>
              </a:lnSpc>
            </a:pPr>
            <a:r>
              <a:rPr lang="en-US" sz="6543" b="1" dirty="0">
                <a:solidFill>
                  <a:srgbClr val="388D89"/>
                </a:solidFill>
                <a:latin typeface="Roboto Bold"/>
                <a:ea typeface="Roboto Bold"/>
                <a:cs typeface="Roboto Bold"/>
                <a:sym typeface="Roboto Bold"/>
              </a:rPr>
              <a:t>MENTAL HEALTH TREATMENT SEEKING BEHAVIOR</a:t>
            </a:r>
          </a:p>
        </p:txBody>
      </p:sp>
      <p:sp>
        <p:nvSpPr>
          <p:cNvPr id="5" name="TextBox 5"/>
          <p:cNvSpPr txBox="1"/>
          <p:nvPr/>
        </p:nvSpPr>
        <p:spPr>
          <a:xfrm>
            <a:off x="609599" y="3086100"/>
            <a:ext cx="11551881" cy="776736"/>
          </a:xfrm>
          <a:prstGeom prst="rect">
            <a:avLst/>
          </a:prstGeom>
        </p:spPr>
        <p:txBody>
          <a:bodyPr lIns="0" tIns="0" rIns="0" bIns="0" rtlCol="0" anchor="t">
            <a:spAutoFit/>
          </a:bodyPr>
          <a:lstStyle/>
          <a:p>
            <a:pPr marL="0" lvl="0" indent="0" algn="just">
              <a:lnSpc>
                <a:spcPts val="3171"/>
              </a:lnSpc>
            </a:pPr>
            <a:r>
              <a:rPr lang="en-US" sz="1801" dirty="0">
                <a:solidFill>
                  <a:srgbClr val="388D89"/>
                </a:solidFill>
                <a:latin typeface="Roboto"/>
                <a:ea typeface="Roboto"/>
                <a:cs typeface="Roboto"/>
                <a:sym typeface="Roboto"/>
              </a:rPr>
              <a:t>Analysis reveals critical insights into help-seeking patterns: awareness of mental health resources and willingness to pursue treatment vary significantly across demographics, highlighting the need for targeted outreach programs.</a:t>
            </a:r>
          </a:p>
        </p:txBody>
      </p:sp>
      <p:pic>
        <p:nvPicPr>
          <p:cNvPr id="6" name="Picture 5">
            <a:extLst>
              <a:ext uri="{FF2B5EF4-FFF2-40B4-BE49-F238E27FC236}">
                <a16:creationId xmlns:a16="http://schemas.microsoft.com/office/drawing/2014/main" id="{ABDC4F6F-1226-6316-66A0-6A20B681A204}"/>
              </a:ext>
            </a:extLst>
          </p:cNvPr>
          <p:cNvPicPr>
            <a:picLocks noChangeAspect="1"/>
          </p:cNvPicPr>
          <p:nvPr/>
        </p:nvPicPr>
        <p:blipFill>
          <a:blip r:embed="rId4"/>
          <a:stretch>
            <a:fillRect/>
          </a:stretch>
        </p:blipFill>
        <p:spPr>
          <a:xfrm>
            <a:off x="1295400" y="4579236"/>
            <a:ext cx="5722620" cy="533908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TextBox 3"/>
          <p:cNvSpPr txBox="1"/>
          <p:nvPr/>
        </p:nvSpPr>
        <p:spPr>
          <a:xfrm>
            <a:off x="1028700" y="1177715"/>
            <a:ext cx="7573842" cy="2011000"/>
          </a:xfrm>
          <a:prstGeom prst="rect">
            <a:avLst/>
          </a:prstGeom>
        </p:spPr>
        <p:txBody>
          <a:bodyPr lIns="0" tIns="0" rIns="0" bIns="0" rtlCol="0" anchor="t">
            <a:spAutoFit/>
          </a:bodyPr>
          <a:lstStyle/>
          <a:p>
            <a:pPr marL="0" lvl="0" indent="0" algn="l">
              <a:lnSpc>
                <a:spcPct val="150000"/>
              </a:lnSpc>
            </a:pPr>
            <a:r>
              <a:rPr lang="en-US" sz="4612" b="1" dirty="0">
                <a:solidFill>
                  <a:srgbClr val="388D89"/>
                </a:solidFill>
                <a:latin typeface="Roboto Bold"/>
                <a:ea typeface="Roboto Bold"/>
                <a:cs typeface="Roboto Bold"/>
                <a:sym typeface="Roboto Bold"/>
              </a:rPr>
              <a:t>KEY INSIGHT: REGRESSION MODEL LIMITATIONS</a:t>
            </a:r>
          </a:p>
        </p:txBody>
      </p:sp>
      <p:sp>
        <p:nvSpPr>
          <p:cNvPr id="4" name="Freeform 4"/>
          <p:cNvSpPr/>
          <p:nvPr/>
        </p:nvSpPr>
        <p:spPr>
          <a:xfrm>
            <a:off x="8786010" y="2205425"/>
            <a:ext cx="9372600" cy="6018397"/>
          </a:xfrm>
          <a:custGeom>
            <a:avLst/>
            <a:gdLst/>
            <a:ahLst/>
            <a:cxnLst/>
            <a:rect l="l" t="t" r="r" b="b"/>
            <a:pathLst>
              <a:path w="16632705" h="6843429">
                <a:moveTo>
                  <a:pt x="0" y="0"/>
                </a:moveTo>
                <a:lnTo>
                  <a:pt x="16632704" y="0"/>
                </a:lnTo>
                <a:lnTo>
                  <a:pt x="16632704" y="6843429"/>
                </a:lnTo>
                <a:lnTo>
                  <a:pt x="0" y="6843429"/>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1095478" y="4388478"/>
            <a:ext cx="7573842" cy="1141338"/>
          </a:xfrm>
          <a:prstGeom prst="rect">
            <a:avLst/>
          </a:prstGeom>
        </p:spPr>
        <p:txBody>
          <a:bodyPr lIns="0" tIns="0" rIns="0" bIns="0" rtlCol="0" anchor="t">
            <a:spAutoFit/>
          </a:bodyPr>
          <a:lstStyle/>
          <a:p>
            <a:pPr marL="0" lvl="0" indent="0" algn="just">
              <a:lnSpc>
                <a:spcPct val="200000"/>
              </a:lnSpc>
            </a:pPr>
            <a:r>
              <a:rPr lang="en-US" sz="2000" dirty="0">
                <a:solidFill>
                  <a:srgbClr val="388D89"/>
                </a:solidFill>
                <a:latin typeface="Roboto"/>
                <a:ea typeface="Roboto"/>
                <a:cs typeface="Roboto"/>
                <a:sym typeface="Roboto"/>
              </a:rPr>
              <a:t>Simple Linear Regression yielded R² = 0.000587, indicating virtually no linear relationship between Sleep Hours and Work Stress.</a:t>
            </a:r>
          </a:p>
        </p:txBody>
      </p:sp>
      <p:sp>
        <p:nvSpPr>
          <p:cNvPr id="6" name="TextBox 6"/>
          <p:cNvSpPr txBox="1"/>
          <p:nvPr/>
        </p:nvSpPr>
        <p:spPr>
          <a:xfrm>
            <a:off x="1120434" y="3632241"/>
            <a:ext cx="7573842" cy="617990"/>
          </a:xfrm>
          <a:prstGeom prst="rect">
            <a:avLst/>
          </a:prstGeom>
        </p:spPr>
        <p:txBody>
          <a:bodyPr lIns="0" tIns="0" rIns="0" bIns="0" rtlCol="0" anchor="t">
            <a:spAutoFit/>
          </a:bodyPr>
          <a:lstStyle/>
          <a:p>
            <a:pPr marL="0" lvl="0" indent="0" algn="just">
              <a:lnSpc>
                <a:spcPts val="5412"/>
              </a:lnSpc>
            </a:pPr>
            <a:r>
              <a:rPr lang="en-US" sz="3075" b="1" dirty="0">
                <a:solidFill>
                  <a:srgbClr val="388D89"/>
                </a:solidFill>
                <a:latin typeface="Roboto Bold"/>
                <a:ea typeface="Roboto Bold"/>
                <a:cs typeface="Roboto Bold"/>
                <a:sym typeface="Roboto Bold"/>
              </a:rPr>
              <a:t>01</a:t>
            </a:r>
          </a:p>
        </p:txBody>
      </p:sp>
      <p:sp>
        <p:nvSpPr>
          <p:cNvPr id="7" name="TextBox 7"/>
          <p:cNvSpPr txBox="1"/>
          <p:nvPr/>
        </p:nvSpPr>
        <p:spPr>
          <a:xfrm>
            <a:off x="1095478" y="6536823"/>
            <a:ext cx="7573842" cy="1756891"/>
          </a:xfrm>
          <a:prstGeom prst="rect">
            <a:avLst/>
          </a:prstGeom>
        </p:spPr>
        <p:txBody>
          <a:bodyPr lIns="0" tIns="0" rIns="0" bIns="0" rtlCol="0" anchor="t">
            <a:spAutoFit/>
          </a:bodyPr>
          <a:lstStyle/>
          <a:p>
            <a:pPr marL="0" lvl="0" indent="0" algn="just">
              <a:lnSpc>
                <a:spcPct val="200000"/>
              </a:lnSpc>
            </a:pPr>
            <a:r>
              <a:rPr lang="en-US" sz="2000" dirty="0">
                <a:solidFill>
                  <a:srgbClr val="388D89"/>
                </a:solidFill>
                <a:latin typeface="Roboto"/>
                <a:ea typeface="Roboto"/>
                <a:cs typeface="Roboto"/>
                <a:sym typeface="Roboto"/>
              </a:rPr>
              <a:t>Multiple Linear Regression improved only marginally to R² = 0.003624, suggesting lifestyle factors have complex, non-linear interactions with mental health outcomes.</a:t>
            </a:r>
          </a:p>
        </p:txBody>
      </p:sp>
      <p:sp>
        <p:nvSpPr>
          <p:cNvPr id="8" name="TextBox 8"/>
          <p:cNvSpPr txBox="1"/>
          <p:nvPr/>
        </p:nvSpPr>
        <p:spPr>
          <a:xfrm>
            <a:off x="1120434" y="5857659"/>
            <a:ext cx="7573842" cy="648081"/>
          </a:xfrm>
          <a:prstGeom prst="rect">
            <a:avLst/>
          </a:prstGeom>
        </p:spPr>
        <p:txBody>
          <a:bodyPr lIns="0" tIns="0" rIns="0" bIns="0" rtlCol="0" anchor="t">
            <a:spAutoFit/>
          </a:bodyPr>
          <a:lstStyle/>
          <a:p>
            <a:pPr marL="0" lvl="0" indent="0" algn="just">
              <a:lnSpc>
                <a:spcPts val="5412"/>
              </a:lnSpc>
            </a:pPr>
            <a:r>
              <a:rPr lang="en-US" sz="3075" b="1" dirty="0">
                <a:solidFill>
                  <a:srgbClr val="388D89"/>
                </a:solidFill>
                <a:latin typeface="Roboto Bold"/>
                <a:ea typeface="Roboto Bold"/>
                <a:cs typeface="Roboto Bold"/>
                <a:sym typeface="Roboto Bold"/>
              </a:rPr>
              <a:t>02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413"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Freeform 3"/>
          <p:cNvSpPr/>
          <p:nvPr/>
        </p:nvSpPr>
        <p:spPr>
          <a:xfrm>
            <a:off x="9831347" y="342967"/>
            <a:ext cx="7384870" cy="8884054"/>
          </a:xfrm>
          <a:custGeom>
            <a:avLst/>
            <a:gdLst/>
            <a:ahLst/>
            <a:cxnLst/>
            <a:rect l="l" t="t" r="r" b="b"/>
            <a:pathLst>
              <a:path w="7384870" h="8884054">
                <a:moveTo>
                  <a:pt x="0" y="0"/>
                </a:moveTo>
                <a:lnTo>
                  <a:pt x="7384870" y="0"/>
                </a:lnTo>
                <a:lnTo>
                  <a:pt x="7384870" y="8884054"/>
                </a:lnTo>
                <a:lnTo>
                  <a:pt x="0" y="8884054"/>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994286" y="1028700"/>
            <a:ext cx="8911713" cy="2545120"/>
          </a:xfrm>
          <a:prstGeom prst="rect">
            <a:avLst/>
          </a:prstGeom>
        </p:spPr>
        <p:txBody>
          <a:bodyPr wrap="square" lIns="0" tIns="0" rIns="0" bIns="0" rtlCol="0" anchor="t">
            <a:spAutoFit/>
          </a:bodyPr>
          <a:lstStyle/>
          <a:p>
            <a:pPr marL="0" lvl="0" indent="0" algn="l">
              <a:lnSpc>
                <a:spcPct val="150000"/>
              </a:lnSpc>
            </a:pPr>
            <a:r>
              <a:rPr lang="en-US" sz="5837" b="1" dirty="0">
                <a:solidFill>
                  <a:srgbClr val="388D89"/>
                </a:solidFill>
                <a:latin typeface="Roboto Bold"/>
                <a:ea typeface="Roboto Bold"/>
                <a:cs typeface="Roboto Bold"/>
                <a:sym typeface="Roboto Bold"/>
              </a:rPr>
              <a:t>KEY INSIGHT: LOGISTIC REGRESSION STRENGTH</a:t>
            </a:r>
          </a:p>
        </p:txBody>
      </p:sp>
      <p:sp>
        <p:nvSpPr>
          <p:cNvPr id="5" name="TextBox 5"/>
          <p:cNvSpPr txBox="1"/>
          <p:nvPr/>
        </p:nvSpPr>
        <p:spPr>
          <a:xfrm>
            <a:off x="994286" y="4259553"/>
            <a:ext cx="7863617" cy="3134320"/>
          </a:xfrm>
          <a:prstGeom prst="rect">
            <a:avLst/>
          </a:prstGeom>
        </p:spPr>
        <p:txBody>
          <a:bodyPr lIns="0" tIns="0" rIns="0" bIns="0" rtlCol="0" anchor="t">
            <a:spAutoFit/>
          </a:bodyPr>
          <a:lstStyle/>
          <a:p>
            <a:pPr marL="0" lvl="0" indent="0" algn="just">
              <a:lnSpc>
                <a:spcPct val="200000"/>
              </a:lnSpc>
            </a:pPr>
            <a:r>
              <a:rPr lang="en-US" sz="2098" dirty="0">
                <a:solidFill>
                  <a:srgbClr val="388D89"/>
                </a:solidFill>
                <a:latin typeface="Roboto"/>
                <a:ea typeface="Roboto"/>
                <a:cs typeface="Roboto"/>
                <a:sym typeface="Roboto"/>
              </a:rPr>
              <a:t>The logistic regression model achieved an impressive 95.6% classification accuracy, demonstrating strong predictive capability for mental health outcomes. This high accuracy validates the model's effectiveness for binary classification tasks in mental health analytics.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Freeform 3"/>
          <p:cNvSpPr/>
          <p:nvPr/>
        </p:nvSpPr>
        <p:spPr>
          <a:xfrm>
            <a:off x="13699001" y="721896"/>
            <a:ext cx="3213914" cy="8599101"/>
          </a:xfrm>
          <a:custGeom>
            <a:avLst/>
            <a:gdLst/>
            <a:ahLst/>
            <a:cxnLst/>
            <a:rect l="l" t="t" r="r" b="b"/>
            <a:pathLst>
              <a:path w="3213914" h="8599101">
                <a:moveTo>
                  <a:pt x="0" y="0"/>
                </a:moveTo>
                <a:lnTo>
                  <a:pt x="3213914" y="0"/>
                </a:lnTo>
                <a:lnTo>
                  <a:pt x="3213914" y="8599101"/>
                </a:lnTo>
                <a:lnTo>
                  <a:pt x="0" y="8599101"/>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797435" y="1181100"/>
            <a:ext cx="11551881" cy="2586990"/>
          </a:xfrm>
          <a:prstGeom prst="rect">
            <a:avLst/>
          </a:prstGeom>
        </p:spPr>
        <p:txBody>
          <a:bodyPr lIns="0" tIns="0" rIns="0" bIns="0" rtlCol="0" anchor="t">
            <a:spAutoFit/>
          </a:bodyPr>
          <a:lstStyle/>
          <a:p>
            <a:pPr marL="0" lvl="0" indent="0" algn="l">
              <a:lnSpc>
                <a:spcPts val="10080"/>
              </a:lnSpc>
            </a:pPr>
            <a:r>
              <a:rPr lang="en-US" sz="9000" b="1" dirty="0">
                <a:solidFill>
                  <a:srgbClr val="388D89"/>
                </a:solidFill>
                <a:latin typeface="Roboto Bold"/>
                <a:ea typeface="Roboto Bold"/>
                <a:cs typeface="Roboto Bold"/>
                <a:sym typeface="Roboto Bold"/>
              </a:rPr>
              <a:t>CONCLUSION AND KEY FINDINGS</a:t>
            </a:r>
          </a:p>
        </p:txBody>
      </p:sp>
      <p:sp>
        <p:nvSpPr>
          <p:cNvPr id="5" name="TextBox 5"/>
          <p:cNvSpPr txBox="1"/>
          <p:nvPr/>
        </p:nvSpPr>
        <p:spPr>
          <a:xfrm>
            <a:off x="797435" y="4033266"/>
            <a:ext cx="11551881" cy="3097002"/>
          </a:xfrm>
          <a:prstGeom prst="rect">
            <a:avLst/>
          </a:prstGeom>
        </p:spPr>
        <p:txBody>
          <a:bodyPr lIns="0" tIns="0" rIns="0" bIns="0" rtlCol="0" anchor="t">
            <a:spAutoFit/>
          </a:bodyPr>
          <a:lstStyle/>
          <a:p>
            <a:pPr marL="0" lvl="0" indent="0" algn="just">
              <a:lnSpc>
                <a:spcPct val="250000"/>
              </a:lnSpc>
            </a:pPr>
            <a:r>
              <a:rPr lang="en-US" sz="2100" dirty="0">
                <a:solidFill>
                  <a:srgbClr val="388D89"/>
                </a:solidFill>
                <a:latin typeface="Roboto"/>
                <a:ea typeface="Roboto"/>
                <a:cs typeface="Roboto"/>
                <a:sym typeface="Roboto"/>
              </a:rPr>
              <a:t>The study successfully meets its objectives by producing scientifically valid data. Logistic regression achieved 95.6% accuracy in classifying mental health outcomes, while linear models revealed complex, non-linear relationships between lifestyle factors and mental well-being. Further research is recommended with broader methods and variables.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grpSp>
        <p:nvGrpSpPr>
          <p:cNvPr id="3" name="Group 3"/>
          <p:cNvGrpSpPr/>
          <p:nvPr/>
        </p:nvGrpSpPr>
        <p:grpSpPr>
          <a:xfrm>
            <a:off x="10205411" y="1028700"/>
            <a:ext cx="7050238" cy="2456780"/>
            <a:chOff x="0" y="0"/>
            <a:chExt cx="1856853" cy="647053"/>
          </a:xfrm>
        </p:grpSpPr>
        <p:sp>
          <p:nvSpPr>
            <p:cNvPr id="4" name="Freeform 4"/>
            <p:cNvSpPr/>
            <p:nvPr/>
          </p:nvSpPr>
          <p:spPr>
            <a:xfrm>
              <a:off x="0" y="0"/>
              <a:ext cx="1856853" cy="647053"/>
            </a:xfrm>
            <a:custGeom>
              <a:avLst/>
              <a:gdLst/>
              <a:ahLst/>
              <a:cxnLst/>
              <a:rect l="l" t="t" r="r" b="b"/>
              <a:pathLst>
                <a:path w="1856853" h="647053">
                  <a:moveTo>
                    <a:pt x="1856853" y="32943"/>
                  </a:moveTo>
                  <a:lnTo>
                    <a:pt x="1856853" y="614110"/>
                  </a:lnTo>
                  <a:cubicBezTo>
                    <a:pt x="1856853" y="632304"/>
                    <a:pt x="1842104" y="647053"/>
                    <a:pt x="1823910" y="647053"/>
                  </a:cubicBezTo>
                  <a:lnTo>
                    <a:pt x="32943" y="647053"/>
                  </a:lnTo>
                  <a:cubicBezTo>
                    <a:pt x="14749" y="647053"/>
                    <a:pt x="0" y="632304"/>
                    <a:pt x="0" y="614110"/>
                  </a:cubicBezTo>
                  <a:lnTo>
                    <a:pt x="0" y="32943"/>
                  </a:lnTo>
                  <a:cubicBezTo>
                    <a:pt x="0" y="14749"/>
                    <a:pt x="14749" y="0"/>
                    <a:pt x="32943" y="0"/>
                  </a:cubicBezTo>
                  <a:lnTo>
                    <a:pt x="1823910" y="0"/>
                  </a:lnTo>
                  <a:cubicBezTo>
                    <a:pt x="1842104" y="0"/>
                    <a:pt x="1856853" y="14749"/>
                    <a:pt x="1856853" y="32943"/>
                  </a:cubicBezTo>
                  <a:close/>
                </a:path>
              </a:pathLst>
            </a:custGeom>
            <a:solidFill>
              <a:srgbClr val="388D89"/>
            </a:solidFill>
          </p:spPr>
          <p:txBody>
            <a:bodyPr/>
            <a:lstStyle/>
            <a:p>
              <a:endParaRPr lang="en-US"/>
            </a:p>
          </p:txBody>
        </p:sp>
        <p:sp>
          <p:nvSpPr>
            <p:cNvPr id="5" name="TextBox 5"/>
            <p:cNvSpPr txBox="1"/>
            <p:nvPr/>
          </p:nvSpPr>
          <p:spPr>
            <a:xfrm>
              <a:off x="0" y="-38100"/>
              <a:ext cx="1856853" cy="685153"/>
            </a:xfrm>
            <a:prstGeom prst="rect">
              <a:avLst/>
            </a:prstGeom>
          </p:spPr>
          <p:txBody>
            <a:bodyPr lIns="50800" tIns="50800" rIns="50800" bIns="50800" rtlCol="0" anchor="ctr"/>
            <a:lstStyle/>
            <a:p>
              <a:pPr marL="0" lvl="0" indent="0" algn="ctr">
                <a:lnSpc>
                  <a:spcPts val="2659"/>
                </a:lnSpc>
              </a:pPr>
              <a:endParaRPr/>
            </a:p>
          </p:txBody>
        </p:sp>
      </p:grpSp>
      <p:grpSp>
        <p:nvGrpSpPr>
          <p:cNvPr id="6" name="Group 6"/>
          <p:cNvGrpSpPr/>
          <p:nvPr/>
        </p:nvGrpSpPr>
        <p:grpSpPr>
          <a:xfrm>
            <a:off x="10209062" y="3908330"/>
            <a:ext cx="7050238" cy="2456780"/>
            <a:chOff x="0" y="0"/>
            <a:chExt cx="1856853" cy="647053"/>
          </a:xfrm>
        </p:grpSpPr>
        <p:sp>
          <p:nvSpPr>
            <p:cNvPr id="7" name="Freeform 7"/>
            <p:cNvSpPr/>
            <p:nvPr/>
          </p:nvSpPr>
          <p:spPr>
            <a:xfrm>
              <a:off x="0" y="0"/>
              <a:ext cx="1856853" cy="647053"/>
            </a:xfrm>
            <a:custGeom>
              <a:avLst/>
              <a:gdLst/>
              <a:ahLst/>
              <a:cxnLst/>
              <a:rect l="l" t="t" r="r" b="b"/>
              <a:pathLst>
                <a:path w="1856853" h="647053">
                  <a:moveTo>
                    <a:pt x="1856853" y="32943"/>
                  </a:moveTo>
                  <a:lnTo>
                    <a:pt x="1856853" y="614110"/>
                  </a:lnTo>
                  <a:cubicBezTo>
                    <a:pt x="1856853" y="632304"/>
                    <a:pt x="1842104" y="647053"/>
                    <a:pt x="1823910" y="647053"/>
                  </a:cubicBezTo>
                  <a:lnTo>
                    <a:pt x="32943" y="647053"/>
                  </a:lnTo>
                  <a:cubicBezTo>
                    <a:pt x="14749" y="647053"/>
                    <a:pt x="0" y="632304"/>
                    <a:pt x="0" y="614110"/>
                  </a:cubicBezTo>
                  <a:lnTo>
                    <a:pt x="0" y="32943"/>
                  </a:lnTo>
                  <a:cubicBezTo>
                    <a:pt x="0" y="14749"/>
                    <a:pt x="14749" y="0"/>
                    <a:pt x="32943" y="0"/>
                  </a:cubicBezTo>
                  <a:lnTo>
                    <a:pt x="1823910" y="0"/>
                  </a:lnTo>
                  <a:cubicBezTo>
                    <a:pt x="1842104" y="0"/>
                    <a:pt x="1856853" y="14749"/>
                    <a:pt x="1856853" y="32943"/>
                  </a:cubicBezTo>
                  <a:close/>
                </a:path>
              </a:pathLst>
            </a:custGeom>
            <a:solidFill>
              <a:srgbClr val="CCF1F0"/>
            </a:solidFill>
          </p:spPr>
          <p:txBody>
            <a:bodyPr/>
            <a:lstStyle/>
            <a:p>
              <a:endParaRPr lang="en-US"/>
            </a:p>
          </p:txBody>
        </p:sp>
        <p:sp>
          <p:nvSpPr>
            <p:cNvPr id="8" name="TextBox 8"/>
            <p:cNvSpPr txBox="1"/>
            <p:nvPr/>
          </p:nvSpPr>
          <p:spPr>
            <a:xfrm>
              <a:off x="0" y="-38100"/>
              <a:ext cx="1856853" cy="685153"/>
            </a:xfrm>
            <a:prstGeom prst="rect">
              <a:avLst/>
            </a:prstGeom>
          </p:spPr>
          <p:txBody>
            <a:bodyPr lIns="50800" tIns="50800" rIns="50800" bIns="50800" rtlCol="0" anchor="ctr"/>
            <a:lstStyle/>
            <a:p>
              <a:pPr marL="0" lvl="0" indent="0" algn="ctr">
                <a:lnSpc>
                  <a:spcPts val="2659"/>
                </a:lnSpc>
              </a:pPr>
              <a:endParaRPr/>
            </a:p>
          </p:txBody>
        </p:sp>
      </p:grpSp>
      <p:sp>
        <p:nvSpPr>
          <p:cNvPr id="9" name="Freeform 9"/>
          <p:cNvSpPr/>
          <p:nvPr/>
        </p:nvSpPr>
        <p:spPr>
          <a:xfrm rot="-321536">
            <a:off x="16406521" y="8865853"/>
            <a:ext cx="2964094" cy="2649013"/>
          </a:xfrm>
          <a:custGeom>
            <a:avLst/>
            <a:gdLst/>
            <a:ahLst/>
            <a:cxnLst/>
            <a:rect l="l" t="t" r="r" b="b"/>
            <a:pathLst>
              <a:path w="2964094" h="2649013">
                <a:moveTo>
                  <a:pt x="0" y="0"/>
                </a:moveTo>
                <a:lnTo>
                  <a:pt x="2964094" y="0"/>
                </a:lnTo>
                <a:lnTo>
                  <a:pt x="2964094" y="2649012"/>
                </a:lnTo>
                <a:lnTo>
                  <a:pt x="0" y="2649012"/>
                </a:lnTo>
                <a:lnTo>
                  <a:pt x="0" y="0"/>
                </a:lnTo>
                <a:close/>
              </a:path>
            </a:pathLst>
          </a:custGeom>
          <a:blipFill>
            <a:blip r:embed="rId3"/>
            <a:stretch>
              <a:fillRect/>
            </a:stretch>
          </a:blipFill>
        </p:spPr>
        <p:txBody>
          <a:bodyPr/>
          <a:lstStyle/>
          <a:p>
            <a:endParaRPr lang="en-US"/>
          </a:p>
        </p:txBody>
      </p:sp>
      <p:grpSp>
        <p:nvGrpSpPr>
          <p:cNvPr id="10" name="Group 10"/>
          <p:cNvGrpSpPr/>
          <p:nvPr/>
        </p:nvGrpSpPr>
        <p:grpSpPr>
          <a:xfrm>
            <a:off x="10203464" y="6797733"/>
            <a:ext cx="7050238" cy="2456780"/>
            <a:chOff x="0" y="0"/>
            <a:chExt cx="1856853" cy="647053"/>
          </a:xfrm>
        </p:grpSpPr>
        <p:sp>
          <p:nvSpPr>
            <p:cNvPr id="11" name="Freeform 11"/>
            <p:cNvSpPr/>
            <p:nvPr/>
          </p:nvSpPr>
          <p:spPr>
            <a:xfrm>
              <a:off x="0" y="0"/>
              <a:ext cx="1856853" cy="647053"/>
            </a:xfrm>
            <a:custGeom>
              <a:avLst/>
              <a:gdLst/>
              <a:ahLst/>
              <a:cxnLst/>
              <a:rect l="l" t="t" r="r" b="b"/>
              <a:pathLst>
                <a:path w="1856853" h="647053">
                  <a:moveTo>
                    <a:pt x="1856853" y="32943"/>
                  </a:moveTo>
                  <a:lnTo>
                    <a:pt x="1856853" y="614110"/>
                  </a:lnTo>
                  <a:cubicBezTo>
                    <a:pt x="1856853" y="632304"/>
                    <a:pt x="1842104" y="647053"/>
                    <a:pt x="1823910" y="647053"/>
                  </a:cubicBezTo>
                  <a:lnTo>
                    <a:pt x="32943" y="647053"/>
                  </a:lnTo>
                  <a:cubicBezTo>
                    <a:pt x="14749" y="647053"/>
                    <a:pt x="0" y="632304"/>
                    <a:pt x="0" y="614110"/>
                  </a:cubicBezTo>
                  <a:lnTo>
                    <a:pt x="0" y="32943"/>
                  </a:lnTo>
                  <a:cubicBezTo>
                    <a:pt x="0" y="14749"/>
                    <a:pt x="14749" y="0"/>
                    <a:pt x="32943" y="0"/>
                  </a:cubicBezTo>
                  <a:lnTo>
                    <a:pt x="1823910" y="0"/>
                  </a:lnTo>
                  <a:cubicBezTo>
                    <a:pt x="1842104" y="0"/>
                    <a:pt x="1856853" y="14749"/>
                    <a:pt x="1856853" y="32943"/>
                  </a:cubicBezTo>
                  <a:close/>
                </a:path>
              </a:pathLst>
            </a:custGeom>
            <a:solidFill>
              <a:srgbClr val="388D89"/>
            </a:solidFill>
          </p:spPr>
          <p:txBody>
            <a:bodyPr/>
            <a:lstStyle/>
            <a:p>
              <a:endParaRPr lang="en-US"/>
            </a:p>
          </p:txBody>
        </p:sp>
        <p:sp>
          <p:nvSpPr>
            <p:cNvPr id="12" name="TextBox 12"/>
            <p:cNvSpPr txBox="1"/>
            <p:nvPr/>
          </p:nvSpPr>
          <p:spPr>
            <a:xfrm>
              <a:off x="0" y="-38100"/>
              <a:ext cx="1856853" cy="685153"/>
            </a:xfrm>
            <a:prstGeom prst="rect">
              <a:avLst/>
            </a:prstGeom>
          </p:spPr>
          <p:txBody>
            <a:bodyPr lIns="50800" tIns="50800" rIns="50800" bIns="50800" rtlCol="0" anchor="ctr"/>
            <a:lstStyle/>
            <a:p>
              <a:pPr marL="0" lvl="0" indent="0" algn="ctr">
                <a:lnSpc>
                  <a:spcPts val="2659"/>
                </a:lnSpc>
              </a:pPr>
              <a:endParaRPr/>
            </a:p>
          </p:txBody>
        </p:sp>
      </p:grpSp>
      <p:sp>
        <p:nvSpPr>
          <p:cNvPr id="13" name="Freeform 13"/>
          <p:cNvSpPr/>
          <p:nvPr/>
        </p:nvSpPr>
        <p:spPr>
          <a:xfrm>
            <a:off x="1109575" y="5138585"/>
            <a:ext cx="5502918" cy="4278519"/>
          </a:xfrm>
          <a:custGeom>
            <a:avLst/>
            <a:gdLst/>
            <a:ahLst/>
            <a:cxnLst/>
            <a:rect l="l" t="t" r="r" b="b"/>
            <a:pathLst>
              <a:path w="5502918" h="4278519">
                <a:moveTo>
                  <a:pt x="0" y="0"/>
                </a:moveTo>
                <a:lnTo>
                  <a:pt x="5502918" y="0"/>
                </a:lnTo>
                <a:lnTo>
                  <a:pt x="5502918" y="4278519"/>
                </a:lnTo>
                <a:lnTo>
                  <a:pt x="0" y="4278519"/>
                </a:lnTo>
                <a:lnTo>
                  <a:pt x="0" y="0"/>
                </a:lnTo>
                <a:close/>
              </a:path>
            </a:pathLst>
          </a:custGeom>
          <a:blipFill>
            <a:blip r:embed="rId4"/>
            <a:stretch>
              <a:fillRect/>
            </a:stretch>
          </a:blipFill>
        </p:spPr>
        <p:txBody>
          <a:bodyPr/>
          <a:lstStyle/>
          <a:p>
            <a:endParaRPr lang="en-US"/>
          </a:p>
        </p:txBody>
      </p:sp>
      <p:sp>
        <p:nvSpPr>
          <p:cNvPr id="14" name="TextBox 14"/>
          <p:cNvSpPr txBox="1"/>
          <p:nvPr/>
        </p:nvSpPr>
        <p:spPr>
          <a:xfrm>
            <a:off x="1028700" y="1057275"/>
            <a:ext cx="8222327" cy="1865757"/>
          </a:xfrm>
          <a:prstGeom prst="rect">
            <a:avLst/>
          </a:prstGeom>
        </p:spPr>
        <p:txBody>
          <a:bodyPr lIns="0" tIns="0" rIns="0" bIns="0" rtlCol="0" anchor="t">
            <a:spAutoFit/>
          </a:bodyPr>
          <a:lstStyle/>
          <a:p>
            <a:pPr marL="0" lvl="0" indent="0" algn="l">
              <a:lnSpc>
                <a:spcPts val="7224"/>
              </a:lnSpc>
            </a:pPr>
            <a:r>
              <a:rPr lang="en-US" sz="6450" b="1">
                <a:solidFill>
                  <a:srgbClr val="388D89"/>
                </a:solidFill>
                <a:latin typeface="Roboto Bold"/>
                <a:ea typeface="Roboto Bold"/>
                <a:cs typeface="Roboto Bold"/>
                <a:sym typeface="Roboto Bold"/>
              </a:rPr>
              <a:t>ACKNOWLEDGEMENT RECAP</a:t>
            </a:r>
          </a:p>
        </p:txBody>
      </p:sp>
      <p:sp>
        <p:nvSpPr>
          <p:cNvPr id="15" name="TextBox 15"/>
          <p:cNvSpPr txBox="1"/>
          <p:nvPr/>
        </p:nvSpPr>
        <p:spPr>
          <a:xfrm>
            <a:off x="10768704" y="2094655"/>
            <a:ext cx="5930954" cy="850734"/>
          </a:xfrm>
          <a:prstGeom prst="rect">
            <a:avLst/>
          </a:prstGeom>
        </p:spPr>
        <p:txBody>
          <a:bodyPr lIns="0" tIns="0" rIns="0" bIns="0" rtlCol="0" anchor="t">
            <a:spAutoFit/>
          </a:bodyPr>
          <a:lstStyle/>
          <a:p>
            <a:pPr marL="0" lvl="0" indent="0" algn="just">
              <a:lnSpc>
                <a:spcPts val="3461"/>
              </a:lnSpc>
            </a:pPr>
            <a:r>
              <a:rPr lang="en-US" sz="1966">
                <a:solidFill>
                  <a:srgbClr val="F8FFFF"/>
                </a:solidFill>
                <a:latin typeface="Roboto"/>
                <a:ea typeface="Roboto"/>
                <a:cs typeface="Roboto"/>
                <a:sym typeface="Roboto"/>
              </a:rPr>
              <a:t>Sincere thanks to our guide for invaluable mentorship and continuous support throughout this journey.</a:t>
            </a:r>
          </a:p>
        </p:txBody>
      </p:sp>
      <p:sp>
        <p:nvSpPr>
          <p:cNvPr id="16" name="TextBox 16"/>
          <p:cNvSpPr txBox="1"/>
          <p:nvPr/>
        </p:nvSpPr>
        <p:spPr>
          <a:xfrm>
            <a:off x="10797259" y="1559227"/>
            <a:ext cx="5862648" cy="415239"/>
          </a:xfrm>
          <a:prstGeom prst="rect">
            <a:avLst/>
          </a:prstGeom>
        </p:spPr>
        <p:txBody>
          <a:bodyPr lIns="0" tIns="0" rIns="0" bIns="0" rtlCol="0" anchor="t">
            <a:spAutoFit/>
          </a:bodyPr>
          <a:lstStyle/>
          <a:p>
            <a:pPr marL="0" lvl="0" indent="0" algn="l">
              <a:lnSpc>
                <a:spcPts val="3027"/>
              </a:lnSpc>
            </a:pPr>
            <a:r>
              <a:rPr lang="en-US" sz="2997" b="1">
                <a:solidFill>
                  <a:srgbClr val="F8FFFF"/>
                </a:solidFill>
                <a:latin typeface="Roboto Bold"/>
                <a:ea typeface="Roboto Bold"/>
                <a:cs typeface="Roboto Bold"/>
                <a:sym typeface="Roboto Bold"/>
              </a:rPr>
              <a:t>Project Guide</a:t>
            </a:r>
          </a:p>
        </p:txBody>
      </p:sp>
      <p:sp>
        <p:nvSpPr>
          <p:cNvPr id="17" name="TextBox 17"/>
          <p:cNvSpPr txBox="1"/>
          <p:nvPr/>
        </p:nvSpPr>
        <p:spPr>
          <a:xfrm>
            <a:off x="10768704" y="4974286"/>
            <a:ext cx="5930954" cy="850734"/>
          </a:xfrm>
          <a:prstGeom prst="rect">
            <a:avLst/>
          </a:prstGeom>
        </p:spPr>
        <p:txBody>
          <a:bodyPr lIns="0" tIns="0" rIns="0" bIns="0" rtlCol="0" anchor="t">
            <a:spAutoFit/>
          </a:bodyPr>
          <a:lstStyle/>
          <a:p>
            <a:pPr marL="0" lvl="0" indent="0" algn="just">
              <a:lnSpc>
                <a:spcPts val="3461"/>
              </a:lnSpc>
            </a:pPr>
            <a:r>
              <a:rPr lang="en-US" sz="1966">
                <a:solidFill>
                  <a:srgbClr val="388D89"/>
                </a:solidFill>
                <a:latin typeface="Roboto"/>
                <a:ea typeface="Roboto"/>
                <a:cs typeface="Roboto"/>
                <a:sym typeface="Roboto"/>
              </a:rPr>
              <a:t>Grateful to the Principal, Campus Director, and faculty of Vivekanand College for their encouragement.</a:t>
            </a:r>
          </a:p>
        </p:txBody>
      </p:sp>
      <p:sp>
        <p:nvSpPr>
          <p:cNvPr id="18" name="TextBox 18"/>
          <p:cNvSpPr txBox="1"/>
          <p:nvPr/>
        </p:nvSpPr>
        <p:spPr>
          <a:xfrm>
            <a:off x="10768704" y="4438857"/>
            <a:ext cx="5930954" cy="415239"/>
          </a:xfrm>
          <a:prstGeom prst="rect">
            <a:avLst/>
          </a:prstGeom>
        </p:spPr>
        <p:txBody>
          <a:bodyPr lIns="0" tIns="0" rIns="0" bIns="0" rtlCol="0" anchor="t">
            <a:spAutoFit/>
          </a:bodyPr>
          <a:lstStyle/>
          <a:p>
            <a:pPr marL="0" lvl="0" indent="0" algn="l">
              <a:lnSpc>
                <a:spcPts val="3027"/>
              </a:lnSpc>
            </a:pPr>
            <a:r>
              <a:rPr lang="en-US" sz="2997" b="1">
                <a:solidFill>
                  <a:srgbClr val="388D89"/>
                </a:solidFill>
                <a:latin typeface="Roboto Bold"/>
                <a:ea typeface="Roboto Bold"/>
                <a:cs typeface="Roboto Bold"/>
                <a:sym typeface="Roboto Bold"/>
              </a:rPr>
              <a:t>Faculty &amp; Institution</a:t>
            </a:r>
          </a:p>
        </p:txBody>
      </p:sp>
      <p:sp>
        <p:nvSpPr>
          <p:cNvPr id="19" name="TextBox 19"/>
          <p:cNvSpPr txBox="1"/>
          <p:nvPr/>
        </p:nvSpPr>
        <p:spPr>
          <a:xfrm>
            <a:off x="10763106" y="7863688"/>
            <a:ext cx="5930954" cy="850734"/>
          </a:xfrm>
          <a:prstGeom prst="rect">
            <a:avLst/>
          </a:prstGeom>
        </p:spPr>
        <p:txBody>
          <a:bodyPr lIns="0" tIns="0" rIns="0" bIns="0" rtlCol="0" anchor="t">
            <a:spAutoFit/>
          </a:bodyPr>
          <a:lstStyle/>
          <a:p>
            <a:pPr marL="0" lvl="0" indent="0" algn="just">
              <a:lnSpc>
                <a:spcPts val="3461"/>
              </a:lnSpc>
            </a:pPr>
            <a:r>
              <a:rPr lang="en-US" sz="1966">
                <a:solidFill>
                  <a:srgbClr val="F8FFFF"/>
                </a:solidFill>
                <a:latin typeface="Roboto"/>
                <a:ea typeface="Roboto"/>
                <a:cs typeface="Roboto"/>
                <a:sym typeface="Roboto"/>
              </a:rPr>
              <a:t>Heartfelt appreciation to our parents and friends for their unwavering motivation and belief in us.</a:t>
            </a:r>
          </a:p>
        </p:txBody>
      </p:sp>
      <p:sp>
        <p:nvSpPr>
          <p:cNvPr id="20" name="TextBox 20"/>
          <p:cNvSpPr txBox="1"/>
          <p:nvPr/>
        </p:nvSpPr>
        <p:spPr>
          <a:xfrm>
            <a:off x="10763106" y="7328260"/>
            <a:ext cx="5930954" cy="415239"/>
          </a:xfrm>
          <a:prstGeom prst="rect">
            <a:avLst/>
          </a:prstGeom>
        </p:spPr>
        <p:txBody>
          <a:bodyPr lIns="0" tIns="0" rIns="0" bIns="0" rtlCol="0" anchor="t">
            <a:spAutoFit/>
          </a:bodyPr>
          <a:lstStyle/>
          <a:p>
            <a:pPr marL="0" lvl="0" indent="0" algn="l">
              <a:lnSpc>
                <a:spcPts val="3027"/>
              </a:lnSpc>
            </a:pPr>
            <a:r>
              <a:rPr lang="en-US" sz="2997" b="1">
                <a:solidFill>
                  <a:srgbClr val="F8FFFF"/>
                </a:solidFill>
                <a:latin typeface="Roboto Bold"/>
                <a:ea typeface="Roboto Bold"/>
                <a:cs typeface="Roboto Bold"/>
                <a:sym typeface="Roboto Bold"/>
              </a:rPr>
              <a:t>Family &amp; Friends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txBody>
          <a:bodyPr/>
          <a:lstStyle/>
          <a:p>
            <a:endParaRPr lang="en-US"/>
          </a:p>
        </p:txBody>
      </p:sp>
      <p:sp>
        <p:nvSpPr>
          <p:cNvPr id="3" name="TextBox 3"/>
          <p:cNvSpPr txBox="1"/>
          <p:nvPr/>
        </p:nvSpPr>
        <p:spPr>
          <a:xfrm>
            <a:off x="1028700" y="3016128"/>
            <a:ext cx="9191545" cy="2586990"/>
          </a:xfrm>
          <a:prstGeom prst="rect">
            <a:avLst/>
          </a:prstGeom>
        </p:spPr>
        <p:txBody>
          <a:bodyPr lIns="0" tIns="0" rIns="0" bIns="0" rtlCol="0" anchor="t">
            <a:spAutoFit/>
          </a:bodyPr>
          <a:lstStyle/>
          <a:p>
            <a:pPr marL="0" lvl="0" indent="0" algn="l">
              <a:lnSpc>
                <a:spcPts val="10080"/>
              </a:lnSpc>
            </a:pPr>
            <a:r>
              <a:rPr lang="en-US" sz="9000" b="1">
                <a:solidFill>
                  <a:srgbClr val="388D89"/>
                </a:solidFill>
                <a:latin typeface="Roboto Bold"/>
                <a:ea typeface="Roboto Bold"/>
                <a:cs typeface="Roboto Bold"/>
                <a:sym typeface="Roboto Bold"/>
              </a:rPr>
              <a:t>QUESTIONS &amp; DISCUSSION</a:t>
            </a:r>
          </a:p>
        </p:txBody>
      </p:sp>
      <p:sp>
        <p:nvSpPr>
          <p:cNvPr id="4" name="TextBox 4"/>
          <p:cNvSpPr txBox="1"/>
          <p:nvPr/>
        </p:nvSpPr>
        <p:spPr>
          <a:xfrm>
            <a:off x="1028700" y="5962899"/>
            <a:ext cx="9191545" cy="1831848"/>
          </a:xfrm>
          <a:prstGeom prst="rect">
            <a:avLst/>
          </a:prstGeom>
        </p:spPr>
        <p:txBody>
          <a:bodyPr lIns="0" tIns="0" rIns="0" bIns="0" rtlCol="0" anchor="t">
            <a:spAutoFit/>
          </a:bodyPr>
          <a:lstStyle/>
          <a:p>
            <a:pPr marL="0" lvl="0" indent="0" algn="just">
              <a:lnSpc>
                <a:spcPts val="3696"/>
              </a:lnSpc>
            </a:pPr>
            <a:r>
              <a:rPr lang="en-US" sz="2100">
                <a:solidFill>
                  <a:srgbClr val="388D89"/>
                </a:solidFill>
                <a:latin typeface="Roboto"/>
                <a:ea typeface="Roboto"/>
                <a:cs typeface="Roboto"/>
                <a:sym typeface="Roboto"/>
              </a:rPr>
              <a:t>We welcome your questions, feedback, and insights about our mental health and lifestyle analysis project. Your perspectives help deepen our understanding and drive meaningful conversations about data-driven approaches to well-being.</a:t>
            </a:r>
          </a:p>
        </p:txBody>
      </p:sp>
      <p:sp>
        <p:nvSpPr>
          <p:cNvPr id="5" name="Freeform 5"/>
          <p:cNvSpPr/>
          <p:nvPr/>
        </p:nvSpPr>
        <p:spPr>
          <a:xfrm>
            <a:off x="15173981" y="-1513139"/>
            <a:ext cx="3169135" cy="5079105"/>
          </a:xfrm>
          <a:custGeom>
            <a:avLst/>
            <a:gdLst/>
            <a:ahLst/>
            <a:cxnLst/>
            <a:rect l="l" t="t" r="r" b="b"/>
            <a:pathLst>
              <a:path w="3169135" h="5079105">
                <a:moveTo>
                  <a:pt x="0" y="0"/>
                </a:moveTo>
                <a:lnTo>
                  <a:pt x="3169135" y="0"/>
                </a:lnTo>
                <a:lnTo>
                  <a:pt x="3169135" y="5079105"/>
                </a:lnTo>
                <a:lnTo>
                  <a:pt x="0" y="5079105"/>
                </a:lnTo>
                <a:lnTo>
                  <a:pt x="0" y="0"/>
                </a:lnTo>
                <a:close/>
              </a:path>
            </a:pathLst>
          </a:custGeom>
          <a:blipFill>
            <a:blip r:embed="rId3"/>
            <a:stretch>
              <a:fillRect/>
            </a:stretch>
          </a:blipFill>
        </p:spPr>
        <p:txBody>
          <a:bodyPr/>
          <a:lstStyle/>
          <a:p>
            <a:endParaRPr lang="en-US"/>
          </a:p>
        </p:txBody>
      </p:sp>
      <p:sp>
        <p:nvSpPr>
          <p:cNvPr id="6" name="Freeform 6"/>
          <p:cNvSpPr/>
          <p:nvPr/>
        </p:nvSpPr>
        <p:spPr>
          <a:xfrm rot="-980700">
            <a:off x="15678963" y="7370670"/>
            <a:ext cx="2732956" cy="4970678"/>
          </a:xfrm>
          <a:custGeom>
            <a:avLst/>
            <a:gdLst/>
            <a:ahLst/>
            <a:cxnLst/>
            <a:rect l="l" t="t" r="r" b="b"/>
            <a:pathLst>
              <a:path w="2732956" h="4970678">
                <a:moveTo>
                  <a:pt x="0" y="0"/>
                </a:moveTo>
                <a:lnTo>
                  <a:pt x="2732956" y="0"/>
                </a:lnTo>
                <a:lnTo>
                  <a:pt x="2732956" y="4970679"/>
                </a:lnTo>
                <a:lnTo>
                  <a:pt x="0" y="4970679"/>
                </a:lnTo>
                <a:lnTo>
                  <a:pt x="0" y="0"/>
                </a:lnTo>
                <a:close/>
              </a:path>
            </a:pathLst>
          </a:custGeom>
          <a:blipFill>
            <a:blip r:embed="rId4"/>
            <a:stretch>
              <a:fillRect/>
            </a:stretch>
          </a:blipFill>
        </p:spPr>
        <p:txBody>
          <a:bodyPr/>
          <a:lstStyle/>
          <a:p>
            <a:endParaRPr lang="en-US"/>
          </a:p>
        </p:txBody>
      </p:sp>
      <p:sp>
        <p:nvSpPr>
          <p:cNvPr id="7" name="Freeform 7"/>
          <p:cNvSpPr/>
          <p:nvPr/>
        </p:nvSpPr>
        <p:spPr>
          <a:xfrm rot="945155">
            <a:off x="14980196" y="2561314"/>
            <a:ext cx="4686752" cy="4045219"/>
          </a:xfrm>
          <a:custGeom>
            <a:avLst/>
            <a:gdLst/>
            <a:ahLst/>
            <a:cxnLst/>
            <a:rect l="l" t="t" r="r" b="b"/>
            <a:pathLst>
              <a:path w="4686752" h="4045219">
                <a:moveTo>
                  <a:pt x="0" y="0"/>
                </a:moveTo>
                <a:lnTo>
                  <a:pt x="4686752" y="0"/>
                </a:lnTo>
                <a:lnTo>
                  <a:pt x="4686752" y="4045219"/>
                </a:lnTo>
                <a:lnTo>
                  <a:pt x="0" y="4045219"/>
                </a:lnTo>
                <a:lnTo>
                  <a:pt x="0" y="0"/>
                </a:lnTo>
                <a:close/>
              </a:path>
            </a:pathLst>
          </a:custGeom>
          <a:blipFill>
            <a:blip r:embed="rId5"/>
            <a:stretch>
              <a:fillRect/>
            </a:stretch>
          </a:blipFill>
        </p:spPr>
        <p:txBody>
          <a:bodyPr/>
          <a:lstStyle/>
          <a:p>
            <a:endParaRPr lang="en-US"/>
          </a:p>
        </p:txBody>
      </p:sp>
      <p:sp>
        <p:nvSpPr>
          <p:cNvPr id="8" name="Freeform 8"/>
          <p:cNvSpPr/>
          <p:nvPr/>
        </p:nvSpPr>
        <p:spPr>
          <a:xfrm>
            <a:off x="11479472" y="7855918"/>
            <a:ext cx="3078046" cy="4848750"/>
          </a:xfrm>
          <a:custGeom>
            <a:avLst/>
            <a:gdLst/>
            <a:ahLst/>
            <a:cxnLst/>
            <a:rect l="l" t="t" r="r" b="b"/>
            <a:pathLst>
              <a:path w="3078046" h="4848750">
                <a:moveTo>
                  <a:pt x="0" y="0"/>
                </a:moveTo>
                <a:lnTo>
                  <a:pt x="3078046" y="0"/>
                </a:lnTo>
                <a:lnTo>
                  <a:pt x="3078046" y="4848750"/>
                </a:lnTo>
                <a:lnTo>
                  <a:pt x="0" y="4848750"/>
                </a:lnTo>
                <a:lnTo>
                  <a:pt x="0" y="0"/>
                </a:lnTo>
                <a:close/>
              </a:path>
            </a:pathLst>
          </a:custGeom>
          <a:blipFill>
            <a:blip r:embed="rId6"/>
            <a:stretch>
              <a:fillRect/>
            </a:stretch>
          </a:blipFill>
        </p:spPr>
        <p:txBody>
          <a:bodyPr/>
          <a:lstStyle/>
          <a:p>
            <a:endParaRPr lang="en-US"/>
          </a:p>
        </p:txBody>
      </p:sp>
      <p:sp>
        <p:nvSpPr>
          <p:cNvPr id="9" name="Freeform 9"/>
          <p:cNvSpPr/>
          <p:nvPr/>
        </p:nvSpPr>
        <p:spPr>
          <a:xfrm rot="720370">
            <a:off x="10452267" y="-2190546"/>
            <a:ext cx="5343530" cy="4578315"/>
          </a:xfrm>
          <a:custGeom>
            <a:avLst/>
            <a:gdLst/>
            <a:ahLst/>
            <a:cxnLst/>
            <a:rect l="l" t="t" r="r" b="b"/>
            <a:pathLst>
              <a:path w="5343530" h="4578315">
                <a:moveTo>
                  <a:pt x="0" y="0"/>
                </a:moveTo>
                <a:lnTo>
                  <a:pt x="5343530" y="0"/>
                </a:lnTo>
                <a:lnTo>
                  <a:pt x="5343530" y="4578315"/>
                </a:lnTo>
                <a:lnTo>
                  <a:pt x="0" y="4578315"/>
                </a:lnTo>
                <a:lnTo>
                  <a:pt x="0" y="0"/>
                </a:lnTo>
                <a:close/>
              </a:path>
            </a:pathLst>
          </a:custGeom>
          <a:blipFill>
            <a:blip r:embed="rId7"/>
            <a:stretch>
              <a:fillRect/>
            </a:stretch>
          </a:blipFill>
        </p:spPr>
        <p:txBody>
          <a:bodyPr/>
          <a:lstStyle/>
          <a:p>
            <a:endParaRPr lang="en-US"/>
          </a:p>
        </p:txBody>
      </p:sp>
      <p:sp>
        <p:nvSpPr>
          <p:cNvPr id="10" name="Freeform 10"/>
          <p:cNvSpPr/>
          <p:nvPr/>
        </p:nvSpPr>
        <p:spPr>
          <a:xfrm rot="395870">
            <a:off x="11485801" y="3939775"/>
            <a:ext cx="3200350" cy="3172347"/>
          </a:xfrm>
          <a:custGeom>
            <a:avLst/>
            <a:gdLst/>
            <a:ahLst/>
            <a:cxnLst/>
            <a:rect l="l" t="t" r="r" b="b"/>
            <a:pathLst>
              <a:path w="3200350" h="3172347">
                <a:moveTo>
                  <a:pt x="0" y="0"/>
                </a:moveTo>
                <a:lnTo>
                  <a:pt x="3200351" y="0"/>
                </a:lnTo>
                <a:lnTo>
                  <a:pt x="3200351" y="3172348"/>
                </a:lnTo>
                <a:lnTo>
                  <a:pt x="0" y="3172348"/>
                </a:lnTo>
                <a:lnTo>
                  <a:pt x="0" y="0"/>
                </a:lnTo>
                <a:close/>
              </a:path>
            </a:pathLst>
          </a:custGeom>
          <a:blipFill>
            <a:blip r:embed="rId8"/>
            <a:stretch>
              <a:fillRect/>
            </a:stretch>
          </a:blipFill>
        </p:spPr>
        <p:txBody>
          <a:bodyP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Freeform 3"/>
          <p:cNvSpPr/>
          <p:nvPr/>
        </p:nvSpPr>
        <p:spPr>
          <a:xfrm>
            <a:off x="9027700" y="-75134"/>
            <a:ext cx="7481544" cy="9410747"/>
          </a:xfrm>
          <a:custGeom>
            <a:avLst/>
            <a:gdLst/>
            <a:ahLst/>
            <a:cxnLst/>
            <a:rect l="l" t="t" r="r" b="b"/>
            <a:pathLst>
              <a:path w="7481544" h="9410747">
                <a:moveTo>
                  <a:pt x="0" y="0"/>
                </a:moveTo>
                <a:lnTo>
                  <a:pt x="7481544" y="0"/>
                </a:lnTo>
                <a:lnTo>
                  <a:pt x="7481544" y="9410747"/>
                </a:lnTo>
                <a:lnTo>
                  <a:pt x="0" y="9410747"/>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3014411"/>
            <a:ext cx="7863617" cy="2586990"/>
          </a:xfrm>
          <a:prstGeom prst="rect">
            <a:avLst/>
          </a:prstGeom>
        </p:spPr>
        <p:txBody>
          <a:bodyPr lIns="0" tIns="0" rIns="0" bIns="0" rtlCol="0" anchor="t">
            <a:spAutoFit/>
          </a:bodyPr>
          <a:lstStyle/>
          <a:p>
            <a:pPr marL="0" lvl="0" indent="0" algn="l">
              <a:lnSpc>
                <a:spcPts val="10080"/>
              </a:lnSpc>
            </a:pPr>
            <a:r>
              <a:rPr lang="en-US" sz="9000" b="1">
                <a:solidFill>
                  <a:srgbClr val="388D89"/>
                </a:solidFill>
                <a:latin typeface="Roboto Bold"/>
                <a:ea typeface="Roboto Bold"/>
                <a:cs typeface="Roboto Bold"/>
                <a:sym typeface="Roboto Bold"/>
              </a:rPr>
              <a:t>CONTACT INFORMATION</a:t>
            </a:r>
          </a:p>
        </p:txBody>
      </p:sp>
      <p:sp>
        <p:nvSpPr>
          <p:cNvPr id="5" name="TextBox 5"/>
          <p:cNvSpPr txBox="1"/>
          <p:nvPr/>
        </p:nvSpPr>
        <p:spPr>
          <a:xfrm>
            <a:off x="1028700" y="5964616"/>
            <a:ext cx="7863617" cy="2491067"/>
          </a:xfrm>
          <a:prstGeom prst="rect">
            <a:avLst/>
          </a:prstGeom>
        </p:spPr>
        <p:txBody>
          <a:bodyPr lIns="0" tIns="0" rIns="0" bIns="0" rtlCol="0" anchor="t">
            <a:spAutoFit/>
          </a:bodyPr>
          <a:lstStyle/>
          <a:p>
            <a:pPr marL="0" lvl="0" indent="0" algn="just">
              <a:lnSpc>
                <a:spcPct val="200000"/>
              </a:lnSpc>
            </a:pPr>
            <a:r>
              <a:rPr lang="en-US" sz="2100" dirty="0">
                <a:solidFill>
                  <a:srgbClr val="388D89"/>
                </a:solidFill>
                <a:latin typeface="Roboto"/>
                <a:ea typeface="Roboto"/>
                <a:cs typeface="Roboto"/>
                <a:sym typeface="Roboto"/>
              </a:rPr>
              <a:t>For questions, collaborations, or further discussion about this research project, please reach out through the following channels:</a:t>
            </a:r>
          </a:p>
          <a:p>
            <a:pPr marL="0" lvl="0" indent="0" algn="just">
              <a:lnSpc>
                <a:spcPct val="200000"/>
              </a:lnSpc>
            </a:pPr>
            <a:r>
              <a:rPr lang="en-US" sz="2100" dirty="0">
                <a:solidFill>
                  <a:srgbClr val="388D89"/>
                </a:solidFill>
                <a:latin typeface="Roboto"/>
                <a:ea typeface="Roboto"/>
                <a:cs typeface="Roboto"/>
                <a:sym typeface="Roboto"/>
              </a:rPr>
              <a:t>Department: Computer Science &amp; Data Analytics</a:t>
            </a:r>
          </a:p>
          <a:p>
            <a:pPr marL="0" lvl="0" indent="0" algn="just">
              <a:lnSpc>
                <a:spcPct val="200000"/>
              </a:lnSpc>
            </a:pPr>
            <a:r>
              <a:rPr lang="en-US" sz="2100" dirty="0">
                <a:solidFill>
                  <a:srgbClr val="388D89"/>
                </a:solidFill>
                <a:latin typeface="Roboto"/>
                <a:ea typeface="Roboto"/>
                <a:cs typeface="Roboto"/>
                <a:sym typeface="Roboto"/>
              </a:rPr>
              <a:t>Institution: Vivekanand College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5104" b="-33070"/>
            </a:stretch>
          </a:blipFill>
        </p:spPr>
        <p:txBody>
          <a:bodyPr/>
          <a:lstStyle/>
          <a:p>
            <a:endParaRPr lang="en-US"/>
          </a:p>
        </p:txBody>
      </p:sp>
      <p:sp>
        <p:nvSpPr>
          <p:cNvPr id="3" name="Freeform 3"/>
          <p:cNvSpPr/>
          <p:nvPr/>
        </p:nvSpPr>
        <p:spPr>
          <a:xfrm>
            <a:off x="-742530" y="8232902"/>
            <a:ext cx="2747723" cy="2747723"/>
          </a:xfrm>
          <a:custGeom>
            <a:avLst/>
            <a:gdLst/>
            <a:ahLst/>
            <a:cxnLst/>
            <a:rect l="l" t="t" r="r" b="b"/>
            <a:pathLst>
              <a:path w="2747723" h="2747723">
                <a:moveTo>
                  <a:pt x="0" y="0"/>
                </a:moveTo>
                <a:lnTo>
                  <a:pt x="2747723" y="0"/>
                </a:lnTo>
                <a:lnTo>
                  <a:pt x="2747723" y="2747723"/>
                </a:lnTo>
                <a:lnTo>
                  <a:pt x="0" y="274772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H="1" flipV="1">
            <a:off x="16276848" y="-692494"/>
            <a:ext cx="2747723" cy="2747723"/>
          </a:xfrm>
          <a:custGeom>
            <a:avLst/>
            <a:gdLst/>
            <a:ahLst/>
            <a:cxnLst/>
            <a:rect l="l" t="t" r="r" b="b"/>
            <a:pathLst>
              <a:path w="2747723" h="2747723">
                <a:moveTo>
                  <a:pt x="2747723" y="2747723"/>
                </a:moveTo>
                <a:lnTo>
                  <a:pt x="0" y="2747723"/>
                </a:lnTo>
                <a:lnTo>
                  <a:pt x="0" y="0"/>
                </a:lnTo>
                <a:lnTo>
                  <a:pt x="2747723" y="0"/>
                </a:lnTo>
                <a:lnTo>
                  <a:pt x="2747723" y="2747723"/>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980700">
            <a:off x="16276848" y="7300482"/>
            <a:ext cx="2813027" cy="4114800"/>
          </a:xfrm>
          <a:custGeom>
            <a:avLst/>
            <a:gdLst/>
            <a:ahLst/>
            <a:cxnLst/>
            <a:rect l="l" t="t" r="r" b="b"/>
            <a:pathLst>
              <a:path w="2813027" h="4114800">
                <a:moveTo>
                  <a:pt x="0" y="0"/>
                </a:moveTo>
                <a:lnTo>
                  <a:pt x="2813027" y="0"/>
                </a:lnTo>
                <a:lnTo>
                  <a:pt x="2813027"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720370" flipV="1">
            <a:off x="-573183" y="-692494"/>
            <a:ext cx="2409028" cy="4114800"/>
          </a:xfrm>
          <a:custGeom>
            <a:avLst/>
            <a:gdLst/>
            <a:ahLst/>
            <a:cxnLst/>
            <a:rect l="l" t="t" r="r" b="b"/>
            <a:pathLst>
              <a:path w="2409028" h="4114800">
                <a:moveTo>
                  <a:pt x="0" y="4114800"/>
                </a:moveTo>
                <a:lnTo>
                  <a:pt x="2409029" y="4114800"/>
                </a:lnTo>
                <a:lnTo>
                  <a:pt x="2409029" y="0"/>
                </a:lnTo>
                <a:lnTo>
                  <a:pt x="0" y="0"/>
                </a:lnTo>
                <a:lnTo>
                  <a:pt x="0" y="411480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12153270" y="-492793"/>
            <a:ext cx="3649053" cy="1857700"/>
          </a:xfrm>
          <a:custGeom>
            <a:avLst/>
            <a:gdLst/>
            <a:ahLst/>
            <a:cxnLst/>
            <a:rect l="l" t="t" r="r" b="b"/>
            <a:pathLst>
              <a:path w="3649053" h="1857700">
                <a:moveTo>
                  <a:pt x="0" y="0"/>
                </a:moveTo>
                <a:lnTo>
                  <a:pt x="3649053" y="0"/>
                </a:lnTo>
                <a:lnTo>
                  <a:pt x="3649053" y="1857699"/>
                </a:lnTo>
                <a:lnTo>
                  <a:pt x="0" y="185769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 name="Freeform 8"/>
          <p:cNvSpPr/>
          <p:nvPr/>
        </p:nvSpPr>
        <p:spPr>
          <a:xfrm>
            <a:off x="2483719" y="8381706"/>
            <a:ext cx="2151646" cy="2450114"/>
          </a:xfrm>
          <a:custGeom>
            <a:avLst/>
            <a:gdLst/>
            <a:ahLst/>
            <a:cxnLst/>
            <a:rect l="l" t="t" r="r" b="b"/>
            <a:pathLst>
              <a:path w="2151646" h="2450114">
                <a:moveTo>
                  <a:pt x="0" y="0"/>
                </a:moveTo>
                <a:lnTo>
                  <a:pt x="2151646" y="0"/>
                </a:lnTo>
                <a:lnTo>
                  <a:pt x="2151646" y="2450115"/>
                </a:lnTo>
                <a:lnTo>
                  <a:pt x="0" y="2450115"/>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Freeform 9"/>
          <p:cNvSpPr/>
          <p:nvPr/>
        </p:nvSpPr>
        <p:spPr>
          <a:xfrm flipV="1">
            <a:off x="9632658" y="-519913"/>
            <a:ext cx="2044361" cy="2402562"/>
          </a:xfrm>
          <a:custGeom>
            <a:avLst/>
            <a:gdLst/>
            <a:ahLst/>
            <a:cxnLst/>
            <a:rect l="l" t="t" r="r" b="b"/>
            <a:pathLst>
              <a:path w="2044361" h="2402562">
                <a:moveTo>
                  <a:pt x="0" y="2402562"/>
                </a:moveTo>
                <a:lnTo>
                  <a:pt x="2044362" y="2402562"/>
                </a:lnTo>
                <a:lnTo>
                  <a:pt x="2044362" y="0"/>
                </a:lnTo>
                <a:lnTo>
                  <a:pt x="0" y="0"/>
                </a:lnTo>
                <a:lnTo>
                  <a:pt x="0" y="2402562"/>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0" name="Freeform 10"/>
          <p:cNvSpPr/>
          <p:nvPr/>
        </p:nvSpPr>
        <p:spPr>
          <a:xfrm>
            <a:off x="5111615" y="8428103"/>
            <a:ext cx="3158890" cy="2357322"/>
          </a:xfrm>
          <a:custGeom>
            <a:avLst/>
            <a:gdLst/>
            <a:ahLst/>
            <a:cxnLst/>
            <a:rect l="l" t="t" r="r" b="b"/>
            <a:pathLst>
              <a:path w="3158890" h="2357322">
                <a:moveTo>
                  <a:pt x="0" y="0"/>
                </a:moveTo>
                <a:lnTo>
                  <a:pt x="3158890" y="0"/>
                </a:lnTo>
                <a:lnTo>
                  <a:pt x="3158890" y="2357321"/>
                </a:lnTo>
                <a:lnTo>
                  <a:pt x="0" y="2357321"/>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1" name="Freeform 11"/>
          <p:cNvSpPr/>
          <p:nvPr/>
        </p:nvSpPr>
        <p:spPr>
          <a:xfrm rot="1207270">
            <a:off x="6790753" y="-693475"/>
            <a:ext cx="1952277" cy="2749685"/>
          </a:xfrm>
          <a:custGeom>
            <a:avLst/>
            <a:gdLst/>
            <a:ahLst/>
            <a:cxnLst/>
            <a:rect l="l" t="t" r="r" b="b"/>
            <a:pathLst>
              <a:path w="1952277" h="2749685">
                <a:moveTo>
                  <a:pt x="0" y="0"/>
                </a:moveTo>
                <a:lnTo>
                  <a:pt x="1952277" y="0"/>
                </a:lnTo>
                <a:lnTo>
                  <a:pt x="1952277" y="2749686"/>
                </a:lnTo>
                <a:lnTo>
                  <a:pt x="0" y="2749686"/>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2" name="Freeform 12"/>
          <p:cNvSpPr/>
          <p:nvPr/>
        </p:nvSpPr>
        <p:spPr>
          <a:xfrm>
            <a:off x="8746755" y="8627524"/>
            <a:ext cx="2805781" cy="2157901"/>
          </a:xfrm>
          <a:custGeom>
            <a:avLst/>
            <a:gdLst/>
            <a:ahLst/>
            <a:cxnLst/>
            <a:rect l="l" t="t" r="r" b="b"/>
            <a:pathLst>
              <a:path w="2805781" h="2157901">
                <a:moveTo>
                  <a:pt x="0" y="0"/>
                </a:moveTo>
                <a:lnTo>
                  <a:pt x="2805781" y="0"/>
                </a:lnTo>
                <a:lnTo>
                  <a:pt x="2805781" y="2157900"/>
                </a:lnTo>
                <a:lnTo>
                  <a:pt x="0" y="2157900"/>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3" name="Freeform 13"/>
          <p:cNvSpPr/>
          <p:nvPr/>
        </p:nvSpPr>
        <p:spPr>
          <a:xfrm rot="395870">
            <a:off x="-531183" y="4398592"/>
            <a:ext cx="2319465" cy="3059246"/>
          </a:xfrm>
          <a:custGeom>
            <a:avLst/>
            <a:gdLst/>
            <a:ahLst/>
            <a:cxnLst/>
            <a:rect l="l" t="t" r="r" b="b"/>
            <a:pathLst>
              <a:path w="2319465" h="3059246">
                <a:moveTo>
                  <a:pt x="0" y="0"/>
                </a:moveTo>
                <a:lnTo>
                  <a:pt x="2319465" y="0"/>
                </a:lnTo>
                <a:lnTo>
                  <a:pt x="2319465" y="3059246"/>
                </a:lnTo>
                <a:lnTo>
                  <a:pt x="0" y="3059246"/>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4" name="Freeform 14"/>
          <p:cNvSpPr/>
          <p:nvPr/>
        </p:nvSpPr>
        <p:spPr>
          <a:xfrm rot="945155">
            <a:off x="16670506" y="2933730"/>
            <a:ext cx="1960407" cy="3171247"/>
          </a:xfrm>
          <a:custGeom>
            <a:avLst/>
            <a:gdLst/>
            <a:ahLst/>
            <a:cxnLst/>
            <a:rect l="l" t="t" r="r" b="b"/>
            <a:pathLst>
              <a:path w="1960407" h="3171247">
                <a:moveTo>
                  <a:pt x="0" y="0"/>
                </a:moveTo>
                <a:lnTo>
                  <a:pt x="1960407" y="0"/>
                </a:lnTo>
                <a:lnTo>
                  <a:pt x="1960407" y="3171248"/>
                </a:lnTo>
                <a:lnTo>
                  <a:pt x="0" y="3171248"/>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5" name="Freeform 15"/>
          <p:cNvSpPr/>
          <p:nvPr/>
        </p:nvSpPr>
        <p:spPr>
          <a:xfrm flipV="1">
            <a:off x="2543124" y="-560057"/>
            <a:ext cx="3528598" cy="2482850"/>
          </a:xfrm>
          <a:custGeom>
            <a:avLst/>
            <a:gdLst/>
            <a:ahLst/>
            <a:cxnLst/>
            <a:rect l="l" t="t" r="r" b="b"/>
            <a:pathLst>
              <a:path w="3528598" h="2482850">
                <a:moveTo>
                  <a:pt x="0" y="2482850"/>
                </a:moveTo>
                <a:lnTo>
                  <a:pt x="3528598" y="2482850"/>
                </a:lnTo>
                <a:lnTo>
                  <a:pt x="3528598" y="0"/>
                </a:lnTo>
                <a:lnTo>
                  <a:pt x="0" y="0"/>
                </a:lnTo>
                <a:lnTo>
                  <a:pt x="0" y="248285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16" name="Freeform 16"/>
          <p:cNvSpPr/>
          <p:nvPr/>
        </p:nvSpPr>
        <p:spPr>
          <a:xfrm>
            <a:off x="11889318" y="8365339"/>
            <a:ext cx="3528598" cy="2482850"/>
          </a:xfrm>
          <a:custGeom>
            <a:avLst/>
            <a:gdLst/>
            <a:ahLst/>
            <a:cxnLst/>
            <a:rect l="l" t="t" r="r" b="b"/>
            <a:pathLst>
              <a:path w="3528598" h="2482850">
                <a:moveTo>
                  <a:pt x="0" y="0"/>
                </a:moveTo>
                <a:lnTo>
                  <a:pt x="3528598" y="0"/>
                </a:lnTo>
                <a:lnTo>
                  <a:pt x="3528598" y="2482849"/>
                </a:lnTo>
                <a:lnTo>
                  <a:pt x="0" y="2482849"/>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grpSp>
        <p:nvGrpSpPr>
          <p:cNvPr id="17" name="Group 17"/>
          <p:cNvGrpSpPr/>
          <p:nvPr/>
        </p:nvGrpSpPr>
        <p:grpSpPr>
          <a:xfrm>
            <a:off x="3868273" y="6371861"/>
            <a:ext cx="10576271" cy="854928"/>
            <a:chOff x="0" y="0"/>
            <a:chExt cx="2785520" cy="225166"/>
          </a:xfrm>
        </p:grpSpPr>
        <p:sp>
          <p:nvSpPr>
            <p:cNvPr id="18" name="Freeform 18"/>
            <p:cNvSpPr/>
            <p:nvPr/>
          </p:nvSpPr>
          <p:spPr>
            <a:xfrm>
              <a:off x="0" y="0"/>
              <a:ext cx="2785520" cy="225166"/>
            </a:xfrm>
            <a:custGeom>
              <a:avLst/>
              <a:gdLst/>
              <a:ahLst/>
              <a:cxnLst/>
              <a:rect l="l" t="t" r="r" b="b"/>
              <a:pathLst>
                <a:path w="2785520" h="225166">
                  <a:moveTo>
                    <a:pt x="14640" y="0"/>
                  </a:moveTo>
                  <a:lnTo>
                    <a:pt x="2770880" y="0"/>
                  </a:lnTo>
                  <a:cubicBezTo>
                    <a:pt x="2774763" y="0"/>
                    <a:pt x="2778486" y="1542"/>
                    <a:pt x="2781232" y="4288"/>
                  </a:cubicBezTo>
                  <a:cubicBezTo>
                    <a:pt x="2783978" y="7034"/>
                    <a:pt x="2785520" y="10757"/>
                    <a:pt x="2785520" y="14640"/>
                  </a:cubicBezTo>
                  <a:lnTo>
                    <a:pt x="2785520" y="210526"/>
                  </a:lnTo>
                  <a:cubicBezTo>
                    <a:pt x="2785520" y="218612"/>
                    <a:pt x="2778965" y="225166"/>
                    <a:pt x="2770880" y="225166"/>
                  </a:cubicBezTo>
                  <a:lnTo>
                    <a:pt x="14640" y="225166"/>
                  </a:lnTo>
                  <a:cubicBezTo>
                    <a:pt x="10757" y="225166"/>
                    <a:pt x="7034" y="223624"/>
                    <a:pt x="4288" y="220878"/>
                  </a:cubicBezTo>
                  <a:cubicBezTo>
                    <a:pt x="1542" y="218133"/>
                    <a:pt x="0" y="214409"/>
                    <a:pt x="0" y="210526"/>
                  </a:cubicBezTo>
                  <a:lnTo>
                    <a:pt x="0" y="14640"/>
                  </a:lnTo>
                  <a:cubicBezTo>
                    <a:pt x="0" y="10757"/>
                    <a:pt x="1542" y="7034"/>
                    <a:pt x="4288" y="4288"/>
                  </a:cubicBezTo>
                  <a:cubicBezTo>
                    <a:pt x="7034" y="1542"/>
                    <a:pt x="10757" y="0"/>
                    <a:pt x="14640" y="0"/>
                  </a:cubicBezTo>
                  <a:close/>
                </a:path>
              </a:pathLst>
            </a:custGeom>
            <a:solidFill>
              <a:srgbClr val="388D89"/>
            </a:solidFill>
          </p:spPr>
          <p:txBody>
            <a:bodyPr/>
            <a:lstStyle/>
            <a:p>
              <a:endParaRPr lang="en-US"/>
            </a:p>
          </p:txBody>
        </p:sp>
        <p:sp>
          <p:nvSpPr>
            <p:cNvPr id="19" name="TextBox 19"/>
            <p:cNvSpPr txBox="1"/>
            <p:nvPr/>
          </p:nvSpPr>
          <p:spPr>
            <a:xfrm>
              <a:off x="0" y="-38100"/>
              <a:ext cx="2785520" cy="26326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0" name="TextBox 20"/>
          <p:cNvSpPr txBox="1"/>
          <p:nvPr/>
        </p:nvSpPr>
        <p:spPr>
          <a:xfrm>
            <a:off x="3635384" y="3126886"/>
            <a:ext cx="11042049" cy="1474590"/>
          </a:xfrm>
          <a:prstGeom prst="rect">
            <a:avLst/>
          </a:prstGeom>
        </p:spPr>
        <p:txBody>
          <a:bodyPr lIns="0" tIns="0" rIns="0" bIns="0" rtlCol="0" anchor="t">
            <a:spAutoFit/>
          </a:bodyPr>
          <a:lstStyle/>
          <a:p>
            <a:pPr marL="0" lvl="0" indent="0" algn="ctr">
              <a:lnSpc>
                <a:spcPts val="11353"/>
              </a:lnSpc>
            </a:pPr>
            <a:r>
              <a:rPr lang="en-US" sz="10136" b="1">
                <a:solidFill>
                  <a:srgbClr val="388D89"/>
                </a:solidFill>
                <a:latin typeface="Roboto Bold"/>
                <a:ea typeface="Roboto Bold"/>
                <a:cs typeface="Roboto Bold"/>
                <a:sym typeface="Roboto Bold"/>
              </a:rPr>
              <a:t>THANK YOU</a:t>
            </a:r>
          </a:p>
        </p:txBody>
      </p:sp>
      <p:sp>
        <p:nvSpPr>
          <p:cNvPr id="21" name="TextBox 21"/>
          <p:cNvSpPr txBox="1"/>
          <p:nvPr/>
        </p:nvSpPr>
        <p:spPr>
          <a:xfrm>
            <a:off x="4042631" y="6597438"/>
            <a:ext cx="10227555" cy="451343"/>
          </a:xfrm>
          <a:prstGeom prst="rect">
            <a:avLst/>
          </a:prstGeom>
        </p:spPr>
        <p:txBody>
          <a:bodyPr lIns="0" tIns="0" rIns="0" bIns="0" rtlCol="0" anchor="t">
            <a:spAutoFit/>
          </a:bodyPr>
          <a:lstStyle/>
          <a:p>
            <a:pPr marL="0" lvl="0" indent="0" algn="ctr">
              <a:lnSpc>
                <a:spcPts val="3343"/>
              </a:lnSpc>
            </a:pPr>
            <a:r>
              <a:rPr lang="en-US" sz="3309">
                <a:solidFill>
                  <a:srgbClr val="F8FFFF"/>
                </a:solidFill>
                <a:latin typeface="Roboto"/>
                <a:ea typeface="Roboto"/>
                <a:cs typeface="Roboto"/>
                <a:sym typeface="Roboto"/>
              </a:rPr>
              <a:t>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1328</TotalTime>
  <Words>1739</Words>
  <Application>Microsoft Office PowerPoint</Application>
  <PresentationFormat>Custom</PresentationFormat>
  <Paragraphs>158</Paragraphs>
  <Slides>34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Roboto</vt:lpstr>
      <vt:lpstr>Aptos Display</vt:lpstr>
      <vt:lpstr>Arial</vt:lpstr>
      <vt:lpstr>Aptos</vt:lpstr>
      <vt:lpstr>Roboto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Mental Health Insights 40-Page Presentation</dc:title>
  <dc:creator>visha</dc:creator>
  <cp:lastModifiedBy>Tanvi patel</cp:lastModifiedBy>
  <cp:revision>60</cp:revision>
  <dcterms:created xsi:type="dcterms:W3CDTF">2006-08-16T00:00:00Z</dcterms:created>
  <dcterms:modified xsi:type="dcterms:W3CDTF">2026-04-17T03:56:55Z</dcterms:modified>
  <dc:identifier>DAHG61lEJXM</dc:identifier>
</cp:coreProperties>
</file>